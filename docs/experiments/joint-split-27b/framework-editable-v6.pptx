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62" r:id="rId3"/>
    <p:sldId id="267" r:id="rId4"/>
    <p:sldId id="269" r:id="rId5"/>
    <p:sldId id="270" r:id="rId6"/>
    <p:sldId id="271" r:id="rId7"/>
    <p:sldId id="266" r:id="rId8"/>
    <p:sldId id="257" r:id="rId9"/>
    <p:sldId id="275" r:id="rId10"/>
    <p:sldId id="272" r:id="rId11"/>
    <p:sldId id="273" r:id="rId12"/>
    <p:sldId id="286" r:id="rId29"/>
    <p:sldId id="281" r:id="rId14"/>
    <p:sldId id="282" r:id="rId15"/>
    <p:sldId id="283" r:id="rId16"/>
    <p:sldId id="284" r:id="rId17"/>
    <p:sldId id="285" r:id="rId18"/>
    <p:sldId id="276" r:id="rId19"/>
    <p:sldId id="277" r:id="rId20"/>
    <p:sldId id="278" r:id="rId21"/>
    <p:sldId id="279" r:id="rId22"/>
    <p:sldId id="280" r:id="rId23"/>
  </p:sldIdLst>
  <p:sldSz cx="17145000" cy="9525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4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初始化不是一轮接受</a:t>
            </a:r>
            <a:r>
              <a:rPr dirty="0"/>
              <a:t>/</a:t>
            </a:r>
            <a:r>
              <a:rPr dirty="0" err="1"/>
              <a:t>拒绝：五根都先</a:t>
            </a:r>
            <a:r>
              <a:rPr dirty="0"/>
              <a:t> split </a:t>
            </a:r>
            <a:r>
              <a:rPr dirty="0" err="1"/>
              <a:t>组成</a:t>
            </a:r>
            <a:r>
              <a:rPr dirty="0"/>
              <a:t> S0。后续最多五轮；若全部 preserve </a:t>
            </a:r>
            <a:r>
              <a:rPr dirty="0" err="1"/>
              <a:t>则提前停止。五个根定义、Worker、Arbiter</a:t>
            </a:r>
            <a:r>
              <a:rPr dirty="0"/>
              <a:t> 和推理提示词固定，仅修改孩子。代码：framework_v6.py initialize(), reflect(), run()。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err="1"/>
              <a:t>反馈数量来源：output</a:t>
            </a:r>
            <a:r>
              <a:rPr dirty="0"/>
              <a:t>/fw6_27b/e02/</a:t>
            </a:r>
            <a:r>
              <a:rPr dirty="0" err="1"/>
              <a:t>system_feedback.json</a:t>
            </a:r>
            <a:r>
              <a:rPr dirty="0"/>
              <a:t> 的各root_feedback列表长度；与coverage.json的feedback_count交叉核对。四批直接合并，未按语义去重。一条反馈可引用多个案例，反馈不是最终接受的准则修改数。</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中间五问是对真实</a:t>
            </a:r>
            <a:r>
              <a:rPr dirty="0"/>
              <a:t> root prompt 和 COMMON </a:t>
            </a:r>
            <a:r>
              <a:rPr dirty="0" err="1"/>
              <a:t>指令的可读概括，在同一次调用中完成，并非五个独立调用，也没有额外硬编码归因算法。局部</a:t>
            </a:r>
            <a:r>
              <a:rPr dirty="0"/>
              <a:t> None </a:t>
            </a:r>
            <a:r>
              <a:rPr dirty="0" err="1"/>
              <a:t>或与全局</a:t>
            </a:r>
            <a:r>
              <a:rPr dirty="0"/>
              <a:t> Gold </a:t>
            </a:r>
            <a:r>
              <a:rPr dirty="0" err="1"/>
              <a:t>不同本身不构成错误。正确补充案例指</a:t>
            </a:r>
            <a:r>
              <a:rPr dirty="0"/>
              <a:t> Arbiter </a:t>
            </a:r>
            <a:r>
              <a:rPr dirty="0" err="1"/>
              <a:t>答案与</a:t>
            </a:r>
            <a:r>
              <a:rPr dirty="0"/>
              <a:t> Gold 一致，不保证每个局部论断正确。案例从系统反思的40条中取；引用案例按反馈轮流选取并去重，正确补充排除已选案例、优先该根答案非None。输出字段为 action/reason/</a:t>
            </a:r>
            <a:r>
              <a:rPr dirty="0" err="1"/>
              <a:t>revision_goal</a:t>
            </a:r>
            <a:r>
              <a:rPr dirty="0"/>
              <a:t>/</a:t>
            </a:r>
            <a:r>
              <a:rPr dirty="0" err="1"/>
              <a:t>preserve_guidance</a:t>
            </a:r>
            <a:r>
              <a:rPr dirty="0"/>
              <a:t>/</a:t>
            </a:r>
            <a:r>
              <a:rPr dirty="0" err="1"/>
              <a:t>use_signature_ids。示例为说明流程，并非实际实验结论</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当前根反思输出完整revision对象传入生成；签名逐例重提取处理该根全部反馈引用的唯一案例，不限于反思输入最多12条；不是重新采样100条。历史签名仅限use_signature_ids；新签名覆盖同ID旧签名，applicable过滤。聚类和整组生成各一次调用，图像检查在签名提取中进行。旧规则可保留在新整组中。示意非真实实验结论。</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76211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英文原文对照：</a:t>
            </a:r>
          </a:p>
          <a:p>
            <a:r>
              <a:t>completeness_and_coverage</a:t>
            </a:r>
          </a:p>
          <a:p>
            <a:r>
              <a:t>Address the full scope of the task in the user鈥檚 query, covering all major elements specified in the prompt as well as relevant visual aspects and contextual cues.</a:t>
            </a:r>
          </a:p>
          <a:p>
            <a:endParaRPr/>
          </a:p>
          <a:p>
            <a:r>
              <a:t>init_01_completeness_and_coverage__prompt_constraint_adherence</a:t>
            </a:r>
          </a:p>
          <a:p>
            <a:r>
              <a:t>Applies when the prompt specifies formatting, negative constraints, or specific output structures. Check if candidates strictly follow these rules. Candidates that adhere to all explicit constraints are rated higher on completeness than those that violate them, regardless of content volume.</a:t>
            </a:r>
          </a:p>
          <a:p>
            <a:endParaRPr/>
          </a:p>
          <a:p>
            <a:r>
              <a:t>init_01_completeness_and_coverage__visual_grounding_validity</a:t>
            </a:r>
          </a:p>
          <a:p>
            <a:r>
              <a:t>Applies to all visual descriptions. Check if objects, attributes, and spatial relationships claimed in the text match the image evidence. Hallucinated details or misidentified objects do not count as valid coverage. Candidates whose visual claims are factually grounded are rated higher on completeness than those with higher volume but lower accuracy.</a:t>
            </a:r>
          </a:p>
          <a:p>
            <a:endParaRPr/>
          </a:p>
          <a:p>
            <a:r>
              <a:t>init_01_completeness_and_coverage__task_element_utilization</a:t>
            </a:r>
          </a:p>
          <a:p>
            <a:r>
              <a:t>Applies to reasoning or multi-part queries. Check if all provided data points (numbers, labels, text) are utilized and all sub-questions are addressed. Omitting required numerical constraints or visual markers constitutes incomplete coverage. Candidates that utilize all relevant task elements are rated higher than those that omit key data or sub-questions.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3658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英文原文对照：</a:t>
            </a:r>
          </a:p>
          <a:p>
            <a:r>
              <a:t>visual_grounding_and_details</a:t>
            </a:r>
          </a:p>
          <a:p>
            <a:r>
              <a:t>Reference observable elements in the image such as objects, spatial relationships, colors, or text, and bases its description or analysis on these details.</a:t>
            </a:r>
          </a:p>
          <a:p>
            <a:endParaRPr/>
          </a:p>
          <a:p>
            <a:r>
              <a:t>init_02_visual_grounding_and_details__visual_claim_accuracy</a:t>
            </a:r>
          </a:p>
          <a:p>
            <a:r>
              <a:t>Verify that all explicitly mentioned visual elements (objects, text, colors, spatial relationships) are factually present and correctly described in the image. Penalize hallucinations or misidentifications more severely than omissions of irrelevant details. Ensure specific attributes (e.g., counts, states) match observable evidence to distinguish accurate descriptions from fabrications.</a:t>
            </a:r>
          </a:p>
          <a:p>
            <a:endParaRPr/>
          </a:p>
          <a:p>
            <a:r>
              <a:t>init_02_visual_grounding_and_details__diagram_label_consistency</a:t>
            </a:r>
          </a:p>
          <a:p>
            <a:r>
              <a:t>For images containing diagrams or geometric figures, confirm that textual variables and calculations map correctly to visual labels, segments, and annotations. Verify that geometric relationships used in reasoning align with visual indicators (e.g., angle arcs, side markings) rather than relying solely on abstract assumptions or prompt text.</a:t>
            </a:r>
          </a:p>
          <a:p>
            <a:endParaRPr/>
          </a:p>
          <a:p>
            <a:r>
              <a:t>init_02_visual_grounding_and_details__grounding_relevance_and_sufficiency</a:t>
            </a:r>
          </a:p>
          <a:p>
            <a:r>
              <a:t>Assess whether visual references logically support the specific claim or task requested. Accept valid inferences derived from visible evidence without requiring exhaustive scene description. Ensure cited details are specific enough to distinguish the subject from alternatives and directly connect to the analysis rather than being unrelated visible text.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75812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英文原文对照：</a:t>
            </a:r>
          </a:p>
          <a:p>
            <a:r>
              <a:t>factuality_no_hallucination</a:t>
            </a:r>
          </a:p>
          <a:p>
            <a:r>
              <a:t>Avoid visual or factual errors, ensuring all details and claims are presented in the image or reasonably supported by the prompt.</a:t>
            </a:r>
          </a:p>
          <a:p>
            <a:endParaRPr/>
          </a:p>
          <a:p>
            <a:r>
              <a:t>init_03_factuality_no_hallucination__visual_evidence_verification</a:t>
            </a:r>
          </a:p>
          <a:p>
            <a:r>
              <a:t>Verify all candidate claims about image content (objects, counts, spatial relations, occlusion, identity) against visual evidence. Ensure your analysis accurately reflects the candidate's explicit text and input references to prevent judge hallucination.</a:t>
            </a:r>
          </a:p>
          <a:p>
            <a:endParaRPr/>
          </a:p>
          <a:p>
            <a:r>
              <a:t>init_03_factuality_no_hallucination__error_classification_grounding</a:t>
            </a:r>
          </a:p>
          <a:p>
            <a:r>
              <a:t>Distinguish between hallucinations (invented visual details), omissions (missing visible details), and reasonable inferences. Do not penalize external knowledge or helpful advice as hallucinations. Prefer candidates with direct visual grounding over negation-based reasoning.</a:t>
            </a:r>
          </a:p>
          <a:p>
            <a:endParaRPr/>
          </a:p>
          <a:p>
            <a:r>
              <a:t>init_03_factuality_no_hallucination__geometric_calculation_consistency</a:t>
            </a:r>
          </a:p>
          <a:p>
            <a:r>
              <a:t>For geometry or calculation tasks, verify that formulas, properties, and results align with the visual setup and mathematical rules. Ensure selected options match calculated results and geometric entity membership is correct.</a:t>
            </a:r>
          </a:p>
          <a:p>
            <a:endParaRPr/>
          </a:p>
          <a:p>
            <a:r>
              <a:t>init_03_factuality_no_hallucination__evaluation_scope_adherence</a:t>
            </a:r>
          </a:p>
          <a:p>
            <a:r>
              <a:t>Restrict evaluation to visual and factual accuracy. Exclude style, formatting, word count, and instruction-following constraints. Report 'None' if both candidates have identical factual errors; do not break ties using non-factual criteria.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0758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英文原文对照：</a:t>
            </a:r>
          </a:p>
          <a:p>
            <a:r>
              <a:t>creativity_and_expressiveness</a:t>
            </a:r>
          </a:p>
          <a:p>
            <a:r>
              <a:t>Demonstrates imagination and originality when appropriate, or precise and knowledgeable articulation for analytical tasks, while remaining contextually appropriate.</a:t>
            </a:r>
          </a:p>
          <a:p>
            <a:endParaRPr/>
          </a:p>
          <a:p>
            <a:r>
              <a:t>init_04_creativity_and_expressiveness__task_modality_alignment</a:t>
            </a:r>
          </a:p>
          <a:p>
            <a:r>
              <a:t>Determine if the query intent favors creative elaboration or analytical precision. For open-ended or descriptive tasks, prioritize imagination and originality. For factual, mathematical, or identification tasks, prioritize precise and knowledgeable articulation. Penalize misalignment, such as applying creative flair to factual queries or excessive verbosity to simple classification tasks.</a:t>
            </a:r>
          </a:p>
          <a:p>
            <a:endParaRPr/>
          </a:p>
          <a:p>
            <a:r>
              <a:t>init_04_creativity_and_expressiveness__evidence_based_articulation</a:t>
            </a:r>
          </a:p>
          <a:p>
            <a:r>
              <a:t>Verify all visual, mathematical, and domain-specific claims against image evidence before assessing articulation quality. Do not reward hallucinated details, incorrect calculations, or speculative external associations as creativity or precision. For analytical tasks, ensure reasoning steps are internally consistent and logically sound, prioritizing coherent flow over stylistic flourish if factual grounding is compromised.</a:t>
            </a:r>
          </a:p>
          <a:p>
            <a:endParaRPr/>
          </a:p>
          <a:p>
            <a:r>
              <a:t>init_04_creativity_and_expressiveness__contextual_appropriateness_and_constraints</a:t>
            </a:r>
          </a:p>
          <a:p>
            <a:r>
              <a:t>Evaluate tone, relevance, and adherence to explicit formatting constraints as part of contextual appropriateness. Ensure added context enhances the response rather than introducing redundant noise or violating prompt rules (e.g., word counts, structure). Prefer concise, direct explanations for straightforward tasks over verbose elaboration that dilutes analytical focus.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80619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英文原文对照：</a:t>
            </a:r>
          </a:p>
          <a:p>
            <a:r>
              <a:t>clarity_and_coherence</a:t>
            </a:r>
          </a:p>
          <a:p>
            <a:r>
              <a:t>Communicates ideas clearly and logically, with fluent language, well-organized structure, and smooth flow of information.</a:t>
            </a:r>
          </a:p>
          <a:p>
            <a:endParaRPr/>
          </a:p>
          <a:p>
            <a:r>
              <a:t>init_05_clarity_and_coherence__clarity_independent_of_accuracy</a:t>
            </a:r>
          </a:p>
          <a:p>
            <a:r>
              <a:t>Evaluate linguistic fluency and internal logical consistency separately from external factual correctness or visual grounding. Apply this check when comparing communication quality; penalize clarity only if errors create internal contradictions or disrupt reasoning flow, not merely for being factually incorrect.</a:t>
            </a:r>
          </a:p>
          <a:p>
            <a:endParaRPr/>
          </a:p>
          <a:p>
            <a:r>
              <a:t>init_05_clarity_and_coherence__structural_adherence_and_organization</a:t>
            </a:r>
          </a:p>
          <a:p>
            <a:r>
              <a:t>Verify compliance with explicit formatting constraints such as list structures, sentence counts, and punctuation requirements. Apply when assessing organization; prioritize responses that maintain organized structures matching prompt specifications over those with superior content volume but poor formatting.</a:t>
            </a:r>
          </a:p>
          <a:p>
            <a:endParaRPr/>
          </a:p>
          <a:p>
            <a:r>
              <a:t>init_05_clarity_and_coherence__information_density_and_flow</a:t>
            </a:r>
          </a:p>
          <a:p>
            <a:r>
              <a:t>Assess whether elaboration aids or hinders the communication of the core message. Apply when evaluating length; treat brevity as coherent if direct, and penalize unnecessary verbosity or filler phrases that obscure the main point without adding logical value.</a:t>
            </a:r>
          </a:p>
          <a:p>
            <a:endParaRPr/>
          </a:p>
          <a:p>
            <a:r>
              <a:t>init_05_clarity_and_coherence__semantic_precision_and_scope</a:t>
            </a:r>
          </a:p>
          <a:p>
            <a:r>
              <a:t>Check for ambiguity in subject scope and terminology precision beyond surface-level grammar. Apply when comparing phrasing; prefer responses that use specific, unambiguous references over fluent but vague generalizations when structural clarity is equivalent.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1674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完整中文翻译，含root与所有孩子描述。回应用户问题中任务的完整范围，覆盖提示中指定的所有主要要素，以及相关的视觉方面和上下文线索。</a:t>
            </a:r>
          </a:p>
          <a:p>
            <a:r>
              <a:t>提示约束遵守：当提示指定格式、禁止性约束或特定输出结构时适用。核验回答是否严格遵守所有明确规则，例如标点符号、禁用词和字数要求。遵守这些约束是完整性的必要条件；无论内容量或视觉细节密度如何，违反约束都应导致更低的评价。</a:t>
            </a:r>
          </a:p>
          <a:p>
            <a:r>
              <a:t>任务要素利用：适用于所有问题。检查候选回答是否直接回答了所有具体问题，或完成了核心指令，而没有添加未经要求的建议或假设情境。完整性由是否满足明确的任务要求决定；添加未被要求的内容不会提高完整性，如果这些内容遮蔽了主要答案，还可能降低完整性。</a:t>
            </a:r>
          </a:p>
          <a:p>
            <a:r>
              <a:t>视觉依据有效性：适用于视觉描述。核验文本中声称的物体、属性和关系是否与图像证据相符。幻觉会降低完整性。不过，视觉细节密度的重要性低于任务完成情况；相比不服务于主要任务的冗长描述，应优先选择准确而简洁的视觉陈述。</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完整中文翻译，含root与所有孩子描述。引用图像中可观察到的元素，例如物体、空间关系、颜色或文字，并以这些细节作为描述或分析的依据。</a:t>
            </a:r>
          </a:p>
          <a:p>
            <a:r>
              <a:t>视觉事实性与推断有效性：根据可观察证据核验明确的视觉陈述，包括物体、属性和文字。区分编造（幻觉）与根据可见特征得出的有效推断，例如形状、纹理、上下文和活动。对于编造不存在的元素，应给予比误分类已存在的元素，或作出有视觉线索支持的合理情境解释更严重的惩罚。在判断对象身份的陈述时，应优先使用对象本身的特定证据，而不是图像表现媒介的特定线索。</a:t>
            </a:r>
          </a:p>
          <a:p>
            <a:r>
              <a:t>空间与数量核验：在评价候选回答的准确性之前，独立核验物体数量、空间关系和深度线索，例如遮挡和尺度。区分二维位置与三维深度，并利用视觉尺度证据核验空间形容词，例如“高大”与“位置高”。在计数或识别物体状态时，应考虑部分遮挡的影响。</a:t>
            </a:r>
          </a:p>
          <a:p>
            <a:r>
              <a:t>图表标签与几何一致性：对于包含图表或几何图形的图像，确认文本中的变量和计算是否正确对应视觉标签、线段和标注。核验推理中使用的几何关系是否与视觉标记一致，例如角弧和边的标记，而不是仅依赖抽象假设或提示文本。</a:t>
            </a:r>
          </a:p>
          <a:p>
            <a:r>
              <a:t>视觉依据的相关性与约束优先级：评估所引用的视觉细节是否在逻辑上支持所请求的具体陈述或任务。确保作为依据的元素与分析相关，而不是无关的可见文字。如果两个候选回答的视觉依据都较弱，应优先选择更好地满足其他明确提示约束的候选回答，而不是默认输出“No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完整中文翻译，含root与所有孩子描述。避免视觉或事实错误，确保所有细节和陈述都在图像中有所呈现，或得到提示的合理支持。</a:t>
            </a:r>
          </a:p>
          <a:p>
            <a:r>
              <a:t>视觉依据核验：根据视觉证据核验候选回答关于图像内容的所有陈述，包括物体、数量和标签。明确确认实体是否存在以及标签所指向的对象，以防评判模型对真实情况产生幻觉。这能确保比较基于实际图像内容，而不是评判模型的假设。</a:t>
            </a:r>
          </a:p>
          <a:p>
            <a:r>
              <a:t>错误严重程度与分类：区分幻觉（编造的细节）、遗漏（缺失的可见细节）与有效术语。在数学任务中，无论对几何关系的解释有何差异，都应优先选择结果在数学上自洽的候选回答，例如得到有效实数的回答，而不是包含不可能成立的推导的回答。这能确保具有有效数学一致性的候选回答优于得出不可能结果的候选回答。</a:t>
            </a:r>
          </a:p>
          <a:p>
            <a:r>
              <a:t>评价范围边界约束：将评价严格限制在视觉与事实准确性上。排除风格、冗长程度、字数和格式约束等因素。只有当事实错误在类型、数量和严重程度上完全相同时，才报告“None”。这能防止非事实性准则影响偏好，并确保“None”仅用于事实表现真正等价的情况。</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完整中文翻译，含root与所有孩子描述。在适当情况下展现想象力和原创性，或在分析性任务中展现精确且体现知识的表达，同时保持与情境相适应。</a:t>
            </a:r>
          </a:p>
          <a:p>
            <a:r>
              <a:t>任务类型与细节适当性：判断问题需要创造性展开还是分析性精确。对于分析性任务，应优先考虑语义准确性和必要的领域背景，而不是简短程度；仅惩罚削弱焦点的冗余信息。对于识别任务，除非明确要求展开，否则应优先选择简洁的标签式回答。</a:t>
            </a:r>
          </a:p>
          <a:p>
            <a:r>
              <a:t>证据依据与事实完整性：根据所提供的证据核验所有视觉、数学和领域知识陈述。无论表达质量如何，都应惩罚幻觉和事实错误。区分缺乏支持的推测与描述性任务中为保持视觉描述完整性而使用的轻微保留性措辞。</a:t>
            </a:r>
          </a:p>
          <a:p>
            <a:r>
              <a:t>语义精确性与上下文相关性：对于事实性回答，应优先考虑语义准确性，而不是精确的关键词匹配。根据额外背景内容与问题意图的相关性对其进行评价；保留提供有效信息的领域细节，同时惩罚无关展开。确保遵守明确的格式约束。</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完整中文翻译，含root与所有孩子描述。清楚且合乎逻辑地传达思想，语言流畅、结构组织良好，信息衔接顺畅。</a:t>
            </a:r>
          </a:p>
          <a:p>
            <a:r>
              <a:t>清晰性独立于准确性：将语言流畅性和内部逻辑一致性与外部事实正确性分开评价。只有在文本内部存在矛盾或推理衔接被打断时，才对清晰性进行惩罚；不要因为事实不准确、视觉依据不匹配或数学错误而惩罚清晰性。</a:t>
            </a:r>
          </a:p>
          <a:p>
            <a:r>
              <a:t>结构遵守与约束：核验回答是否遵守明确的格式约束，例如列表结构、句子数量和标点符号。相比内容量更多但格式较差的回答，应优先选择保持有序结构且符合提示要求的回答。</a:t>
            </a:r>
          </a:p>
          <a:p>
            <a:r>
              <a:t>信息密度与视觉上下文：评估展开内容是在帮助还是妨碍核心信息的表达。将必要的视觉上下文和具体指代视为有助于连贯性的细节；仅惩罚那些不增加逻辑价值、却遮蔽主旨的不必要冗长内容、填充性内容或模糊术语。</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recursive initial to final corrected32 harmed32 p1.0. Arbiter to recursive initial corrected44 harmed103 p1.255e-6; final corrected42 harmed87 p9.207e-5. No residual technical failures. Results do not isolate aggregation-only effects.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0205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 name="element-1">
            <a:extLst>
              <a:ext uri="{FF2B5EF4-FFF2-40B4-BE49-F238E27FC236}">
                <a16:creationId xmlns:a16="http://schemas.microsoft.com/office/drawing/2014/main" id="{14E03477-0982-4672-9F93-5F307EBDBD1D}"/>
              </a:ext>
            </a:extLst>
          </p:cNvPr>
          <p:cNvSpPr>
            <a:spLocks noGrp="1"/>
          </p:cNvSpPr>
          <p:nvPr/>
        </p:nvSpPr>
        <p:spPr>
          <a:xfrm>
            <a:off x="285750" y="152400"/>
            <a:ext cx="10668000" cy="419100"/>
          </a:xfrm>
          <a:prstGeom prst="rect">
            <a:avLst/>
          </a:prstGeom>
          <a:noFill/>
          <a:ln w="0">
            <a:noFill/>
          </a:ln>
        </p:spPr>
        <p:txBody>
          <a:bodyPr lIns="0" tIns="0" rIns="0" bIns="0" anchor="ctr">
            <a:noAutofit/>
          </a:bodyPr>
          <a:lstStyle/>
          <a:p>
            <a:pPr algn="l">
              <a:defRPr sz="2400" b="1">
                <a:solidFill>
                  <a:srgbClr val="122C50"/>
                </a:solidFill>
                <a:latin typeface="Arial"/>
                <a:ea typeface="Arial"/>
                <a:cs typeface="Arial"/>
              </a:defRPr>
            </a:pPr>
            <a:r>
              <a:rPr sz="2400" b="1" dirty="0">
                <a:solidFill>
                  <a:srgbClr val="122C50"/>
                </a:solidFill>
                <a:latin typeface="Arial"/>
                <a:ea typeface="Arial"/>
                <a:cs typeface="Arial"/>
              </a:rPr>
              <a:t>(a) Rubric-guided preference judging</a:t>
            </a:r>
          </a:p>
        </p:txBody>
      </p:sp>
      <p:sp>
        <p:nvSpPr>
          <p:cNvPr id="2" name="element-2">
            <a:extLst>
              <a:ext uri="{FF2B5EF4-FFF2-40B4-BE49-F238E27FC236}">
                <a16:creationId xmlns:a16="http://schemas.microsoft.com/office/drawing/2014/main" id="{A1DD30B5-63F5-475F-A380-942E7FECA565}"/>
              </a:ext>
            </a:extLst>
          </p:cNvPr>
          <p:cNvSpPr>
            <a:spLocks noGrp="1"/>
          </p:cNvSpPr>
          <p:nvPr/>
        </p:nvSpPr>
        <p:spPr>
          <a:xfrm>
            <a:off x="266700" y="771525"/>
            <a:ext cx="2409825" cy="4305300"/>
          </a:xfrm>
          <a:prstGeom prst="roundRect">
            <a:avLst>
              <a:gd name="adj" fmla="val 3953"/>
            </a:avLst>
          </a:prstGeom>
          <a:solidFill>
            <a:srgbClr val="F6F9FD"/>
          </a:solidFill>
          <a:ln w="14288">
            <a:solidFill>
              <a:srgbClr val="BCD0E3"/>
            </a:solidFill>
          </a:ln>
        </p:spPr>
        <p:txBody>
          <a:bodyPr/>
          <a:p/>
        </p:txBody>
      </p:sp>
      <p:sp>
        <p:nvSpPr>
          <p:cNvPr id="3" name="element-3">
            <a:extLst>
              <a:ext uri="{FF2B5EF4-FFF2-40B4-BE49-F238E27FC236}">
                <a16:creationId xmlns:a16="http://schemas.microsoft.com/office/drawing/2014/main" id="{8AE86B5C-1D77-4670-AE60-34855823E866}"/>
              </a:ext>
            </a:extLst>
          </p:cNvPr>
          <p:cNvSpPr>
            <a:spLocks noGrp="1"/>
          </p:cNvSpPr>
          <p:nvPr/>
        </p:nvSpPr>
        <p:spPr>
          <a:xfrm>
            <a:off x="419100" y="895350"/>
            <a:ext cx="2095500" cy="285750"/>
          </a:xfrm>
          <a:prstGeom prst="rect">
            <a:avLst/>
          </a:prstGeom>
          <a:noFill/>
          <a:ln w="0">
            <a:noFill/>
          </a:ln>
        </p:spPr>
        <p:txBody>
          <a:bodyPr lIns="0" tIns="0" rIns="0" bIns="0" anchor="ctr">
            <a:noAutofit/>
          </a:bodyPr>
          <a:lstStyle/>
          <a:p>
            <a:pPr algn="l">
              <a:defRPr sz="1725" b="1">
                <a:solidFill>
                  <a:srgbClr val="122C50"/>
                </a:solidFill>
                <a:latin typeface="Arial"/>
                <a:ea typeface="Arial"/>
                <a:cs typeface="Arial"/>
              </a:defRPr>
            </a:pPr>
            <a:r>
              <a:rPr sz="1725" b="1">
                <a:solidFill>
                  <a:srgbClr val="122C50"/>
                </a:solidFill>
                <a:latin typeface="Arial"/>
                <a:ea typeface="Arial"/>
                <a:cs typeface="Arial"/>
              </a:rPr>
              <a:t>Shared input</a:t>
            </a:r>
          </a:p>
        </p:txBody>
      </p:sp>
      <p:pic>
        <p:nvPicPr>
          <p:cNvPr id="371" name="图片 370"/>
          <p:cNvPicPr>
            <a:picLocks noChangeAspect="1"/>
          </p:cNvPicPr>
          <p:nvPr/>
        </p:nvPicPr>
        <p:blipFill>
          <a:blip r:embed="rId3"/>
          <a:stretch/>
        </p:blipFill>
        <p:spPr>
          <a:xfrm>
            <a:off x="429058" y="1276350"/>
            <a:ext cx="961159" cy="1285875"/>
          </a:xfrm>
          <a:prstGeom prst="rect">
            <a:avLst/>
          </a:prstGeom>
        </p:spPr>
      </p:pic>
      <p:sp>
        <p:nvSpPr>
          <p:cNvPr id="5" name="element-4">
            <a:extLst>
              <a:ext uri="{FF2B5EF4-FFF2-40B4-BE49-F238E27FC236}">
                <a16:creationId xmlns:a16="http://schemas.microsoft.com/office/drawing/2014/main" id="{DD399158-5FDB-4A8B-8889-82493B136659}"/>
              </a:ext>
            </a:extLst>
          </p:cNvPr>
          <p:cNvSpPr>
            <a:spLocks noGrp="1"/>
          </p:cNvSpPr>
          <p:nvPr/>
        </p:nvSpPr>
        <p:spPr>
          <a:xfrm>
            <a:off x="1495425" y="1276350"/>
            <a:ext cx="1028700" cy="266700"/>
          </a:xfrm>
          <a:prstGeom prst="rect">
            <a:avLst/>
          </a:prstGeom>
          <a:noFill/>
          <a:ln w="0">
            <a:noFill/>
          </a:ln>
        </p:spPr>
        <p:txBody>
          <a:bodyPr lIns="0" tIns="0" rIns="0" bIns="0" anchor="ctr">
            <a:noAutofit/>
          </a:bodyPr>
          <a:lstStyle/>
          <a:p>
            <a:pPr algn="l">
              <a:defRPr sz="1425" b="1">
                <a:solidFill>
                  <a:srgbClr val="122C50"/>
                </a:solidFill>
                <a:latin typeface="Arial"/>
                <a:ea typeface="Arial"/>
                <a:cs typeface="Arial"/>
              </a:defRPr>
            </a:pPr>
            <a:r>
              <a:rPr sz="1425" b="1">
                <a:solidFill>
                  <a:srgbClr val="122C50"/>
                </a:solidFill>
                <a:latin typeface="Arial"/>
                <a:ea typeface="Arial"/>
                <a:cs typeface="Arial"/>
              </a:rPr>
              <a:t>Question</a:t>
            </a:r>
          </a:p>
        </p:txBody>
      </p:sp>
      <p:sp>
        <p:nvSpPr>
          <p:cNvPr id="6" name="element-5">
            <a:extLst>
              <a:ext uri="{FF2B5EF4-FFF2-40B4-BE49-F238E27FC236}">
                <a16:creationId xmlns:a16="http://schemas.microsoft.com/office/drawing/2014/main" id="{C912D8DA-1A65-4C4A-93AD-6C68258703B2}"/>
              </a:ext>
            </a:extLst>
          </p:cNvPr>
          <p:cNvSpPr>
            <a:spLocks noGrp="1"/>
          </p:cNvSpPr>
          <p:nvPr/>
        </p:nvSpPr>
        <p:spPr>
          <a:xfrm>
            <a:off x="1495425" y="1619250"/>
            <a:ext cx="1047750" cy="885825"/>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a:solidFill>
                  <a:srgbClr val="122C50"/>
                </a:solidFill>
                <a:latin typeface="Arial"/>
                <a:ea typeface="Arial"/>
                <a:cs typeface="Arial"/>
              </a:rPr>
              <a:t>How are the</a:t>
            </a:r>
          </a:p>
          <a:p>
            <a:pPr algn="l">
              <a:defRPr sz="1275" b="0">
                <a:solidFill>
                  <a:srgbClr val="122C50"/>
                </a:solidFill>
                <a:latin typeface="Arial"/>
                <a:ea typeface="Arial"/>
                <a:cs typeface="Arial"/>
              </a:defRPr>
            </a:pPr>
            <a:r>
              <a:rPr sz="1275" b="0">
                <a:solidFill>
                  <a:srgbClr val="122C50"/>
                </a:solidFill>
                <a:latin typeface="Arial"/>
                <a:ea typeface="Arial"/>
                <a:cs typeface="Arial"/>
              </a:rPr>
              <a:t>elements</a:t>
            </a:r>
          </a:p>
          <a:p>
            <a:pPr algn="l">
              <a:defRPr sz="1275" b="0">
                <a:solidFill>
                  <a:srgbClr val="122C50"/>
                </a:solidFill>
                <a:latin typeface="Arial"/>
                <a:ea typeface="Arial"/>
                <a:cs typeface="Arial"/>
              </a:defRPr>
            </a:pPr>
            <a:r>
              <a:rPr sz="1275" b="0">
                <a:solidFill>
                  <a:srgbClr val="122C50"/>
                </a:solidFill>
                <a:latin typeface="Arial"/>
                <a:ea typeface="Arial"/>
                <a:cs typeface="Arial"/>
              </a:rPr>
              <a:t>positioned?</a:t>
            </a:r>
          </a:p>
        </p:txBody>
      </p:sp>
      <p:sp>
        <p:nvSpPr>
          <p:cNvPr id="7" name="element-6">
            <a:extLst>
              <a:ext uri="{FF2B5EF4-FFF2-40B4-BE49-F238E27FC236}">
                <a16:creationId xmlns:a16="http://schemas.microsoft.com/office/drawing/2014/main" id="{86256693-9583-41AF-BF84-90D729B574A6}"/>
              </a:ext>
            </a:extLst>
          </p:cNvPr>
          <p:cNvSpPr>
            <a:spLocks noGrp="1"/>
          </p:cNvSpPr>
          <p:nvPr/>
        </p:nvSpPr>
        <p:spPr>
          <a:xfrm>
            <a:off x="419100" y="2771775"/>
            <a:ext cx="2105025" cy="904875"/>
          </a:xfrm>
          <a:prstGeom prst="roundRect">
            <a:avLst>
              <a:gd name="adj" fmla="val 7368"/>
            </a:avLst>
          </a:prstGeom>
          <a:solidFill>
            <a:srgbClr val="FFFFFF"/>
          </a:solidFill>
          <a:ln w="14288">
            <a:solidFill>
              <a:srgbClr val="A7C6E7"/>
            </a:solidFill>
          </a:ln>
        </p:spPr>
        <p:txBody>
          <a:bodyPr/>
          <a:p/>
        </p:txBody>
      </p:sp>
      <p:sp>
        <p:nvSpPr>
          <p:cNvPr id="8" name="element-7">
            <a:extLst>
              <a:ext uri="{FF2B5EF4-FFF2-40B4-BE49-F238E27FC236}">
                <a16:creationId xmlns:a16="http://schemas.microsoft.com/office/drawing/2014/main" id="{8CDD5E60-CFC5-4A35-AB65-B4F87061FFD5}"/>
              </a:ext>
            </a:extLst>
          </p:cNvPr>
          <p:cNvSpPr>
            <a:spLocks noGrp="1"/>
          </p:cNvSpPr>
          <p:nvPr/>
        </p:nvSpPr>
        <p:spPr>
          <a:xfrm>
            <a:off x="533400" y="2876550"/>
            <a:ext cx="1838325" cy="219075"/>
          </a:xfrm>
          <a:prstGeom prst="rect">
            <a:avLst/>
          </a:prstGeom>
          <a:noFill/>
          <a:ln w="0">
            <a:noFill/>
          </a:ln>
        </p:spPr>
        <p:txBody>
          <a:bodyPr lIns="0" tIns="0" rIns="0" bIns="0" anchor="ctr">
            <a:noAutofit/>
          </a:bodyPr>
          <a:lstStyle/>
          <a:p>
            <a:pPr algn="l">
              <a:defRPr sz="1425" b="1">
                <a:solidFill>
                  <a:srgbClr val="357FC0"/>
                </a:solidFill>
                <a:latin typeface="Arial"/>
                <a:ea typeface="Arial"/>
                <a:cs typeface="Arial"/>
              </a:defRPr>
            </a:pPr>
            <a:r>
              <a:rPr sz="1425" b="1">
                <a:solidFill>
                  <a:srgbClr val="357FC0"/>
                </a:solidFill>
                <a:latin typeface="Arial"/>
                <a:ea typeface="Arial"/>
                <a:cs typeface="Arial"/>
              </a:rPr>
              <a:t>Response A</a:t>
            </a:r>
          </a:p>
        </p:txBody>
      </p:sp>
      <p:sp>
        <p:nvSpPr>
          <p:cNvPr id="9" name="element-8">
            <a:extLst>
              <a:ext uri="{FF2B5EF4-FFF2-40B4-BE49-F238E27FC236}">
                <a16:creationId xmlns:a16="http://schemas.microsoft.com/office/drawing/2014/main" id="{58C4FE6E-49BA-4679-88D4-F830B3B636F1}"/>
              </a:ext>
            </a:extLst>
          </p:cNvPr>
          <p:cNvSpPr>
            <a:spLocks noGrp="1"/>
          </p:cNvSpPr>
          <p:nvPr/>
        </p:nvSpPr>
        <p:spPr>
          <a:xfrm>
            <a:off x="533400" y="3143250"/>
            <a:ext cx="1857375" cy="485775"/>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dirty="0">
                <a:solidFill>
                  <a:srgbClr val="122C50"/>
                </a:solidFill>
                <a:latin typeface="Arial"/>
                <a:ea typeface="Arial"/>
                <a:cs typeface="Arial"/>
              </a:rPr>
              <a:t>…vase on the wooden</a:t>
            </a:r>
          </a:p>
          <a:p>
            <a:pPr algn="l">
              <a:defRPr sz="1275" b="0">
                <a:solidFill>
                  <a:srgbClr val="122C50"/>
                </a:solidFill>
                <a:latin typeface="Arial"/>
                <a:ea typeface="Arial"/>
                <a:cs typeface="Arial"/>
              </a:defRPr>
            </a:pPr>
            <a:r>
              <a:rPr sz="1275" b="0" dirty="0">
                <a:solidFill>
                  <a:srgbClr val="122C50"/>
                </a:solidFill>
                <a:latin typeface="Arial"/>
                <a:ea typeface="Arial"/>
                <a:cs typeface="Arial"/>
              </a:rPr>
              <a:t>tabletop; lamp to the</a:t>
            </a:r>
          </a:p>
          <a:p>
            <a:pPr algn="l">
              <a:defRPr sz="1275" b="0">
                <a:solidFill>
                  <a:srgbClr val="122C50"/>
                </a:solidFill>
                <a:latin typeface="Arial"/>
                <a:ea typeface="Arial"/>
                <a:cs typeface="Arial"/>
              </a:defRPr>
            </a:pPr>
            <a:r>
              <a:rPr sz="1275" b="0" dirty="0">
                <a:solidFill>
                  <a:srgbClr val="122C50"/>
                </a:solidFill>
                <a:latin typeface="Arial"/>
                <a:ea typeface="Arial"/>
                <a:cs typeface="Arial"/>
              </a:rPr>
              <a:t>upper right…</a:t>
            </a:r>
          </a:p>
        </p:txBody>
      </p:sp>
      <p:sp>
        <p:nvSpPr>
          <p:cNvPr id="10" name="element-9">
            <a:extLst>
              <a:ext uri="{FF2B5EF4-FFF2-40B4-BE49-F238E27FC236}">
                <a16:creationId xmlns:a16="http://schemas.microsoft.com/office/drawing/2014/main" id="{37CA21AA-2E0C-4A58-ACAC-403097D1D4AA}"/>
              </a:ext>
            </a:extLst>
          </p:cNvPr>
          <p:cNvSpPr>
            <a:spLocks noGrp="1"/>
          </p:cNvSpPr>
          <p:nvPr/>
        </p:nvSpPr>
        <p:spPr>
          <a:xfrm>
            <a:off x="419100" y="3790950"/>
            <a:ext cx="2105025" cy="904875"/>
          </a:xfrm>
          <a:prstGeom prst="roundRect">
            <a:avLst>
              <a:gd name="adj" fmla="val 7368"/>
            </a:avLst>
          </a:prstGeom>
          <a:solidFill>
            <a:srgbClr val="FFFFFF"/>
          </a:solidFill>
          <a:ln w="14288">
            <a:solidFill>
              <a:srgbClr val="CDB8E4"/>
            </a:solidFill>
          </a:ln>
        </p:spPr>
        <p:txBody>
          <a:bodyPr/>
          <a:p/>
        </p:txBody>
      </p:sp>
      <p:sp>
        <p:nvSpPr>
          <p:cNvPr id="11" name="element-10">
            <a:extLst>
              <a:ext uri="{FF2B5EF4-FFF2-40B4-BE49-F238E27FC236}">
                <a16:creationId xmlns:a16="http://schemas.microsoft.com/office/drawing/2014/main" id="{4D2872AF-CBD0-41AD-8819-D7F935CE0BD1}"/>
              </a:ext>
            </a:extLst>
          </p:cNvPr>
          <p:cNvSpPr>
            <a:spLocks noGrp="1"/>
          </p:cNvSpPr>
          <p:nvPr/>
        </p:nvSpPr>
        <p:spPr>
          <a:xfrm>
            <a:off x="533400" y="3895725"/>
            <a:ext cx="1838325" cy="219075"/>
          </a:xfrm>
          <a:prstGeom prst="rect">
            <a:avLst/>
          </a:prstGeom>
          <a:noFill/>
          <a:ln w="0">
            <a:noFill/>
          </a:ln>
        </p:spPr>
        <p:txBody>
          <a:bodyPr lIns="0" tIns="0" rIns="0" bIns="0" anchor="ctr">
            <a:noAutofit/>
          </a:bodyPr>
          <a:lstStyle/>
          <a:p>
            <a:pPr algn="l">
              <a:defRPr sz="1425" b="1">
                <a:solidFill>
                  <a:srgbClr val="8662B5"/>
                </a:solidFill>
                <a:latin typeface="Arial"/>
                <a:ea typeface="Arial"/>
                <a:cs typeface="Arial"/>
              </a:defRPr>
            </a:pPr>
            <a:r>
              <a:rPr sz="1425" b="1" dirty="0">
                <a:solidFill>
                  <a:srgbClr val="8662B5"/>
                </a:solidFill>
                <a:latin typeface="Arial"/>
                <a:ea typeface="Arial"/>
                <a:cs typeface="Arial"/>
              </a:rPr>
              <a:t>Response B</a:t>
            </a:r>
          </a:p>
        </p:txBody>
      </p:sp>
      <p:sp>
        <p:nvSpPr>
          <p:cNvPr id="12" name="element-11">
            <a:extLst>
              <a:ext uri="{FF2B5EF4-FFF2-40B4-BE49-F238E27FC236}">
                <a16:creationId xmlns:a16="http://schemas.microsoft.com/office/drawing/2014/main" id="{163E697A-8A49-475D-99FC-D61A69719100}"/>
              </a:ext>
            </a:extLst>
          </p:cNvPr>
          <p:cNvSpPr>
            <a:spLocks noGrp="1"/>
          </p:cNvSpPr>
          <p:nvPr/>
        </p:nvSpPr>
        <p:spPr>
          <a:xfrm>
            <a:off x="533400" y="4162425"/>
            <a:ext cx="1857375" cy="485775"/>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dirty="0">
                <a:solidFill>
                  <a:srgbClr val="122C50"/>
                </a:solidFill>
                <a:latin typeface="Arial"/>
                <a:ea typeface="Arial"/>
                <a:cs typeface="Arial"/>
              </a:rPr>
              <a:t>…vase to one side;</a:t>
            </a:r>
          </a:p>
          <a:p>
            <a:pPr algn="l">
              <a:defRPr sz="1275" b="0">
                <a:solidFill>
                  <a:srgbClr val="122C50"/>
                </a:solidFill>
                <a:latin typeface="Arial"/>
                <a:ea typeface="Arial"/>
                <a:cs typeface="Arial"/>
              </a:defRPr>
            </a:pPr>
            <a:r>
              <a:rPr sz="1275" b="0" dirty="0">
                <a:solidFill>
                  <a:srgbClr val="122C50"/>
                </a:solidFill>
                <a:latin typeface="Arial"/>
                <a:ea typeface="Arial"/>
                <a:cs typeface="Arial"/>
              </a:rPr>
              <a:t>a small glass object</a:t>
            </a:r>
          </a:p>
          <a:p>
            <a:pPr algn="l">
              <a:defRPr sz="1275" b="0">
                <a:solidFill>
                  <a:srgbClr val="122C50"/>
                </a:solidFill>
                <a:latin typeface="Arial"/>
                <a:ea typeface="Arial"/>
                <a:cs typeface="Arial"/>
              </a:defRPr>
            </a:pPr>
            <a:r>
              <a:rPr sz="1275" b="0" dirty="0">
                <a:solidFill>
                  <a:srgbClr val="122C50"/>
                </a:solidFill>
                <a:latin typeface="Arial"/>
                <a:ea typeface="Arial"/>
                <a:cs typeface="Arial"/>
              </a:rPr>
              <a:t>in the left corner…</a:t>
            </a:r>
          </a:p>
        </p:txBody>
      </p:sp>
      <p:sp>
        <p:nvSpPr>
          <p:cNvPr id="13" name="element-12">
            <a:extLst>
              <a:ext uri="{FF2B5EF4-FFF2-40B4-BE49-F238E27FC236}">
                <a16:creationId xmlns:a16="http://schemas.microsoft.com/office/drawing/2014/main" id="{0FC2B97B-3CFD-4C33-B554-2A64FBEE0897}"/>
              </a:ext>
            </a:extLst>
          </p:cNvPr>
          <p:cNvSpPr>
            <a:spLocks noGrp="1"/>
          </p:cNvSpPr>
          <p:nvPr/>
        </p:nvSpPr>
        <p:spPr>
          <a:xfrm>
            <a:off x="438150" y="4819650"/>
            <a:ext cx="2047875" cy="180975"/>
          </a:xfrm>
          <a:prstGeom prst="rect">
            <a:avLst/>
          </a:prstGeom>
          <a:noFill/>
          <a:ln w="0">
            <a:noFill/>
          </a:ln>
        </p:spPr>
        <p:txBody>
          <a:bodyPr lIns="0" tIns="0" rIns="0" bIns="0" anchor="ctr">
            <a:noAutofit/>
          </a:bodyPr>
          <a:lstStyle/>
          <a:p>
            <a:pPr algn="l">
              <a:defRPr sz="1050" b="0">
                <a:solidFill>
                  <a:srgbClr val="5B6C80"/>
                </a:solidFill>
                <a:latin typeface="Arial"/>
                <a:ea typeface="Arial"/>
                <a:cs typeface="Arial"/>
              </a:defRPr>
            </a:pPr>
            <a:r>
              <a:rPr sz="1050" b="0">
                <a:solidFill>
                  <a:srgbClr val="5B6C80"/>
                </a:solidFill>
                <a:latin typeface="Arial"/>
                <a:ea typeface="Arial"/>
                <a:cs typeface="Arial"/>
              </a:rPr>
              <a:t>Response excerpts</a:t>
            </a:r>
          </a:p>
        </p:txBody>
      </p:sp>
      <p:sp>
        <p:nvSpPr>
          <p:cNvPr id="14" name="line-13">
            <a:extLst>
              <a:ext uri="{FF2B5EF4-FFF2-40B4-BE49-F238E27FC236}">
                <a16:creationId xmlns:a16="http://schemas.microsoft.com/office/drawing/2014/main" id="{2EA2DC11-F810-4C5F-8E16-9C5E85E8E47D}"/>
              </a:ext>
            </a:extLst>
          </p:cNvPr>
          <p:cNvSpPr>
            <a:spLocks noGrp="1"/>
          </p:cNvSpPr>
          <p:nvPr/>
        </p:nvSpPr>
        <p:spPr>
          <a:xfrm>
            <a:off x="2676525" y="2552700"/>
            <a:ext cx="685800" cy="981075"/>
          </a:xfrm>
          <a:custGeom>
            <a:avLst/>
            <a:gdLst/>
            <a:ahLst/>
            <a:cxnLst/>
            <a:rect l="0" t="0" r="0" b="0"/>
            <a:pathLst>
              <a:path w="685800" h="981075">
                <a:moveTo>
                  <a:pt x="0" y="0"/>
                </a:moveTo>
                <a:lnTo>
                  <a:pt x="180975" y="0"/>
                </a:lnTo>
                <a:lnTo>
                  <a:pt x="180975" y="981075"/>
                </a:lnTo>
                <a:lnTo>
                  <a:pt x="685800" y="981075"/>
                </a:lnTo>
              </a:path>
            </a:pathLst>
          </a:custGeom>
          <a:noFill/>
          <a:ln w="19050">
            <a:solidFill>
              <a:srgbClr val="122C50"/>
            </a:solidFill>
            <a:prstDash val="solid"/>
          </a:ln>
        </p:spPr>
        <p:txBody>
          <a:bodyPr/>
          <a:p/>
        </p:txBody>
      </p:sp>
      <p:sp>
        <p:nvSpPr>
          <p:cNvPr id="15" name="arrow-14">
            <a:extLst>
              <a:ext uri="{FF2B5EF4-FFF2-40B4-BE49-F238E27FC236}">
                <a16:creationId xmlns:a16="http://schemas.microsoft.com/office/drawing/2014/main" id="{3F9C3150-359D-4246-B6D2-0217BED07FBA}"/>
              </a:ext>
            </a:extLst>
          </p:cNvPr>
          <p:cNvSpPr>
            <a:spLocks noGrp="1"/>
          </p:cNvSpPr>
          <p:nvPr/>
        </p:nvSpPr>
        <p:spPr>
          <a:xfrm>
            <a:off x="3276600" y="3490913"/>
            <a:ext cx="85725" cy="85725"/>
          </a:xfrm>
          <a:custGeom>
            <a:avLst/>
            <a:gdLst/>
            <a:ahLst/>
            <a:cxnLst/>
            <a:rect l="0" t="0" r="0" b="0"/>
            <a:pathLst>
              <a:path w="85725" h="85725">
                <a:moveTo>
                  <a:pt x="85725" y="42863"/>
                </a:moveTo>
                <a:lnTo>
                  <a:pt x="0" y="0"/>
                </a:lnTo>
                <a:lnTo>
                  <a:pt x="0" y="85725"/>
                </a:lnTo>
                <a:lnTo>
                  <a:pt x="85725" y="42863"/>
                </a:lnTo>
              </a:path>
            </a:pathLst>
          </a:custGeom>
          <a:solidFill>
            <a:srgbClr val="122C50"/>
          </a:solidFill>
          <a:ln w="2858">
            <a:solidFill>
              <a:srgbClr val="122C50"/>
            </a:solidFill>
          </a:ln>
        </p:spPr>
        <p:txBody>
          <a:bodyPr/>
          <a:p/>
        </p:txBody>
      </p:sp>
      <p:sp>
        <p:nvSpPr>
          <p:cNvPr id="16" name="element-15">
            <a:extLst>
              <a:ext uri="{FF2B5EF4-FFF2-40B4-BE49-F238E27FC236}">
                <a16:creationId xmlns:a16="http://schemas.microsoft.com/office/drawing/2014/main" id="{E0D539AD-DA2A-4BDA-B16F-7AD2E44FE55C}"/>
              </a:ext>
            </a:extLst>
          </p:cNvPr>
          <p:cNvSpPr>
            <a:spLocks noGrp="1"/>
          </p:cNvSpPr>
          <p:nvPr/>
        </p:nvSpPr>
        <p:spPr>
          <a:xfrm>
            <a:off x="3362325" y="3219450"/>
            <a:ext cx="9572625" cy="628650"/>
          </a:xfrm>
          <a:prstGeom prst="roundRect">
            <a:avLst>
              <a:gd name="adj" fmla="val 10606"/>
            </a:avLst>
          </a:prstGeom>
          <a:solidFill>
            <a:srgbClr val="EDF4FD"/>
          </a:solidFill>
          <a:ln w="14288">
            <a:solidFill>
              <a:srgbClr val="94B8D9"/>
            </a:solidFill>
          </a:ln>
        </p:spPr>
        <p:txBody>
          <a:bodyPr/>
          <a:p/>
        </p:txBody>
      </p:sp>
      <p:sp>
        <p:nvSpPr>
          <p:cNvPr id="17" name="element-16">
            <a:extLst>
              <a:ext uri="{FF2B5EF4-FFF2-40B4-BE49-F238E27FC236}">
                <a16:creationId xmlns:a16="http://schemas.microsoft.com/office/drawing/2014/main" id="{2753A305-B257-4A4F-97A0-F5C3E8D22AC5}"/>
              </a:ext>
            </a:extLst>
          </p:cNvPr>
          <p:cNvSpPr>
            <a:spLocks noGrp="1"/>
          </p:cNvSpPr>
          <p:nvPr/>
        </p:nvSpPr>
        <p:spPr>
          <a:xfrm>
            <a:off x="5562600" y="3402758"/>
            <a:ext cx="285750" cy="209550"/>
          </a:xfrm>
          <a:prstGeom prst="roundRect">
            <a:avLst>
              <a:gd name="adj" fmla="val 18182"/>
            </a:avLst>
          </a:prstGeom>
          <a:solidFill>
            <a:srgbClr val="122C50"/>
          </a:solidFill>
          <a:ln w="14288">
            <a:solidFill>
              <a:srgbClr val="122C50"/>
            </a:solidFill>
          </a:ln>
        </p:spPr>
        <p:txBody>
          <a:bodyPr/>
          <a:p/>
        </p:txBody>
      </p:sp>
      <p:sp>
        <p:nvSpPr>
          <p:cNvPr id="18" name="node-17">
            <a:extLst>
              <a:ext uri="{FF2B5EF4-FFF2-40B4-BE49-F238E27FC236}">
                <a16:creationId xmlns:a16="http://schemas.microsoft.com/office/drawing/2014/main" id="{002D1BDB-AEEC-47A9-8FA2-411940AB254B}"/>
              </a:ext>
            </a:extLst>
          </p:cNvPr>
          <p:cNvSpPr>
            <a:spLocks noGrp="1"/>
          </p:cNvSpPr>
          <p:nvPr/>
        </p:nvSpPr>
        <p:spPr>
          <a:xfrm>
            <a:off x="5619750" y="3459908"/>
            <a:ext cx="38100" cy="38100"/>
          </a:xfrm>
          <a:prstGeom prst="ellipse">
            <a:avLst/>
          </a:prstGeom>
          <a:solidFill>
            <a:srgbClr val="FFFFFF"/>
          </a:solidFill>
          <a:ln w="16193">
            <a:solidFill>
              <a:srgbClr val="FFFFFF"/>
            </a:solidFill>
          </a:ln>
        </p:spPr>
        <p:txBody>
          <a:bodyPr/>
          <a:p/>
        </p:txBody>
      </p:sp>
      <p:sp>
        <p:nvSpPr>
          <p:cNvPr id="19" name="node-18">
            <a:extLst>
              <a:ext uri="{FF2B5EF4-FFF2-40B4-BE49-F238E27FC236}">
                <a16:creationId xmlns:a16="http://schemas.microsoft.com/office/drawing/2014/main" id="{936E715E-D792-40D3-AEC0-8FBEF6288AAD}"/>
              </a:ext>
            </a:extLst>
          </p:cNvPr>
          <p:cNvSpPr>
            <a:spLocks noGrp="1"/>
          </p:cNvSpPr>
          <p:nvPr/>
        </p:nvSpPr>
        <p:spPr>
          <a:xfrm>
            <a:off x="5753100" y="3459908"/>
            <a:ext cx="38100" cy="38100"/>
          </a:xfrm>
          <a:prstGeom prst="ellipse">
            <a:avLst/>
          </a:prstGeom>
          <a:solidFill>
            <a:srgbClr val="FFFFFF"/>
          </a:solidFill>
          <a:ln w="16193">
            <a:solidFill>
              <a:srgbClr val="FFFFFF"/>
            </a:solidFill>
          </a:ln>
        </p:spPr>
        <p:txBody>
          <a:bodyPr/>
          <a:p/>
        </p:txBody>
      </p:sp>
      <p:sp>
        <p:nvSpPr>
          <p:cNvPr id="20" name="line-19">
            <a:extLst>
              <a:ext uri="{FF2B5EF4-FFF2-40B4-BE49-F238E27FC236}">
                <a16:creationId xmlns:a16="http://schemas.microsoft.com/office/drawing/2014/main" id="{C036C8C9-26D3-42E2-B491-9C86F4CCA600}"/>
              </a:ext>
            </a:extLst>
          </p:cNvPr>
          <p:cNvSpPr>
            <a:spLocks noGrp="1"/>
          </p:cNvSpPr>
          <p:nvPr/>
        </p:nvSpPr>
        <p:spPr>
          <a:xfrm>
            <a:off x="5705475" y="3326558"/>
            <a:ext cx="9525" cy="66675"/>
          </a:xfrm>
          <a:custGeom>
            <a:avLst/>
            <a:gdLst/>
            <a:ahLst/>
            <a:cxnLst/>
            <a:rect l="0" t="0" r="0" b="0"/>
            <a:pathLst>
              <a:path w="9525" h="66675">
                <a:moveTo>
                  <a:pt x="0" y="66675"/>
                </a:moveTo>
                <a:lnTo>
                  <a:pt x="0" y="0"/>
                </a:lnTo>
              </a:path>
            </a:pathLst>
          </a:custGeom>
          <a:noFill/>
          <a:ln w="19050">
            <a:solidFill>
              <a:srgbClr val="122C50"/>
            </a:solidFill>
            <a:prstDash val="solid"/>
          </a:ln>
        </p:spPr>
        <p:txBody>
          <a:bodyPr/>
          <a:p/>
        </p:txBody>
      </p:sp>
      <p:sp>
        <p:nvSpPr>
          <p:cNvPr id="21" name="node-20">
            <a:extLst>
              <a:ext uri="{FF2B5EF4-FFF2-40B4-BE49-F238E27FC236}">
                <a16:creationId xmlns:a16="http://schemas.microsoft.com/office/drawing/2014/main" id="{1FC3DFB8-D40B-455F-B557-EB171668C4DC}"/>
              </a:ext>
            </a:extLst>
          </p:cNvPr>
          <p:cNvSpPr>
            <a:spLocks noGrp="1"/>
          </p:cNvSpPr>
          <p:nvPr/>
        </p:nvSpPr>
        <p:spPr>
          <a:xfrm>
            <a:off x="5676900" y="3278933"/>
            <a:ext cx="57150" cy="57150"/>
          </a:xfrm>
          <a:prstGeom prst="ellipse">
            <a:avLst/>
          </a:prstGeom>
          <a:solidFill>
            <a:srgbClr val="122C50"/>
          </a:solidFill>
          <a:ln w="16193">
            <a:solidFill>
              <a:srgbClr val="122C50"/>
            </a:solidFill>
          </a:ln>
        </p:spPr>
        <p:txBody>
          <a:bodyPr/>
          <a:p/>
        </p:txBody>
      </p:sp>
      <p:sp>
        <p:nvSpPr>
          <p:cNvPr id="22" name="element-21">
            <a:extLst>
              <a:ext uri="{FF2B5EF4-FFF2-40B4-BE49-F238E27FC236}">
                <a16:creationId xmlns:a16="http://schemas.microsoft.com/office/drawing/2014/main" id="{8A972D13-16FB-4FCC-AA5A-AC54A0B6257F}"/>
              </a:ext>
            </a:extLst>
          </p:cNvPr>
          <p:cNvSpPr>
            <a:spLocks noGrp="1"/>
          </p:cNvSpPr>
          <p:nvPr/>
        </p:nvSpPr>
        <p:spPr>
          <a:xfrm>
            <a:off x="5953125" y="3319730"/>
            <a:ext cx="6191250" cy="304800"/>
          </a:xfrm>
          <a:prstGeom prst="rect">
            <a:avLst/>
          </a:prstGeom>
          <a:noFill/>
          <a:ln w="0">
            <a:noFill/>
          </a:ln>
        </p:spPr>
        <p:txBody>
          <a:bodyPr lIns="0" tIns="0" rIns="0" bIns="0" anchor="ctr">
            <a:noAutofit/>
          </a:bodyPr>
          <a:lstStyle/>
          <a:p>
            <a:pPr algn="l">
              <a:defRPr sz="1875" b="1">
                <a:solidFill>
                  <a:srgbClr val="122C50"/>
                </a:solidFill>
                <a:latin typeface="Arial"/>
                <a:ea typeface="Arial"/>
                <a:cs typeface="Arial"/>
              </a:defRPr>
            </a:pPr>
            <a:r>
              <a:rPr sz="1875" b="1" dirty="0">
                <a:solidFill>
                  <a:srgbClr val="122C50"/>
                </a:solidFill>
                <a:latin typeface="Arial"/>
                <a:ea typeface="Arial"/>
                <a:cs typeface="Arial"/>
              </a:rPr>
              <a:t>Unified-Subtree Worker (shared VLM)</a:t>
            </a:r>
          </a:p>
        </p:txBody>
      </p:sp>
      <p:sp>
        <p:nvSpPr>
          <p:cNvPr id="23" name="element-22">
            <a:extLst>
              <a:ext uri="{FF2B5EF4-FFF2-40B4-BE49-F238E27FC236}">
                <a16:creationId xmlns:a16="http://schemas.microsoft.com/office/drawing/2014/main" id="{1D759CB8-C202-4DF3-9D99-9FA2EAC094C4}"/>
              </a:ext>
            </a:extLst>
          </p:cNvPr>
          <p:cNvSpPr>
            <a:spLocks noGrp="1"/>
          </p:cNvSpPr>
          <p:nvPr/>
        </p:nvSpPr>
        <p:spPr>
          <a:xfrm>
            <a:off x="3705225" y="3627227"/>
            <a:ext cx="8858250" cy="200025"/>
          </a:xfrm>
          <a:prstGeom prst="rect">
            <a:avLst/>
          </a:prstGeom>
          <a:noFill/>
          <a:ln w="0">
            <a:noFill/>
          </a:ln>
        </p:spPr>
        <p:txBody>
          <a:bodyPr lIns="0" tIns="0" rIns="0" bIns="0" anchor="ctr">
            <a:noAutofit/>
          </a:bodyPr>
          <a:lstStyle/>
          <a:p>
            <a:pPr algn="ctr">
              <a:defRPr sz="1275" b="0">
                <a:solidFill>
                  <a:srgbClr val="5B6C80"/>
                </a:solidFill>
                <a:latin typeface="Arial"/>
                <a:ea typeface="Arial"/>
                <a:cs typeface="Arial"/>
              </a:defRPr>
            </a:pPr>
            <a:r>
              <a:rPr sz="1275" b="0" dirty="0">
                <a:solidFill>
                  <a:srgbClr val="5B6C80"/>
                </a:solidFill>
                <a:latin typeface="Arial"/>
                <a:ea typeface="Arial"/>
                <a:cs typeface="Arial"/>
              </a:rPr>
              <a:t>One independent call per subtree; shared model weights</a:t>
            </a:r>
          </a:p>
        </p:txBody>
      </p:sp>
      <p:sp>
        <p:nvSpPr>
          <p:cNvPr id="24" name="node-23">
            <a:extLst>
              <a:ext uri="{FF2B5EF4-FFF2-40B4-BE49-F238E27FC236}">
                <a16:creationId xmlns:a16="http://schemas.microsoft.com/office/drawing/2014/main" id="{9C86613F-5EF5-40C3-9046-55A6BFC2B0D9}"/>
              </a:ext>
            </a:extLst>
          </p:cNvPr>
          <p:cNvSpPr>
            <a:spLocks noGrp="1"/>
          </p:cNvSpPr>
          <p:nvPr/>
        </p:nvSpPr>
        <p:spPr>
          <a:xfrm>
            <a:off x="3848100" y="733425"/>
            <a:ext cx="704850" cy="704850"/>
          </a:xfrm>
          <a:prstGeom prst="ellipse">
            <a:avLst/>
          </a:prstGeom>
          <a:solidFill>
            <a:srgbClr val="EEF5FC"/>
          </a:solidFill>
          <a:ln w="16193">
            <a:solidFill>
              <a:srgbClr val="EEF5FC"/>
            </a:solidFill>
          </a:ln>
        </p:spPr>
        <p:txBody>
          <a:bodyPr/>
          <a:p/>
        </p:txBody>
      </p:sp>
      <p:sp>
        <p:nvSpPr>
          <p:cNvPr id="25" name="element-24">
            <a:extLst>
              <a:ext uri="{FF2B5EF4-FFF2-40B4-BE49-F238E27FC236}">
                <a16:creationId xmlns:a16="http://schemas.microsoft.com/office/drawing/2014/main" id="{95ACEAA0-A385-4BA4-B89C-30BC107BE910}"/>
              </a:ext>
            </a:extLst>
          </p:cNvPr>
          <p:cNvSpPr>
            <a:spLocks noGrp="1"/>
          </p:cNvSpPr>
          <p:nvPr/>
        </p:nvSpPr>
        <p:spPr>
          <a:xfrm>
            <a:off x="4000500" y="847725"/>
            <a:ext cx="381000" cy="457200"/>
          </a:xfrm>
          <a:prstGeom prst="roundRect">
            <a:avLst>
              <a:gd name="adj" fmla="val 7500"/>
            </a:avLst>
          </a:prstGeom>
          <a:solidFill>
            <a:srgbClr val="FFFFFF"/>
          </a:solidFill>
          <a:ln w="14288">
            <a:solidFill>
              <a:srgbClr val="357FC0"/>
            </a:solidFill>
          </a:ln>
        </p:spPr>
        <p:txBody>
          <a:bodyPr/>
          <a:p/>
        </p:txBody>
      </p:sp>
      <p:sp>
        <p:nvSpPr>
          <p:cNvPr id="26" name="line-25">
            <a:extLst>
              <a:ext uri="{FF2B5EF4-FFF2-40B4-BE49-F238E27FC236}">
                <a16:creationId xmlns:a16="http://schemas.microsoft.com/office/drawing/2014/main" id="{B5286C77-F555-42CB-8878-12EE5FDAAE5B}"/>
              </a:ext>
            </a:extLst>
          </p:cNvPr>
          <p:cNvSpPr>
            <a:spLocks noGrp="1"/>
          </p:cNvSpPr>
          <p:nvPr/>
        </p:nvSpPr>
        <p:spPr>
          <a:xfrm>
            <a:off x="4076700" y="984885"/>
            <a:ext cx="228600" cy="9525"/>
          </a:xfrm>
          <a:custGeom>
            <a:avLst/>
            <a:gdLst/>
            <a:ahLst/>
            <a:cxnLst/>
            <a:rect l="0" t="0" r="0" b="0"/>
            <a:pathLst>
              <a:path w="228600" h="9525">
                <a:moveTo>
                  <a:pt x="0" y="0"/>
                </a:moveTo>
                <a:lnTo>
                  <a:pt x="228600" y="0"/>
                </a:lnTo>
              </a:path>
            </a:pathLst>
          </a:custGeom>
          <a:noFill/>
          <a:ln w="12383">
            <a:solidFill>
              <a:srgbClr val="357FC0"/>
            </a:solidFill>
            <a:prstDash val="solid"/>
          </a:ln>
        </p:spPr>
        <p:txBody>
          <a:bodyPr/>
          <a:p/>
        </p:txBody>
      </p:sp>
      <p:sp>
        <p:nvSpPr>
          <p:cNvPr id="27" name="line-26">
            <a:extLst>
              <a:ext uri="{FF2B5EF4-FFF2-40B4-BE49-F238E27FC236}">
                <a16:creationId xmlns:a16="http://schemas.microsoft.com/office/drawing/2014/main" id="{02170BBD-F106-46A7-A048-6A9FF09C56D4}"/>
              </a:ext>
            </a:extLst>
          </p:cNvPr>
          <p:cNvSpPr>
            <a:spLocks noGrp="1"/>
          </p:cNvSpPr>
          <p:nvPr/>
        </p:nvSpPr>
        <p:spPr>
          <a:xfrm>
            <a:off x="4076700" y="1067181"/>
            <a:ext cx="228600" cy="9525"/>
          </a:xfrm>
          <a:custGeom>
            <a:avLst/>
            <a:gdLst/>
            <a:ahLst/>
            <a:cxnLst/>
            <a:rect l="0" t="0" r="0" b="0"/>
            <a:pathLst>
              <a:path w="228600" h="9525">
                <a:moveTo>
                  <a:pt x="0" y="0"/>
                </a:moveTo>
                <a:lnTo>
                  <a:pt x="228600" y="0"/>
                </a:lnTo>
              </a:path>
            </a:pathLst>
          </a:custGeom>
          <a:noFill/>
          <a:ln w="12383">
            <a:solidFill>
              <a:srgbClr val="357FC0"/>
            </a:solidFill>
            <a:prstDash val="solid"/>
          </a:ln>
        </p:spPr>
        <p:txBody>
          <a:bodyPr/>
          <a:p/>
        </p:txBody>
      </p:sp>
      <p:sp>
        <p:nvSpPr>
          <p:cNvPr id="28" name="line-27">
            <a:extLst>
              <a:ext uri="{FF2B5EF4-FFF2-40B4-BE49-F238E27FC236}">
                <a16:creationId xmlns:a16="http://schemas.microsoft.com/office/drawing/2014/main" id="{7A8934CA-0E67-45EA-93BC-CA5F02F6D32A}"/>
              </a:ext>
            </a:extLst>
          </p:cNvPr>
          <p:cNvSpPr>
            <a:spLocks noGrp="1"/>
          </p:cNvSpPr>
          <p:nvPr/>
        </p:nvSpPr>
        <p:spPr>
          <a:xfrm>
            <a:off x="4076700" y="1149477"/>
            <a:ext cx="171450" cy="9525"/>
          </a:xfrm>
          <a:custGeom>
            <a:avLst/>
            <a:gdLst/>
            <a:ahLst/>
            <a:cxnLst/>
            <a:rect l="0" t="0" r="0" b="0"/>
            <a:pathLst>
              <a:path w="171450" h="9525">
                <a:moveTo>
                  <a:pt x="0" y="0"/>
                </a:moveTo>
                <a:lnTo>
                  <a:pt x="171450" y="0"/>
                </a:lnTo>
              </a:path>
            </a:pathLst>
          </a:custGeom>
          <a:noFill/>
          <a:ln w="12383">
            <a:solidFill>
              <a:srgbClr val="357FC0"/>
            </a:solidFill>
            <a:prstDash val="solid"/>
          </a:ln>
        </p:spPr>
        <p:txBody>
          <a:bodyPr/>
          <a:p/>
        </p:txBody>
      </p:sp>
      <p:sp>
        <p:nvSpPr>
          <p:cNvPr id="29" name="line-28">
            <a:extLst>
              <a:ext uri="{FF2B5EF4-FFF2-40B4-BE49-F238E27FC236}">
                <a16:creationId xmlns:a16="http://schemas.microsoft.com/office/drawing/2014/main" id="{425ABFCD-ED9C-4807-A69C-035901EE55A3}"/>
              </a:ext>
            </a:extLst>
          </p:cNvPr>
          <p:cNvSpPr>
            <a:spLocks noGrp="1"/>
          </p:cNvSpPr>
          <p:nvPr/>
        </p:nvSpPr>
        <p:spPr>
          <a:xfrm>
            <a:off x="4067175" y="962025"/>
            <a:ext cx="142875" cy="104775"/>
          </a:xfrm>
          <a:custGeom>
            <a:avLst/>
            <a:gdLst/>
            <a:ahLst/>
            <a:cxnLst/>
            <a:rect l="0" t="0" r="0" b="0"/>
            <a:pathLst>
              <a:path w="142875" h="104775">
                <a:moveTo>
                  <a:pt x="0" y="57150"/>
                </a:moveTo>
                <a:lnTo>
                  <a:pt x="47625" y="104775"/>
                </a:lnTo>
                <a:lnTo>
                  <a:pt x="142875" y="0"/>
                </a:lnTo>
              </a:path>
            </a:pathLst>
          </a:custGeom>
          <a:noFill/>
          <a:ln w="23813">
            <a:solidFill>
              <a:srgbClr val="357FC0"/>
            </a:solidFill>
            <a:prstDash val="solid"/>
          </a:ln>
        </p:spPr>
        <p:txBody>
          <a:bodyPr/>
          <a:p/>
        </p:txBody>
      </p:sp>
      <p:sp>
        <p:nvSpPr>
          <p:cNvPr id="30" name="line-29">
            <a:extLst>
              <a:ext uri="{FF2B5EF4-FFF2-40B4-BE49-F238E27FC236}">
                <a16:creationId xmlns:a16="http://schemas.microsoft.com/office/drawing/2014/main" id="{1801B7A6-24D9-449E-9C56-82BA70491AAC}"/>
              </a:ext>
            </a:extLst>
          </p:cNvPr>
          <p:cNvSpPr>
            <a:spLocks noGrp="1"/>
          </p:cNvSpPr>
          <p:nvPr/>
        </p:nvSpPr>
        <p:spPr>
          <a:xfrm>
            <a:off x="4562475" y="723900"/>
            <a:ext cx="114300" cy="95250"/>
          </a:xfrm>
          <a:custGeom>
            <a:avLst/>
            <a:gdLst/>
            <a:ahLst/>
            <a:cxnLst/>
            <a:rect l="0" t="0" r="0" b="0"/>
            <a:pathLst>
              <a:path w="114300" h="95250">
                <a:moveTo>
                  <a:pt x="0" y="95250"/>
                </a:moveTo>
                <a:lnTo>
                  <a:pt x="0" y="28575"/>
                </a:lnTo>
                <a:lnTo>
                  <a:pt x="28575" y="0"/>
                </a:lnTo>
                <a:lnTo>
                  <a:pt x="85725" y="0"/>
                </a:lnTo>
                <a:lnTo>
                  <a:pt x="114300" y="28575"/>
                </a:lnTo>
                <a:lnTo>
                  <a:pt x="114300" y="95250"/>
                </a:lnTo>
              </a:path>
            </a:pathLst>
          </a:custGeom>
          <a:noFill/>
          <a:ln w="19050">
            <a:solidFill>
              <a:srgbClr val="122C50"/>
            </a:solidFill>
            <a:prstDash val="solid"/>
          </a:ln>
        </p:spPr>
        <p:txBody>
          <a:bodyPr/>
          <a:p/>
        </p:txBody>
      </p:sp>
      <p:sp>
        <p:nvSpPr>
          <p:cNvPr id="31" name="element-30">
            <a:extLst>
              <a:ext uri="{FF2B5EF4-FFF2-40B4-BE49-F238E27FC236}">
                <a16:creationId xmlns:a16="http://schemas.microsoft.com/office/drawing/2014/main" id="{A65E1766-C21A-45D4-B3CE-CAC87568406F}"/>
              </a:ext>
            </a:extLst>
          </p:cNvPr>
          <p:cNvSpPr>
            <a:spLocks noGrp="1"/>
          </p:cNvSpPr>
          <p:nvPr/>
        </p:nvSpPr>
        <p:spPr>
          <a:xfrm>
            <a:off x="4524375" y="809625"/>
            <a:ext cx="190500" cy="142875"/>
          </a:xfrm>
          <a:prstGeom prst="roundRect">
            <a:avLst>
              <a:gd name="adj" fmla="val 20000"/>
            </a:avLst>
          </a:prstGeom>
          <a:solidFill>
            <a:srgbClr val="122C50"/>
          </a:solidFill>
          <a:ln w="14288">
            <a:solidFill>
              <a:srgbClr val="122C50"/>
            </a:solidFill>
          </a:ln>
        </p:spPr>
        <p:txBody>
          <a:bodyPr/>
          <a:p/>
        </p:txBody>
      </p:sp>
      <p:sp>
        <p:nvSpPr>
          <p:cNvPr id="32" name="node-31">
            <a:extLst>
              <a:ext uri="{FF2B5EF4-FFF2-40B4-BE49-F238E27FC236}">
                <a16:creationId xmlns:a16="http://schemas.microsoft.com/office/drawing/2014/main" id="{FA77D441-5BC7-4CB8-BA3F-BCBB27937A17}"/>
              </a:ext>
            </a:extLst>
          </p:cNvPr>
          <p:cNvSpPr>
            <a:spLocks noGrp="1"/>
          </p:cNvSpPr>
          <p:nvPr/>
        </p:nvSpPr>
        <p:spPr>
          <a:xfrm>
            <a:off x="4600575" y="847725"/>
            <a:ext cx="38100" cy="38100"/>
          </a:xfrm>
          <a:prstGeom prst="ellipse">
            <a:avLst/>
          </a:prstGeom>
          <a:solidFill>
            <a:srgbClr val="FFFFFF"/>
          </a:solidFill>
          <a:ln w="16193">
            <a:solidFill>
              <a:srgbClr val="FFFFFF"/>
            </a:solidFill>
          </a:ln>
        </p:spPr>
        <p:txBody>
          <a:bodyPr/>
          <a:p/>
        </p:txBody>
      </p:sp>
      <p:sp>
        <p:nvSpPr>
          <p:cNvPr id="33" name="element-32">
            <a:extLst>
              <a:ext uri="{FF2B5EF4-FFF2-40B4-BE49-F238E27FC236}">
                <a16:creationId xmlns:a16="http://schemas.microsoft.com/office/drawing/2014/main" id="{6644C998-3664-4FC6-9617-2A69E08A6285}"/>
              </a:ext>
            </a:extLst>
          </p:cNvPr>
          <p:cNvSpPr>
            <a:spLocks noGrp="1"/>
          </p:cNvSpPr>
          <p:nvPr/>
        </p:nvSpPr>
        <p:spPr>
          <a:xfrm>
            <a:off x="3276600" y="1504950"/>
            <a:ext cx="1847850" cy="295275"/>
          </a:xfrm>
          <a:prstGeom prst="rect">
            <a:avLst/>
          </a:prstGeom>
          <a:noFill/>
          <a:ln w="0">
            <a:noFill/>
          </a:ln>
        </p:spPr>
        <p:txBody>
          <a:bodyPr lIns="0" tIns="0" rIns="0" bIns="0" anchor="ctr">
            <a:noAutofit/>
          </a:bodyPr>
          <a:lstStyle/>
          <a:p>
            <a:pPr algn="ctr">
              <a:defRPr sz="1575" b="1">
                <a:solidFill>
                  <a:srgbClr val="122C50"/>
                </a:solidFill>
                <a:latin typeface="Arial"/>
                <a:ea typeface="Arial"/>
                <a:cs typeface="Arial"/>
              </a:defRPr>
            </a:pPr>
            <a:r>
              <a:rPr sz="1575" b="1" dirty="0">
                <a:solidFill>
                  <a:srgbClr val="122C50"/>
                </a:solidFill>
                <a:latin typeface="Arial"/>
                <a:ea typeface="Arial"/>
                <a:cs typeface="Arial"/>
              </a:rPr>
              <a:t>Completeness</a:t>
            </a:r>
          </a:p>
        </p:txBody>
      </p:sp>
      <p:sp>
        <p:nvSpPr>
          <p:cNvPr id="34" name="element-33">
            <a:extLst>
              <a:ext uri="{FF2B5EF4-FFF2-40B4-BE49-F238E27FC236}">
                <a16:creationId xmlns:a16="http://schemas.microsoft.com/office/drawing/2014/main" id="{D4988F6C-0384-4FA2-BF78-833A27C8845C}"/>
              </a:ext>
            </a:extLst>
          </p:cNvPr>
          <p:cNvSpPr>
            <a:spLocks noGrp="1"/>
          </p:cNvSpPr>
          <p:nvPr/>
        </p:nvSpPr>
        <p:spPr>
          <a:xfrm>
            <a:off x="3400425" y="1847850"/>
            <a:ext cx="1600200" cy="1114425"/>
          </a:xfrm>
          <a:prstGeom prst="roundRect">
            <a:avLst>
              <a:gd name="adj" fmla="val 7692"/>
            </a:avLst>
          </a:prstGeom>
          <a:solidFill>
            <a:srgbClr val="EEF5FC"/>
          </a:solidFill>
          <a:ln w="9525">
            <a:solidFill>
              <a:srgbClr val="357FC0"/>
            </a:solidFill>
            <a:prstDash val="dash"/>
          </a:ln>
        </p:spPr>
        <p:txBody>
          <a:bodyPr/>
          <a:p/>
        </p:txBody>
      </p:sp>
      <p:sp>
        <p:nvSpPr>
          <p:cNvPr id="35" name="node-34">
            <a:extLst>
              <a:ext uri="{FF2B5EF4-FFF2-40B4-BE49-F238E27FC236}">
                <a16:creationId xmlns:a16="http://schemas.microsoft.com/office/drawing/2014/main" id="{06C8C784-5CF3-4D85-8661-8B39D4ED42DA}"/>
              </a:ext>
            </a:extLst>
          </p:cNvPr>
          <p:cNvSpPr>
            <a:spLocks noGrp="1"/>
          </p:cNvSpPr>
          <p:nvPr/>
        </p:nvSpPr>
        <p:spPr>
          <a:xfrm>
            <a:off x="4095750" y="1924050"/>
            <a:ext cx="209550" cy="209550"/>
          </a:xfrm>
          <a:prstGeom prst="ellipse">
            <a:avLst/>
          </a:prstGeom>
          <a:solidFill>
            <a:srgbClr val="FFFFFF"/>
          </a:solidFill>
          <a:ln w="16193">
            <a:solidFill>
              <a:srgbClr val="357FC0"/>
            </a:solidFill>
          </a:ln>
        </p:spPr>
        <p:txBody>
          <a:bodyPr/>
          <a:p/>
        </p:txBody>
      </p:sp>
      <p:sp>
        <p:nvSpPr>
          <p:cNvPr id="36" name="line-35">
            <a:extLst>
              <a:ext uri="{FF2B5EF4-FFF2-40B4-BE49-F238E27FC236}">
                <a16:creationId xmlns:a16="http://schemas.microsoft.com/office/drawing/2014/main" id="{04F3CAC2-4FAD-4B05-A629-77DEAF69C680}"/>
              </a:ext>
            </a:extLst>
          </p:cNvPr>
          <p:cNvSpPr>
            <a:spLocks noGrp="1"/>
          </p:cNvSpPr>
          <p:nvPr/>
        </p:nvSpPr>
        <p:spPr>
          <a:xfrm>
            <a:off x="3829050" y="2133600"/>
            <a:ext cx="371475" cy="495300"/>
          </a:xfrm>
          <a:custGeom>
            <a:avLst/>
            <a:gdLst/>
            <a:ahLst/>
            <a:cxnLst/>
            <a:rect l="0" t="0" r="0" b="0"/>
            <a:pathLst>
              <a:path w="371475" h="495300">
                <a:moveTo>
                  <a:pt x="371475" y="0"/>
                </a:moveTo>
                <a:lnTo>
                  <a:pt x="0" y="495300"/>
                </a:lnTo>
              </a:path>
            </a:pathLst>
          </a:custGeom>
          <a:noFill/>
          <a:ln w="16193">
            <a:solidFill>
              <a:srgbClr val="357FC0"/>
            </a:solidFill>
            <a:prstDash val="solid"/>
          </a:ln>
        </p:spPr>
        <p:txBody>
          <a:bodyPr/>
          <a:p/>
        </p:txBody>
      </p:sp>
      <p:sp>
        <p:nvSpPr>
          <p:cNvPr id="37" name="node-36">
            <a:extLst>
              <a:ext uri="{FF2B5EF4-FFF2-40B4-BE49-F238E27FC236}">
                <a16:creationId xmlns:a16="http://schemas.microsoft.com/office/drawing/2014/main" id="{9BD3FD3F-ABDF-4592-952B-1224B7A5BA64}"/>
              </a:ext>
            </a:extLst>
          </p:cNvPr>
          <p:cNvSpPr>
            <a:spLocks noGrp="1"/>
          </p:cNvSpPr>
          <p:nvPr/>
        </p:nvSpPr>
        <p:spPr>
          <a:xfrm>
            <a:off x="3743325" y="2628900"/>
            <a:ext cx="171450" cy="171450"/>
          </a:xfrm>
          <a:prstGeom prst="ellipse">
            <a:avLst/>
          </a:prstGeom>
          <a:solidFill>
            <a:srgbClr val="FFFFFF"/>
          </a:solidFill>
          <a:ln w="16193">
            <a:solidFill>
              <a:srgbClr val="357FC0"/>
            </a:solidFill>
          </a:ln>
        </p:spPr>
        <p:txBody>
          <a:bodyPr/>
          <a:p/>
        </p:txBody>
      </p:sp>
      <p:sp>
        <p:nvSpPr>
          <p:cNvPr id="38" name="line-37">
            <a:extLst>
              <a:ext uri="{FF2B5EF4-FFF2-40B4-BE49-F238E27FC236}">
                <a16:creationId xmlns:a16="http://schemas.microsoft.com/office/drawing/2014/main" id="{F2EC1FA0-21D3-43E3-B2CA-66C92FA37F81}"/>
              </a:ext>
            </a:extLst>
          </p:cNvPr>
          <p:cNvSpPr>
            <a:spLocks noGrp="1"/>
          </p:cNvSpPr>
          <p:nvPr/>
        </p:nvSpPr>
        <p:spPr>
          <a:xfrm>
            <a:off x="4200525" y="2133600"/>
            <a:ext cx="9525" cy="495300"/>
          </a:xfrm>
          <a:custGeom>
            <a:avLst/>
            <a:gdLst/>
            <a:ahLst/>
            <a:cxnLst/>
            <a:rect l="0" t="0" r="0" b="0"/>
            <a:pathLst>
              <a:path w="9525" h="495300">
                <a:moveTo>
                  <a:pt x="0" y="0"/>
                </a:moveTo>
                <a:lnTo>
                  <a:pt x="0" y="495300"/>
                </a:lnTo>
              </a:path>
            </a:pathLst>
          </a:custGeom>
          <a:noFill/>
          <a:ln w="16193">
            <a:solidFill>
              <a:srgbClr val="357FC0"/>
            </a:solidFill>
            <a:prstDash val="solid"/>
          </a:ln>
        </p:spPr>
        <p:txBody>
          <a:bodyPr/>
          <a:p/>
        </p:txBody>
      </p:sp>
      <p:sp>
        <p:nvSpPr>
          <p:cNvPr id="39" name="node-38">
            <a:extLst>
              <a:ext uri="{FF2B5EF4-FFF2-40B4-BE49-F238E27FC236}">
                <a16:creationId xmlns:a16="http://schemas.microsoft.com/office/drawing/2014/main" id="{72898441-FD40-4484-9350-C3766862937B}"/>
              </a:ext>
            </a:extLst>
          </p:cNvPr>
          <p:cNvSpPr>
            <a:spLocks noGrp="1"/>
          </p:cNvSpPr>
          <p:nvPr/>
        </p:nvSpPr>
        <p:spPr>
          <a:xfrm>
            <a:off x="4114800" y="2628900"/>
            <a:ext cx="171450" cy="171450"/>
          </a:xfrm>
          <a:prstGeom prst="ellipse">
            <a:avLst/>
          </a:prstGeom>
          <a:solidFill>
            <a:srgbClr val="FFFFFF"/>
          </a:solidFill>
          <a:ln w="16193">
            <a:solidFill>
              <a:srgbClr val="357FC0"/>
            </a:solidFill>
          </a:ln>
        </p:spPr>
        <p:txBody>
          <a:bodyPr/>
          <a:p/>
        </p:txBody>
      </p:sp>
      <p:sp>
        <p:nvSpPr>
          <p:cNvPr id="40" name="line-39">
            <a:extLst>
              <a:ext uri="{FF2B5EF4-FFF2-40B4-BE49-F238E27FC236}">
                <a16:creationId xmlns:a16="http://schemas.microsoft.com/office/drawing/2014/main" id="{76A3220A-E9BA-48B5-A508-193DFFF55380}"/>
              </a:ext>
            </a:extLst>
          </p:cNvPr>
          <p:cNvSpPr>
            <a:spLocks noGrp="1"/>
          </p:cNvSpPr>
          <p:nvPr/>
        </p:nvSpPr>
        <p:spPr>
          <a:xfrm>
            <a:off x="4200525" y="2133600"/>
            <a:ext cx="371475" cy="495300"/>
          </a:xfrm>
          <a:custGeom>
            <a:avLst/>
            <a:gdLst/>
            <a:ahLst/>
            <a:cxnLst/>
            <a:rect l="0" t="0" r="0" b="0"/>
            <a:pathLst>
              <a:path w="371475" h="495300">
                <a:moveTo>
                  <a:pt x="0" y="0"/>
                </a:moveTo>
                <a:lnTo>
                  <a:pt x="371475" y="495300"/>
                </a:lnTo>
              </a:path>
            </a:pathLst>
          </a:custGeom>
          <a:noFill/>
          <a:ln w="16193">
            <a:solidFill>
              <a:srgbClr val="357FC0"/>
            </a:solidFill>
            <a:prstDash val="solid"/>
          </a:ln>
        </p:spPr>
        <p:txBody>
          <a:bodyPr/>
          <a:p/>
        </p:txBody>
      </p:sp>
      <p:sp>
        <p:nvSpPr>
          <p:cNvPr id="41" name="node-40">
            <a:extLst>
              <a:ext uri="{FF2B5EF4-FFF2-40B4-BE49-F238E27FC236}">
                <a16:creationId xmlns:a16="http://schemas.microsoft.com/office/drawing/2014/main" id="{31BAA828-61D7-46C3-B7AF-88D4B3D0CF21}"/>
              </a:ext>
            </a:extLst>
          </p:cNvPr>
          <p:cNvSpPr>
            <a:spLocks noGrp="1"/>
          </p:cNvSpPr>
          <p:nvPr/>
        </p:nvSpPr>
        <p:spPr>
          <a:xfrm>
            <a:off x="4486275" y="2628900"/>
            <a:ext cx="171450" cy="171450"/>
          </a:xfrm>
          <a:prstGeom prst="ellipse">
            <a:avLst/>
          </a:prstGeom>
          <a:solidFill>
            <a:srgbClr val="FFFFFF"/>
          </a:solidFill>
          <a:ln w="16193">
            <a:solidFill>
              <a:srgbClr val="357FC0"/>
            </a:solidFill>
          </a:ln>
        </p:spPr>
        <p:txBody>
          <a:bodyPr/>
          <a:p/>
        </p:txBody>
      </p:sp>
      <p:sp>
        <p:nvSpPr>
          <p:cNvPr id="42" name="element-41">
            <a:extLst>
              <a:ext uri="{FF2B5EF4-FFF2-40B4-BE49-F238E27FC236}">
                <a16:creationId xmlns:a16="http://schemas.microsoft.com/office/drawing/2014/main" id="{D61DF041-1E14-4B05-B1EE-A027BA266917}"/>
              </a:ext>
            </a:extLst>
          </p:cNvPr>
          <p:cNvSpPr>
            <a:spLocks noGrp="1"/>
          </p:cNvSpPr>
          <p:nvPr/>
        </p:nvSpPr>
        <p:spPr>
          <a:xfrm>
            <a:off x="3400425" y="4057650"/>
            <a:ext cx="1600200" cy="771525"/>
          </a:xfrm>
          <a:prstGeom prst="roundRect">
            <a:avLst>
              <a:gd name="adj" fmla="val 7407"/>
            </a:avLst>
          </a:prstGeom>
          <a:solidFill>
            <a:srgbClr val="EEF5FC"/>
          </a:solidFill>
          <a:ln w="14288">
            <a:solidFill>
              <a:srgbClr val="357FC0"/>
            </a:solidFill>
          </a:ln>
        </p:spPr>
        <p:txBody>
          <a:bodyPr/>
          <a:p/>
        </p:txBody>
      </p:sp>
      <p:sp>
        <p:nvSpPr>
          <p:cNvPr id="43" name="element-42">
            <a:extLst>
              <a:ext uri="{FF2B5EF4-FFF2-40B4-BE49-F238E27FC236}">
                <a16:creationId xmlns:a16="http://schemas.microsoft.com/office/drawing/2014/main" id="{2549BF2E-79FE-4354-813B-FF79BAC8900B}"/>
              </a:ext>
            </a:extLst>
          </p:cNvPr>
          <p:cNvSpPr>
            <a:spLocks noGrp="1"/>
          </p:cNvSpPr>
          <p:nvPr/>
        </p:nvSpPr>
        <p:spPr>
          <a:xfrm>
            <a:off x="3552825" y="4219575"/>
            <a:ext cx="190500" cy="266700"/>
          </a:xfrm>
          <a:prstGeom prst="roundRect">
            <a:avLst>
              <a:gd name="adj" fmla="val 15000"/>
            </a:avLst>
          </a:prstGeom>
          <a:solidFill>
            <a:srgbClr val="FFFFFF"/>
          </a:solidFill>
          <a:ln w="14288">
            <a:solidFill>
              <a:srgbClr val="357FC0"/>
            </a:solidFill>
          </a:ln>
        </p:spPr>
        <p:txBody>
          <a:bodyPr/>
          <a:p/>
        </p:txBody>
      </p:sp>
      <p:sp>
        <p:nvSpPr>
          <p:cNvPr id="44" name="line-43">
            <a:extLst>
              <a:ext uri="{FF2B5EF4-FFF2-40B4-BE49-F238E27FC236}">
                <a16:creationId xmlns:a16="http://schemas.microsoft.com/office/drawing/2014/main" id="{AED7AE0C-CD39-4E1E-8BCA-739C6A858A2E}"/>
              </a:ext>
            </a:extLst>
          </p:cNvPr>
          <p:cNvSpPr>
            <a:spLocks noGrp="1"/>
          </p:cNvSpPr>
          <p:nvPr/>
        </p:nvSpPr>
        <p:spPr>
          <a:xfrm>
            <a:off x="3590925" y="4299585"/>
            <a:ext cx="114300" cy="9525"/>
          </a:xfrm>
          <a:custGeom>
            <a:avLst/>
            <a:gdLst/>
            <a:ahLst/>
            <a:cxnLst/>
            <a:rect l="0" t="0" r="0" b="0"/>
            <a:pathLst>
              <a:path w="114300" h="9525">
                <a:moveTo>
                  <a:pt x="0" y="0"/>
                </a:moveTo>
                <a:lnTo>
                  <a:pt x="114300" y="0"/>
                </a:lnTo>
              </a:path>
            </a:pathLst>
          </a:custGeom>
          <a:noFill/>
          <a:ln w="12383">
            <a:solidFill>
              <a:srgbClr val="357FC0"/>
            </a:solidFill>
            <a:prstDash val="solid"/>
          </a:ln>
        </p:spPr>
        <p:txBody>
          <a:bodyPr/>
          <a:p/>
        </p:txBody>
      </p:sp>
      <p:sp>
        <p:nvSpPr>
          <p:cNvPr id="45" name="line-44">
            <a:extLst>
              <a:ext uri="{FF2B5EF4-FFF2-40B4-BE49-F238E27FC236}">
                <a16:creationId xmlns:a16="http://schemas.microsoft.com/office/drawing/2014/main" id="{4A9DC38C-23B4-46D5-BDAB-554F21E8FC15}"/>
              </a:ext>
            </a:extLst>
          </p:cNvPr>
          <p:cNvSpPr>
            <a:spLocks noGrp="1"/>
          </p:cNvSpPr>
          <p:nvPr/>
        </p:nvSpPr>
        <p:spPr>
          <a:xfrm>
            <a:off x="3590925" y="4347591"/>
            <a:ext cx="114300" cy="9525"/>
          </a:xfrm>
          <a:custGeom>
            <a:avLst/>
            <a:gdLst/>
            <a:ahLst/>
            <a:cxnLst/>
            <a:rect l="0" t="0" r="0" b="0"/>
            <a:pathLst>
              <a:path w="114300" h="9525">
                <a:moveTo>
                  <a:pt x="0" y="0"/>
                </a:moveTo>
                <a:lnTo>
                  <a:pt x="114300" y="0"/>
                </a:lnTo>
              </a:path>
            </a:pathLst>
          </a:custGeom>
          <a:noFill/>
          <a:ln w="12383">
            <a:solidFill>
              <a:srgbClr val="357FC0"/>
            </a:solidFill>
            <a:prstDash val="solid"/>
          </a:ln>
        </p:spPr>
        <p:txBody>
          <a:bodyPr/>
          <a:p/>
        </p:txBody>
      </p:sp>
      <p:sp>
        <p:nvSpPr>
          <p:cNvPr id="46" name="line-45">
            <a:extLst>
              <a:ext uri="{FF2B5EF4-FFF2-40B4-BE49-F238E27FC236}">
                <a16:creationId xmlns:a16="http://schemas.microsoft.com/office/drawing/2014/main" id="{7DC518CE-B336-4D43-AD17-C79BE45AD371}"/>
              </a:ext>
            </a:extLst>
          </p:cNvPr>
          <p:cNvSpPr>
            <a:spLocks noGrp="1"/>
          </p:cNvSpPr>
          <p:nvPr/>
        </p:nvSpPr>
        <p:spPr>
          <a:xfrm>
            <a:off x="3590925" y="4395597"/>
            <a:ext cx="85725" cy="9525"/>
          </a:xfrm>
          <a:custGeom>
            <a:avLst/>
            <a:gdLst/>
            <a:ahLst/>
            <a:cxnLst/>
            <a:rect l="0" t="0" r="0" b="0"/>
            <a:pathLst>
              <a:path w="85725" h="9525">
                <a:moveTo>
                  <a:pt x="0" y="0"/>
                </a:moveTo>
                <a:lnTo>
                  <a:pt x="85725" y="0"/>
                </a:lnTo>
              </a:path>
            </a:pathLst>
          </a:custGeom>
          <a:noFill/>
          <a:ln w="12383">
            <a:solidFill>
              <a:srgbClr val="357FC0"/>
            </a:solidFill>
            <a:prstDash val="solid"/>
          </a:ln>
        </p:spPr>
        <p:txBody>
          <a:bodyPr/>
          <a:p/>
        </p:txBody>
      </p:sp>
      <p:sp>
        <p:nvSpPr>
          <p:cNvPr id="47" name="element-46">
            <a:extLst>
              <a:ext uri="{FF2B5EF4-FFF2-40B4-BE49-F238E27FC236}">
                <a16:creationId xmlns:a16="http://schemas.microsoft.com/office/drawing/2014/main" id="{8F2BC79D-2FBB-44D5-910C-A16D8FB0A112}"/>
              </a:ext>
            </a:extLst>
          </p:cNvPr>
          <p:cNvSpPr>
            <a:spLocks noGrp="1"/>
          </p:cNvSpPr>
          <p:nvPr/>
        </p:nvSpPr>
        <p:spPr>
          <a:xfrm>
            <a:off x="3857625" y="4171950"/>
            <a:ext cx="1095375" cy="228600"/>
          </a:xfrm>
          <a:prstGeom prst="rect">
            <a:avLst/>
          </a:prstGeom>
          <a:noFill/>
          <a:ln w="0">
            <a:noFill/>
          </a:ln>
        </p:spPr>
        <p:txBody>
          <a:bodyPr lIns="0" tIns="0" rIns="0" bIns="0" anchor="ctr">
            <a:noAutofit/>
          </a:bodyPr>
          <a:lstStyle/>
          <a:p>
            <a:pPr algn="l">
              <a:defRPr sz="1425" b="0">
                <a:solidFill>
                  <a:srgbClr val="122C50"/>
                </a:solidFill>
                <a:latin typeface="Arial"/>
                <a:ea typeface="Arial"/>
                <a:cs typeface="Arial"/>
              </a:defRPr>
            </a:pPr>
            <a:r>
              <a:rPr sz="1425" b="0">
                <a:solidFill>
                  <a:srgbClr val="122C50"/>
                </a:solidFill>
                <a:latin typeface="Arial"/>
                <a:ea typeface="Arial"/>
                <a:cs typeface="Arial"/>
              </a:rPr>
              <a:t>Reason</a:t>
            </a:r>
          </a:p>
        </p:txBody>
      </p:sp>
      <p:sp>
        <p:nvSpPr>
          <p:cNvPr id="48" name="element-47">
            <a:extLst>
              <a:ext uri="{FF2B5EF4-FFF2-40B4-BE49-F238E27FC236}">
                <a16:creationId xmlns:a16="http://schemas.microsoft.com/office/drawing/2014/main" id="{07958C62-E835-486B-8E41-562523C5EDA7}"/>
              </a:ext>
            </a:extLst>
          </p:cNvPr>
          <p:cNvSpPr>
            <a:spLocks noGrp="1"/>
          </p:cNvSpPr>
          <p:nvPr/>
        </p:nvSpPr>
        <p:spPr>
          <a:xfrm>
            <a:off x="3581400" y="4495800"/>
            <a:ext cx="1381125" cy="238125"/>
          </a:xfrm>
          <a:prstGeom prst="rect">
            <a:avLst/>
          </a:prstGeom>
          <a:noFill/>
          <a:ln w="0">
            <a:noFill/>
          </a:ln>
        </p:spPr>
        <p:txBody>
          <a:bodyPr lIns="0" tIns="0" rIns="0" bIns="0" anchor="ctr">
            <a:noAutofit/>
          </a:bodyPr>
          <a:lstStyle/>
          <a:p>
            <a:pPr algn="ctr">
              <a:defRPr sz="1500" b="1">
                <a:solidFill>
                  <a:srgbClr val="357FC0"/>
                </a:solidFill>
                <a:latin typeface="Arial"/>
                <a:ea typeface="Arial"/>
                <a:cs typeface="Arial"/>
              </a:defRPr>
            </a:pPr>
            <a:r>
              <a:rPr sz="1500" b="1">
                <a:solidFill>
                  <a:srgbClr val="357FC0"/>
                </a:solidFill>
                <a:latin typeface="Arial"/>
                <a:ea typeface="Arial"/>
                <a:cs typeface="Arial"/>
              </a:rPr>
              <a:t>A / B / None</a:t>
            </a:r>
          </a:p>
        </p:txBody>
      </p:sp>
      <p:sp>
        <p:nvSpPr>
          <p:cNvPr id="49" name="line-48">
            <a:extLst>
              <a:ext uri="{FF2B5EF4-FFF2-40B4-BE49-F238E27FC236}">
                <a16:creationId xmlns:a16="http://schemas.microsoft.com/office/drawing/2014/main" id="{4E46488F-3F30-4A6F-B89E-B50725EC0507}"/>
              </a:ext>
            </a:extLst>
          </p:cNvPr>
          <p:cNvSpPr>
            <a:spLocks noGrp="1"/>
          </p:cNvSpPr>
          <p:nvPr/>
        </p:nvSpPr>
        <p:spPr>
          <a:xfrm>
            <a:off x="4200525" y="2962275"/>
            <a:ext cx="9525" cy="257175"/>
          </a:xfrm>
          <a:custGeom>
            <a:avLst/>
            <a:gdLst/>
            <a:ahLst/>
            <a:cxnLst/>
            <a:rect l="0" t="0" r="0" b="0"/>
            <a:pathLst>
              <a:path w="9525" h="257175">
                <a:moveTo>
                  <a:pt x="0" y="0"/>
                </a:moveTo>
                <a:lnTo>
                  <a:pt x="0" y="257175"/>
                </a:lnTo>
              </a:path>
            </a:pathLst>
          </a:custGeom>
          <a:noFill/>
          <a:ln w="19050">
            <a:solidFill>
              <a:srgbClr val="122C50"/>
            </a:solidFill>
            <a:prstDash val="solid"/>
          </a:ln>
        </p:spPr>
        <p:txBody>
          <a:bodyPr/>
          <a:p/>
        </p:txBody>
      </p:sp>
      <p:sp>
        <p:nvSpPr>
          <p:cNvPr id="50" name="arrow-49">
            <a:extLst>
              <a:ext uri="{FF2B5EF4-FFF2-40B4-BE49-F238E27FC236}">
                <a16:creationId xmlns:a16="http://schemas.microsoft.com/office/drawing/2014/main" id="{BA4242E3-9F2F-4F9D-9716-7E8099E38FE2}"/>
              </a:ext>
            </a:extLst>
          </p:cNvPr>
          <p:cNvSpPr>
            <a:spLocks noGrp="1"/>
          </p:cNvSpPr>
          <p:nvPr/>
        </p:nvSpPr>
        <p:spPr>
          <a:xfrm>
            <a:off x="4157663" y="31337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51" name="line-50">
            <a:extLst>
              <a:ext uri="{FF2B5EF4-FFF2-40B4-BE49-F238E27FC236}">
                <a16:creationId xmlns:a16="http://schemas.microsoft.com/office/drawing/2014/main" id="{47959065-5E66-4A2E-AC4B-4650D35084FC}"/>
              </a:ext>
            </a:extLst>
          </p:cNvPr>
          <p:cNvSpPr>
            <a:spLocks noGrp="1"/>
          </p:cNvSpPr>
          <p:nvPr/>
        </p:nvSpPr>
        <p:spPr>
          <a:xfrm>
            <a:off x="4200525" y="3848100"/>
            <a:ext cx="9525" cy="209550"/>
          </a:xfrm>
          <a:custGeom>
            <a:avLst/>
            <a:gdLst/>
            <a:ahLst/>
            <a:cxnLst/>
            <a:rect l="0" t="0" r="0" b="0"/>
            <a:pathLst>
              <a:path w="9525" h="209550">
                <a:moveTo>
                  <a:pt x="0" y="0"/>
                </a:moveTo>
                <a:lnTo>
                  <a:pt x="0" y="209550"/>
                </a:lnTo>
              </a:path>
            </a:pathLst>
          </a:custGeom>
          <a:noFill/>
          <a:ln w="19050">
            <a:solidFill>
              <a:srgbClr val="122C50"/>
            </a:solidFill>
            <a:prstDash val="solid"/>
          </a:ln>
        </p:spPr>
        <p:txBody>
          <a:bodyPr/>
          <a:p/>
        </p:txBody>
      </p:sp>
      <p:sp>
        <p:nvSpPr>
          <p:cNvPr id="52" name="arrow-51">
            <a:extLst>
              <a:ext uri="{FF2B5EF4-FFF2-40B4-BE49-F238E27FC236}">
                <a16:creationId xmlns:a16="http://schemas.microsoft.com/office/drawing/2014/main" id="{820E48C6-D78F-48A8-BF4E-0F37B7F3E644}"/>
              </a:ext>
            </a:extLst>
          </p:cNvPr>
          <p:cNvSpPr>
            <a:spLocks noGrp="1"/>
          </p:cNvSpPr>
          <p:nvPr/>
        </p:nvSpPr>
        <p:spPr>
          <a:xfrm>
            <a:off x="4157663" y="39719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53" name="line-52">
            <a:extLst>
              <a:ext uri="{FF2B5EF4-FFF2-40B4-BE49-F238E27FC236}">
                <a16:creationId xmlns:a16="http://schemas.microsoft.com/office/drawing/2014/main" id="{68EC2571-6E71-411A-BE85-FE5D023EA9E2}"/>
              </a:ext>
            </a:extLst>
          </p:cNvPr>
          <p:cNvSpPr>
            <a:spLocks noGrp="1"/>
          </p:cNvSpPr>
          <p:nvPr/>
        </p:nvSpPr>
        <p:spPr>
          <a:xfrm>
            <a:off x="4200525" y="4829175"/>
            <a:ext cx="9525" cy="342900"/>
          </a:xfrm>
          <a:custGeom>
            <a:avLst/>
            <a:gdLst/>
            <a:ahLst/>
            <a:cxnLst/>
            <a:rect l="0" t="0" r="0" b="0"/>
            <a:pathLst>
              <a:path w="9525" h="342900">
                <a:moveTo>
                  <a:pt x="0" y="0"/>
                </a:moveTo>
                <a:lnTo>
                  <a:pt x="0" y="342900"/>
                </a:lnTo>
              </a:path>
            </a:pathLst>
          </a:custGeom>
          <a:noFill/>
          <a:ln w="19050">
            <a:solidFill>
              <a:srgbClr val="122C50"/>
            </a:solidFill>
            <a:prstDash val="solid"/>
          </a:ln>
        </p:spPr>
        <p:txBody>
          <a:bodyPr/>
          <a:p/>
        </p:txBody>
      </p:sp>
      <p:sp>
        <p:nvSpPr>
          <p:cNvPr id="54" name="arrow-53">
            <a:extLst>
              <a:ext uri="{FF2B5EF4-FFF2-40B4-BE49-F238E27FC236}">
                <a16:creationId xmlns:a16="http://schemas.microsoft.com/office/drawing/2014/main" id="{76F3A117-6919-4822-BBBE-D7182F397405}"/>
              </a:ext>
            </a:extLst>
          </p:cNvPr>
          <p:cNvSpPr>
            <a:spLocks noGrp="1"/>
          </p:cNvSpPr>
          <p:nvPr/>
        </p:nvSpPr>
        <p:spPr>
          <a:xfrm>
            <a:off x="4157663" y="5086350"/>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55" name="node-54">
            <a:extLst>
              <a:ext uri="{FF2B5EF4-FFF2-40B4-BE49-F238E27FC236}">
                <a16:creationId xmlns:a16="http://schemas.microsoft.com/office/drawing/2014/main" id="{90D3DCA9-56DA-4F6C-B993-E4107FD39D96}"/>
              </a:ext>
            </a:extLst>
          </p:cNvPr>
          <p:cNvSpPr>
            <a:spLocks noGrp="1"/>
          </p:cNvSpPr>
          <p:nvPr/>
        </p:nvSpPr>
        <p:spPr>
          <a:xfrm>
            <a:off x="5762625" y="733425"/>
            <a:ext cx="704850" cy="704850"/>
          </a:xfrm>
          <a:prstGeom prst="ellipse">
            <a:avLst/>
          </a:prstGeom>
          <a:solidFill>
            <a:srgbClr val="ECF8F5"/>
          </a:solidFill>
          <a:ln w="16193">
            <a:solidFill>
              <a:srgbClr val="ECF8F5"/>
            </a:solidFill>
          </a:ln>
        </p:spPr>
        <p:txBody>
          <a:bodyPr/>
          <a:p/>
        </p:txBody>
      </p:sp>
      <p:sp>
        <p:nvSpPr>
          <p:cNvPr id="56" name="椭圆 55">
            <a:extLst>
              <a:ext uri="{FF2B5EF4-FFF2-40B4-BE49-F238E27FC236}">
                <a16:creationId xmlns:a16="http://schemas.microsoft.com/office/drawing/2014/main" id="{B36AEFD0-332C-4FE4-BC16-08D8EFDFBCC8}"/>
              </a:ext>
            </a:extLst>
          </p:cNvPr>
          <p:cNvSpPr>
            <a:spLocks noGrp="1"/>
          </p:cNvSpPr>
          <p:nvPr/>
        </p:nvSpPr>
        <p:spPr>
          <a:xfrm>
            <a:off x="5857875" y="933450"/>
            <a:ext cx="533400" cy="295275"/>
          </a:xfrm>
          <a:prstGeom prst="ellipse">
            <a:avLst/>
          </a:prstGeom>
          <a:noFill/>
          <a:ln w="24765">
            <a:solidFill>
              <a:srgbClr val="168D86"/>
            </a:solidFill>
          </a:ln>
        </p:spPr>
        <p:txBody>
          <a:bodyPr/>
          <a:p/>
        </p:txBody>
      </p:sp>
      <p:sp>
        <p:nvSpPr>
          <p:cNvPr id="57" name="node-55">
            <a:extLst>
              <a:ext uri="{FF2B5EF4-FFF2-40B4-BE49-F238E27FC236}">
                <a16:creationId xmlns:a16="http://schemas.microsoft.com/office/drawing/2014/main" id="{E0E16A48-5B3A-4D6F-AD0C-24C3BB11ECF8}"/>
              </a:ext>
            </a:extLst>
          </p:cNvPr>
          <p:cNvSpPr>
            <a:spLocks noGrp="1"/>
          </p:cNvSpPr>
          <p:nvPr/>
        </p:nvSpPr>
        <p:spPr>
          <a:xfrm>
            <a:off x="6029325" y="990600"/>
            <a:ext cx="190500" cy="190500"/>
          </a:xfrm>
          <a:prstGeom prst="ellipse">
            <a:avLst/>
          </a:prstGeom>
          <a:solidFill>
            <a:srgbClr val="168D86"/>
          </a:solidFill>
          <a:ln w="16193">
            <a:solidFill>
              <a:srgbClr val="168D86"/>
            </a:solidFill>
          </a:ln>
        </p:spPr>
        <p:txBody>
          <a:bodyPr/>
          <a:p/>
        </p:txBody>
      </p:sp>
      <p:sp>
        <p:nvSpPr>
          <p:cNvPr id="58" name="node-56">
            <a:extLst>
              <a:ext uri="{FF2B5EF4-FFF2-40B4-BE49-F238E27FC236}">
                <a16:creationId xmlns:a16="http://schemas.microsoft.com/office/drawing/2014/main" id="{40FA6FB8-EAB1-4946-BDEE-BDCFD3E16647}"/>
              </a:ext>
            </a:extLst>
          </p:cNvPr>
          <p:cNvSpPr>
            <a:spLocks noGrp="1"/>
          </p:cNvSpPr>
          <p:nvPr/>
        </p:nvSpPr>
        <p:spPr>
          <a:xfrm>
            <a:off x="6076950" y="1019175"/>
            <a:ext cx="57150" cy="57150"/>
          </a:xfrm>
          <a:prstGeom prst="ellipse">
            <a:avLst/>
          </a:prstGeom>
          <a:solidFill>
            <a:srgbClr val="FFFFFF"/>
          </a:solidFill>
          <a:ln w="16193">
            <a:solidFill>
              <a:srgbClr val="FFFFFF"/>
            </a:solidFill>
          </a:ln>
        </p:spPr>
        <p:txBody>
          <a:bodyPr/>
          <a:p/>
        </p:txBody>
      </p:sp>
      <p:sp>
        <p:nvSpPr>
          <p:cNvPr id="59" name="line-57">
            <a:extLst>
              <a:ext uri="{FF2B5EF4-FFF2-40B4-BE49-F238E27FC236}">
                <a16:creationId xmlns:a16="http://schemas.microsoft.com/office/drawing/2014/main" id="{90614886-1CE7-4251-9516-35094A49E6C1}"/>
              </a:ext>
            </a:extLst>
          </p:cNvPr>
          <p:cNvSpPr>
            <a:spLocks noGrp="1"/>
          </p:cNvSpPr>
          <p:nvPr/>
        </p:nvSpPr>
        <p:spPr>
          <a:xfrm>
            <a:off x="6477000" y="723900"/>
            <a:ext cx="114300" cy="95250"/>
          </a:xfrm>
          <a:custGeom>
            <a:avLst/>
            <a:gdLst/>
            <a:ahLst/>
            <a:cxnLst/>
            <a:rect l="0" t="0" r="0" b="0"/>
            <a:pathLst>
              <a:path w="114300" h="95250">
                <a:moveTo>
                  <a:pt x="0" y="95250"/>
                </a:moveTo>
                <a:lnTo>
                  <a:pt x="0" y="28575"/>
                </a:lnTo>
                <a:lnTo>
                  <a:pt x="28575" y="0"/>
                </a:lnTo>
                <a:lnTo>
                  <a:pt x="85725" y="0"/>
                </a:lnTo>
                <a:lnTo>
                  <a:pt x="114300" y="28575"/>
                </a:lnTo>
                <a:lnTo>
                  <a:pt x="114300" y="95250"/>
                </a:lnTo>
              </a:path>
            </a:pathLst>
          </a:custGeom>
          <a:noFill/>
          <a:ln w="19050">
            <a:solidFill>
              <a:srgbClr val="122C50"/>
            </a:solidFill>
            <a:prstDash val="solid"/>
          </a:ln>
        </p:spPr>
        <p:txBody>
          <a:bodyPr/>
          <a:p/>
        </p:txBody>
      </p:sp>
      <p:sp>
        <p:nvSpPr>
          <p:cNvPr id="60" name="element-58">
            <a:extLst>
              <a:ext uri="{FF2B5EF4-FFF2-40B4-BE49-F238E27FC236}">
                <a16:creationId xmlns:a16="http://schemas.microsoft.com/office/drawing/2014/main" id="{FA85248C-9277-4997-BB0E-F0C583BDBE16}"/>
              </a:ext>
            </a:extLst>
          </p:cNvPr>
          <p:cNvSpPr>
            <a:spLocks noGrp="1"/>
          </p:cNvSpPr>
          <p:nvPr/>
        </p:nvSpPr>
        <p:spPr>
          <a:xfrm>
            <a:off x="6438900" y="809625"/>
            <a:ext cx="190500" cy="142875"/>
          </a:xfrm>
          <a:prstGeom prst="roundRect">
            <a:avLst>
              <a:gd name="adj" fmla="val 20000"/>
            </a:avLst>
          </a:prstGeom>
          <a:solidFill>
            <a:srgbClr val="122C50"/>
          </a:solidFill>
          <a:ln w="14288">
            <a:solidFill>
              <a:srgbClr val="122C50"/>
            </a:solidFill>
          </a:ln>
        </p:spPr>
        <p:txBody>
          <a:bodyPr/>
          <a:p/>
        </p:txBody>
      </p:sp>
      <p:sp>
        <p:nvSpPr>
          <p:cNvPr id="61" name="node-59">
            <a:extLst>
              <a:ext uri="{FF2B5EF4-FFF2-40B4-BE49-F238E27FC236}">
                <a16:creationId xmlns:a16="http://schemas.microsoft.com/office/drawing/2014/main" id="{BFCF0DD3-8AAC-4128-AAA5-C661D8A34053}"/>
              </a:ext>
            </a:extLst>
          </p:cNvPr>
          <p:cNvSpPr>
            <a:spLocks noGrp="1"/>
          </p:cNvSpPr>
          <p:nvPr/>
        </p:nvSpPr>
        <p:spPr>
          <a:xfrm>
            <a:off x="6515100" y="847725"/>
            <a:ext cx="38100" cy="38100"/>
          </a:xfrm>
          <a:prstGeom prst="ellipse">
            <a:avLst/>
          </a:prstGeom>
          <a:solidFill>
            <a:srgbClr val="FFFFFF"/>
          </a:solidFill>
          <a:ln w="16193">
            <a:solidFill>
              <a:srgbClr val="FFFFFF"/>
            </a:solidFill>
          </a:ln>
        </p:spPr>
        <p:txBody>
          <a:bodyPr/>
          <a:p/>
        </p:txBody>
      </p:sp>
      <p:sp>
        <p:nvSpPr>
          <p:cNvPr id="62" name="element-60">
            <a:extLst>
              <a:ext uri="{FF2B5EF4-FFF2-40B4-BE49-F238E27FC236}">
                <a16:creationId xmlns:a16="http://schemas.microsoft.com/office/drawing/2014/main" id="{A3B3B0A0-A343-4ACD-B8F0-1F3483529445}"/>
              </a:ext>
            </a:extLst>
          </p:cNvPr>
          <p:cNvSpPr>
            <a:spLocks noGrp="1"/>
          </p:cNvSpPr>
          <p:nvPr/>
        </p:nvSpPr>
        <p:spPr>
          <a:xfrm>
            <a:off x="5191125" y="1504950"/>
            <a:ext cx="1847850" cy="295275"/>
          </a:xfrm>
          <a:prstGeom prst="rect">
            <a:avLst/>
          </a:prstGeom>
          <a:noFill/>
          <a:ln w="0">
            <a:noFill/>
          </a:ln>
        </p:spPr>
        <p:txBody>
          <a:bodyPr lIns="0" tIns="0" rIns="0" bIns="0" anchor="ctr">
            <a:noAutofit/>
          </a:bodyPr>
          <a:lstStyle/>
          <a:p>
            <a:pPr algn="ctr">
              <a:defRPr sz="1575" b="1">
                <a:solidFill>
                  <a:srgbClr val="122C50"/>
                </a:solidFill>
                <a:latin typeface="Arial"/>
                <a:ea typeface="Arial"/>
                <a:cs typeface="Arial"/>
              </a:defRPr>
            </a:pPr>
            <a:r>
              <a:rPr sz="1575" b="1">
                <a:solidFill>
                  <a:srgbClr val="122C50"/>
                </a:solidFill>
                <a:latin typeface="Arial"/>
                <a:ea typeface="Arial"/>
                <a:cs typeface="Arial"/>
              </a:rPr>
              <a:t>Visual Grounding</a:t>
            </a:r>
          </a:p>
        </p:txBody>
      </p:sp>
      <p:sp>
        <p:nvSpPr>
          <p:cNvPr id="63" name="element-61">
            <a:extLst>
              <a:ext uri="{FF2B5EF4-FFF2-40B4-BE49-F238E27FC236}">
                <a16:creationId xmlns:a16="http://schemas.microsoft.com/office/drawing/2014/main" id="{F72FEF49-EC26-437D-9D74-1DDE0881BFA1}"/>
              </a:ext>
            </a:extLst>
          </p:cNvPr>
          <p:cNvSpPr>
            <a:spLocks noGrp="1"/>
          </p:cNvSpPr>
          <p:nvPr/>
        </p:nvSpPr>
        <p:spPr>
          <a:xfrm>
            <a:off x="5314950" y="1847850"/>
            <a:ext cx="1600200" cy="1114425"/>
          </a:xfrm>
          <a:prstGeom prst="roundRect">
            <a:avLst>
              <a:gd name="adj" fmla="val 7692"/>
            </a:avLst>
          </a:prstGeom>
          <a:solidFill>
            <a:srgbClr val="ECF8F5"/>
          </a:solidFill>
          <a:ln w="9525">
            <a:solidFill>
              <a:srgbClr val="168D86"/>
            </a:solidFill>
            <a:prstDash val="dash"/>
          </a:ln>
        </p:spPr>
        <p:txBody>
          <a:bodyPr/>
          <a:p/>
        </p:txBody>
      </p:sp>
      <p:sp>
        <p:nvSpPr>
          <p:cNvPr id="64" name="node-62">
            <a:extLst>
              <a:ext uri="{FF2B5EF4-FFF2-40B4-BE49-F238E27FC236}">
                <a16:creationId xmlns:a16="http://schemas.microsoft.com/office/drawing/2014/main" id="{9B5DEA9D-131D-4BE5-994F-7D53426BF4CF}"/>
              </a:ext>
            </a:extLst>
          </p:cNvPr>
          <p:cNvSpPr>
            <a:spLocks noGrp="1"/>
          </p:cNvSpPr>
          <p:nvPr/>
        </p:nvSpPr>
        <p:spPr>
          <a:xfrm>
            <a:off x="6010275" y="1924050"/>
            <a:ext cx="209550" cy="209550"/>
          </a:xfrm>
          <a:prstGeom prst="ellipse">
            <a:avLst/>
          </a:prstGeom>
          <a:solidFill>
            <a:srgbClr val="FFFFFF"/>
          </a:solidFill>
          <a:ln w="16193">
            <a:solidFill>
              <a:srgbClr val="168D86"/>
            </a:solidFill>
          </a:ln>
        </p:spPr>
        <p:txBody>
          <a:bodyPr/>
          <a:p/>
        </p:txBody>
      </p:sp>
      <p:sp>
        <p:nvSpPr>
          <p:cNvPr id="65" name="line-63">
            <a:extLst>
              <a:ext uri="{FF2B5EF4-FFF2-40B4-BE49-F238E27FC236}">
                <a16:creationId xmlns:a16="http://schemas.microsoft.com/office/drawing/2014/main" id="{73B6E28B-BB1B-4EBA-8F6B-168843F89855}"/>
              </a:ext>
            </a:extLst>
          </p:cNvPr>
          <p:cNvSpPr>
            <a:spLocks noGrp="1"/>
          </p:cNvSpPr>
          <p:nvPr/>
        </p:nvSpPr>
        <p:spPr>
          <a:xfrm>
            <a:off x="5743575" y="2133600"/>
            <a:ext cx="371475" cy="495300"/>
          </a:xfrm>
          <a:custGeom>
            <a:avLst/>
            <a:gdLst/>
            <a:ahLst/>
            <a:cxnLst/>
            <a:rect l="0" t="0" r="0" b="0"/>
            <a:pathLst>
              <a:path w="371475" h="495300">
                <a:moveTo>
                  <a:pt x="371475" y="0"/>
                </a:moveTo>
                <a:lnTo>
                  <a:pt x="0" y="495300"/>
                </a:lnTo>
              </a:path>
            </a:pathLst>
          </a:custGeom>
          <a:noFill/>
          <a:ln w="16193">
            <a:solidFill>
              <a:srgbClr val="168D86"/>
            </a:solidFill>
            <a:prstDash val="solid"/>
          </a:ln>
        </p:spPr>
        <p:txBody>
          <a:bodyPr/>
          <a:p/>
        </p:txBody>
      </p:sp>
      <p:sp>
        <p:nvSpPr>
          <p:cNvPr id="66" name="node-64">
            <a:extLst>
              <a:ext uri="{FF2B5EF4-FFF2-40B4-BE49-F238E27FC236}">
                <a16:creationId xmlns:a16="http://schemas.microsoft.com/office/drawing/2014/main" id="{0F86C47D-A7AF-4A94-AB0F-4326C91C98AE}"/>
              </a:ext>
            </a:extLst>
          </p:cNvPr>
          <p:cNvSpPr>
            <a:spLocks noGrp="1"/>
          </p:cNvSpPr>
          <p:nvPr/>
        </p:nvSpPr>
        <p:spPr>
          <a:xfrm>
            <a:off x="5657850" y="2628900"/>
            <a:ext cx="171450" cy="171450"/>
          </a:xfrm>
          <a:prstGeom prst="ellipse">
            <a:avLst/>
          </a:prstGeom>
          <a:solidFill>
            <a:srgbClr val="FFFFFF"/>
          </a:solidFill>
          <a:ln w="16193">
            <a:solidFill>
              <a:srgbClr val="168D86"/>
            </a:solidFill>
          </a:ln>
        </p:spPr>
        <p:txBody>
          <a:bodyPr/>
          <a:p/>
        </p:txBody>
      </p:sp>
      <p:sp>
        <p:nvSpPr>
          <p:cNvPr id="67" name="line-65">
            <a:extLst>
              <a:ext uri="{FF2B5EF4-FFF2-40B4-BE49-F238E27FC236}">
                <a16:creationId xmlns:a16="http://schemas.microsoft.com/office/drawing/2014/main" id="{1232D68F-825E-4C00-866D-246061F004EF}"/>
              </a:ext>
            </a:extLst>
          </p:cNvPr>
          <p:cNvSpPr>
            <a:spLocks noGrp="1"/>
          </p:cNvSpPr>
          <p:nvPr/>
        </p:nvSpPr>
        <p:spPr>
          <a:xfrm>
            <a:off x="6115050" y="2133600"/>
            <a:ext cx="9525" cy="495300"/>
          </a:xfrm>
          <a:custGeom>
            <a:avLst/>
            <a:gdLst/>
            <a:ahLst/>
            <a:cxnLst/>
            <a:rect l="0" t="0" r="0" b="0"/>
            <a:pathLst>
              <a:path w="9525" h="495300">
                <a:moveTo>
                  <a:pt x="0" y="0"/>
                </a:moveTo>
                <a:lnTo>
                  <a:pt x="0" y="495300"/>
                </a:lnTo>
              </a:path>
            </a:pathLst>
          </a:custGeom>
          <a:noFill/>
          <a:ln w="16193">
            <a:solidFill>
              <a:srgbClr val="168D86"/>
            </a:solidFill>
            <a:prstDash val="solid"/>
          </a:ln>
        </p:spPr>
        <p:txBody>
          <a:bodyPr/>
          <a:p/>
        </p:txBody>
      </p:sp>
      <p:sp>
        <p:nvSpPr>
          <p:cNvPr id="68" name="node-66">
            <a:extLst>
              <a:ext uri="{FF2B5EF4-FFF2-40B4-BE49-F238E27FC236}">
                <a16:creationId xmlns:a16="http://schemas.microsoft.com/office/drawing/2014/main" id="{F16216A0-2117-4B53-B921-2D447EC9F0F9}"/>
              </a:ext>
            </a:extLst>
          </p:cNvPr>
          <p:cNvSpPr>
            <a:spLocks noGrp="1"/>
          </p:cNvSpPr>
          <p:nvPr/>
        </p:nvSpPr>
        <p:spPr>
          <a:xfrm>
            <a:off x="6029325" y="2628900"/>
            <a:ext cx="171450" cy="171450"/>
          </a:xfrm>
          <a:prstGeom prst="ellipse">
            <a:avLst/>
          </a:prstGeom>
          <a:solidFill>
            <a:srgbClr val="FFFFFF"/>
          </a:solidFill>
          <a:ln w="16193">
            <a:solidFill>
              <a:srgbClr val="168D86"/>
            </a:solidFill>
          </a:ln>
        </p:spPr>
        <p:txBody>
          <a:bodyPr/>
          <a:p/>
        </p:txBody>
      </p:sp>
      <p:sp>
        <p:nvSpPr>
          <p:cNvPr id="69" name="line-67">
            <a:extLst>
              <a:ext uri="{FF2B5EF4-FFF2-40B4-BE49-F238E27FC236}">
                <a16:creationId xmlns:a16="http://schemas.microsoft.com/office/drawing/2014/main" id="{D3349F02-5755-48C6-BF86-F2C65A5BD018}"/>
              </a:ext>
            </a:extLst>
          </p:cNvPr>
          <p:cNvSpPr>
            <a:spLocks noGrp="1"/>
          </p:cNvSpPr>
          <p:nvPr/>
        </p:nvSpPr>
        <p:spPr>
          <a:xfrm>
            <a:off x="6115050" y="2133600"/>
            <a:ext cx="371475" cy="495300"/>
          </a:xfrm>
          <a:custGeom>
            <a:avLst/>
            <a:gdLst/>
            <a:ahLst/>
            <a:cxnLst/>
            <a:rect l="0" t="0" r="0" b="0"/>
            <a:pathLst>
              <a:path w="371475" h="495300">
                <a:moveTo>
                  <a:pt x="0" y="0"/>
                </a:moveTo>
                <a:lnTo>
                  <a:pt x="371475" y="495300"/>
                </a:lnTo>
              </a:path>
            </a:pathLst>
          </a:custGeom>
          <a:noFill/>
          <a:ln w="16193">
            <a:solidFill>
              <a:srgbClr val="168D86"/>
            </a:solidFill>
            <a:prstDash val="solid"/>
          </a:ln>
        </p:spPr>
        <p:txBody>
          <a:bodyPr/>
          <a:p/>
        </p:txBody>
      </p:sp>
      <p:sp>
        <p:nvSpPr>
          <p:cNvPr id="70" name="node-68">
            <a:extLst>
              <a:ext uri="{FF2B5EF4-FFF2-40B4-BE49-F238E27FC236}">
                <a16:creationId xmlns:a16="http://schemas.microsoft.com/office/drawing/2014/main" id="{3346AA41-8C4C-4B05-BA08-ECB070D887FB}"/>
              </a:ext>
            </a:extLst>
          </p:cNvPr>
          <p:cNvSpPr>
            <a:spLocks noGrp="1"/>
          </p:cNvSpPr>
          <p:nvPr/>
        </p:nvSpPr>
        <p:spPr>
          <a:xfrm>
            <a:off x="6400800" y="2628900"/>
            <a:ext cx="171450" cy="171450"/>
          </a:xfrm>
          <a:prstGeom prst="ellipse">
            <a:avLst/>
          </a:prstGeom>
          <a:solidFill>
            <a:srgbClr val="FFFFFF"/>
          </a:solidFill>
          <a:ln w="16193">
            <a:solidFill>
              <a:srgbClr val="168D86"/>
            </a:solidFill>
          </a:ln>
        </p:spPr>
        <p:txBody>
          <a:bodyPr/>
          <a:p/>
        </p:txBody>
      </p:sp>
      <p:sp>
        <p:nvSpPr>
          <p:cNvPr id="71" name="element-69">
            <a:extLst>
              <a:ext uri="{FF2B5EF4-FFF2-40B4-BE49-F238E27FC236}">
                <a16:creationId xmlns:a16="http://schemas.microsoft.com/office/drawing/2014/main" id="{29099E36-187E-4DE0-87EB-1C83F15F98DC}"/>
              </a:ext>
            </a:extLst>
          </p:cNvPr>
          <p:cNvSpPr>
            <a:spLocks noGrp="1"/>
          </p:cNvSpPr>
          <p:nvPr/>
        </p:nvSpPr>
        <p:spPr>
          <a:xfrm>
            <a:off x="5314950" y="4057650"/>
            <a:ext cx="1600200" cy="771525"/>
          </a:xfrm>
          <a:prstGeom prst="roundRect">
            <a:avLst>
              <a:gd name="adj" fmla="val 7407"/>
            </a:avLst>
          </a:prstGeom>
          <a:solidFill>
            <a:srgbClr val="ECF8F5"/>
          </a:solidFill>
          <a:ln w="14288">
            <a:solidFill>
              <a:srgbClr val="168D86"/>
            </a:solidFill>
          </a:ln>
        </p:spPr>
        <p:txBody>
          <a:bodyPr/>
          <a:p/>
        </p:txBody>
      </p:sp>
      <p:sp>
        <p:nvSpPr>
          <p:cNvPr id="72" name="element-70">
            <a:extLst>
              <a:ext uri="{FF2B5EF4-FFF2-40B4-BE49-F238E27FC236}">
                <a16:creationId xmlns:a16="http://schemas.microsoft.com/office/drawing/2014/main" id="{72A901FC-2806-4FCB-B4D8-2A72BB674522}"/>
              </a:ext>
            </a:extLst>
          </p:cNvPr>
          <p:cNvSpPr>
            <a:spLocks noGrp="1"/>
          </p:cNvSpPr>
          <p:nvPr/>
        </p:nvSpPr>
        <p:spPr>
          <a:xfrm>
            <a:off x="5467350" y="4219575"/>
            <a:ext cx="190500" cy="266700"/>
          </a:xfrm>
          <a:prstGeom prst="roundRect">
            <a:avLst>
              <a:gd name="adj" fmla="val 15000"/>
            </a:avLst>
          </a:prstGeom>
          <a:solidFill>
            <a:srgbClr val="FFFFFF"/>
          </a:solidFill>
          <a:ln w="14288">
            <a:solidFill>
              <a:srgbClr val="168D86"/>
            </a:solidFill>
          </a:ln>
        </p:spPr>
        <p:txBody>
          <a:bodyPr/>
          <a:p/>
        </p:txBody>
      </p:sp>
      <p:sp>
        <p:nvSpPr>
          <p:cNvPr id="73" name="line-71">
            <a:extLst>
              <a:ext uri="{FF2B5EF4-FFF2-40B4-BE49-F238E27FC236}">
                <a16:creationId xmlns:a16="http://schemas.microsoft.com/office/drawing/2014/main" id="{AA133F35-C62B-4A18-B88B-6A379C64FC34}"/>
              </a:ext>
            </a:extLst>
          </p:cNvPr>
          <p:cNvSpPr>
            <a:spLocks noGrp="1"/>
          </p:cNvSpPr>
          <p:nvPr/>
        </p:nvSpPr>
        <p:spPr>
          <a:xfrm>
            <a:off x="5505450" y="4299585"/>
            <a:ext cx="114300" cy="9525"/>
          </a:xfrm>
          <a:custGeom>
            <a:avLst/>
            <a:gdLst/>
            <a:ahLst/>
            <a:cxnLst/>
            <a:rect l="0" t="0" r="0" b="0"/>
            <a:pathLst>
              <a:path w="114300" h="9525">
                <a:moveTo>
                  <a:pt x="0" y="0"/>
                </a:moveTo>
                <a:lnTo>
                  <a:pt x="114300" y="0"/>
                </a:lnTo>
              </a:path>
            </a:pathLst>
          </a:custGeom>
          <a:noFill/>
          <a:ln w="12383">
            <a:solidFill>
              <a:srgbClr val="168D86"/>
            </a:solidFill>
            <a:prstDash val="solid"/>
          </a:ln>
        </p:spPr>
        <p:txBody>
          <a:bodyPr/>
          <a:p/>
        </p:txBody>
      </p:sp>
      <p:sp>
        <p:nvSpPr>
          <p:cNvPr id="74" name="line-72">
            <a:extLst>
              <a:ext uri="{FF2B5EF4-FFF2-40B4-BE49-F238E27FC236}">
                <a16:creationId xmlns:a16="http://schemas.microsoft.com/office/drawing/2014/main" id="{2B248214-F22D-43F3-9A58-21A8D0E40793}"/>
              </a:ext>
            </a:extLst>
          </p:cNvPr>
          <p:cNvSpPr>
            <a:spLocks noGrp="1"/>
          </p:cNvSpPr>
          <p:nvPr/>
        </p:nvSpPr>
        <p:spPr>
          <a:xfrm>
            <a:off x="5505450" y="4347591"/>
            <a:ext cx="114300" cy="9525"/>
          </a:xfrm>
          <a:custGeom>
            <a:avLst/>
            <a:gdLst/>
            <a:ahLst/>
            <a:cxnLst/>
            <a:rect l="0" t="0" r="0" b="0"/>
            <a:pathLst>
              <a:path w="114300" h="9525">
                <a:moveTo>
                  <a:pt x="0" y="0"/>
                </a:moveTo>
                <a:lnTo>
                  <a:pt x="114300" y="0"/>
                </a:lnTo>
              </a:path>
            </a:pathLst>
          </a:custGeom>
          <a:noFill/>
          <a:ln w="12383">
            <a:solidFill>
              <a:srgbClr val="168D86"/>
            </a:solidFill>
            <a:prstDash val="solid"/>
          </a:ln>
        </p:spPr>
        <p:txBody>
          <a:bodyPr/>
          <a:p/>
        </p:txBody>
      </p:sp>
      <p:sp>
        <p:nvSpPr>
          <p:cNvPr id="75" name="line-73">
            <a:extLst>
              <a:ext uri="{FF2B5EF4-FFF2-40B4-BE49-F238E27FC236}">
                <a16:creationId xmlns:a16="http://schemas.microsoft.com/office/drawing/2014/main" id="{CD06D209-F773-443A-9EEA-DC91B1E5EA6D}"/>
              </a:ext>
            </a:extLst>
          </p:cNvPr>
          <p:cNvSpPr>
            <a:spLocks noGrp="1"/>
          </p:cNvSpPr>
          <p:nvPr/>
        </p:nvSpPr>
        <p:spPr>
          <a:xfrm>
            <a:off x="5505450" y="4395597"/>
            <a:ext cx="85725" cy="9525"/>
          </a:xfrm>
          <a:custGeom>
            <a:avLst/>
            <a:gdLst/>
            <a:ahLst/>
            <a:cxnLst/>
            <a:rect l="0" t="0" r="0" b="0"/>
            <a:pathLst>
              <a:path w="85725" h="9525">
                <a:moveTo>
                  <a:pt x="0" y="0"/>
                </a:moveTo>
                <a:lnTo>
                  <a:pt x="85725" y="0"/>
                </a:lnTo>
              </a:path>
            </a:pathLst>
          </a:custGeom>
          <a:noFill/>
          <a:ln w="12383">
            <a:solidFill>
              <a:srgbClr val="168D86"/>
            </a:solidFill>
            <a:prstDash val="solid"/>
          </a:ln>
        </p:spPr>
        <p:txBody>
          <a:bodyPr/>
          <a:p/>
        </p:txBody>
      </p:sp>
      <p:sp>
        <p:nvSpPr>
          <p:cNvPr id="76" name="element-74">
            <a:extLst>
              <a:ext uri="{FF2B5EF4-FFF2-40B4-BE49-F238E27FC236}">
                <a16:creationId xmlns:a16="http://schemas.microsoft.com/office/drawing/2014/main" id="{FA14DD97-E503-4E4E-9BCF-F6B0001EF736}"/>
              </a:ext>
            </a:extLst>
          </p:cNvPr>
          <p:cNvSpPr>
            <a:spLocks noGrp="1"/>
          </p:cNvSpPr>
          <p:nvPr/>
        </p:nvSpPr>
        <p:spPr>
          <a:xfrm>
            <a:off x="5772150" y="4171950"/>
            <a:ext cx="1095375" cy="228600"/>
          </a:xfrm>
          <a:prstGeom prst="rect">
            <a:avLst/>
          </a:prstGeom>
          <a:noFill/>
          <a:ln w="0">
            <a:noFill/>
          </a:ln>
        </p:spPr>
        <p:txBody>
          <a:bodyPr lIns="0" tIns="0" rIns="0" bIns="0" anchor="ctr">
            <a:noAutofit/>
          </a:bodyPr>
          <a:lstStyle/>
          <a:p>
            <a:pPr algn="l">
              <a:defRPr sz="1425" b="0">
                <a:solidFill>
                  <a:srgbClr val="122C50"/>
                </a:solidFill>
                <a:latin typeface="Arial"/>
                <a:ea typeface="Arial"/>
                <a:cs typeface="Arial"/>
              </a:defRPr>
            </a:pPr>
            <a:r>
              <a:rPr sz="1425" b="0">
                <a:solidFill>
                  <a:srgbClr val="122C50"/>
                </a:solidFill>
                <a:latin typeface="Arial"/>
                <a:ea typeface="Arial"/>
                <a:cs typeface="Arial"/>
              </a:rPr>
              <a:t>Reason</a:t>
            </a:r>
          </a:p>
        </p:txBody>
      </p:sp>
      <p:sp>
        <p:nvSpPr>
          <p:cNvPr id="77" name="element-75">
            <a:extLst>
              <a:ext uri="{FF2B5EF4-FFF2-40B4-BE49-F238E27FC236}">
                <a16:creationId xmlns:a16="http://schemas.microsoft.com/office/drawing/2014/main" id="{9541AEE5-EB58-41AA-A4D8-62E7D8F66664}"/>
              </a:ext>
            </a:extLst>
          </p:cNvPr>
          <p:cNvSpPr>
            <a:spLocks noGrp="1"/>
          </p:cNvSpPr>
          <p:nvPr/>
        </p:nvSpPr>
        <p:spPr>
          <a:xfrm>
            <a:off x="5495925" y="4495800"/>
            <a:ext cx="1381125" cy="238125"/>
          </a:xfrm>
          <a:prstGeom prst="rect">
            <a:avLst/>
          </a:prstGeom>
          <a:noFill/>
          <a:ln w="0">
            <a:noFill/>
          </a:ln>
        </p:spPr>
        <p:txBody>
          <a:bodyPr lIns="0" tIns="0" rIns="0" bIns="0" anchor="ctr">
            <a:noAutofit/>
          </a:bodyPr>
          <a:lstStyle/>
          <a:p>
            <a:pPr algn="ctr">
              <a:defRPr sz="1500" b="1">
                <a:solidFill>
                  <a:srgbClr val="168D86"/>
                </a:solidFill>
                <a:latin typeface="Arial"/>
                <a:ea typeface="Arial"/>
                <a:cs typeface="Arial"/>
              </a:defRPr>
            </a:pPr>
            <a:r>
              <a:rPr sz="1500" b="1">
                <a:solidFill>
                  <a:srgbClr val="168D86"/>
                </a:solidFill>
                <a:latin typeface="Arial"/>
                <a:ea typeface="Arial"/>
                <a:cs typeface="Arial"/>
              </a:rPr>
              <a:t>A / B / None</a:t>
            </a:r>
          </a:p>
        </p:txBody>
      </p:sp>
      <p:sp>
        <p:nvSpPr>
          <p:cNvPr id="78" name="line-76">
            <a:extLst>
              <a:ext uri="{FF2B5EF4-FFF2-40B4-BE49-F238E27FC236}">
                <a16:creationId xmlns:a16="http://schemas.microsoft.com/office/drawing/2014/main" id="{C1DC0E93-0186-4B86-88AB-600637E644A5}"/>
              </a:ext>
            </a:extLst>
          </p:cNvPr>
          <p:cNvSpPr>
            <a:spLocks noGrp="1"/>
          </p:cNvSpPr>
          <p:nvPr/>
        </p:nvSpPr>
        <p:spPr>
          <a:xfrm>
            <a:off x="6115050" y="2962275"/>
            <a:ext cx="9525" cy="257175"/>
          </a:xfrm>
          <a:custGeom>
            <a:avLst/>
            <a:gdLst/>
            <a:ahLst/>
            <a:cxnLst/>
            <a:rect l="0" t="0" r="0" b="0"/>
            <a:pathLst>
              <a:path w="9525" h="257175">
                <a:moveTo>
                  <a:pt x="0" y="0"/>
                </a:moveTo>
                <a:lnTo>
                  <a:pt x="0" y="257175"/>
                </a:lnTo>
              </a:path>
            </a:pathLst>
          </a:custGeom>
          <a:noFill/>
          <a:ln w="19050">
            <a:solidFill>
              <a:srgbClr val="122C50"/>
            </a:solidFill>
            <a:prstDash val="solid"/>
          </a:ln>
        </p:spPr>
        <p:txBody>
          <a:bodyPr/>
          <a:p/>
        </p:txBody>
      </p:sp>
      <p:sp>
        <p:nvSpPr>
          <p:cNvPr id="79" name="arrow-77">
            <a:extLst>
              <a:ext uri="{FF2B5EF4-FFF2-40B4-BE49-F238E27FC236}">
                <a16:creationId xmlns:a16="http://schemas.microsoft.com/office/drawing/2014/main" id="{E9568BFC-A2D7-4783-9DF5-FDD65786B4D3}"/>
              </a:ext>
            </a:extLst>
          </p:cNvPr>
          <p:cNvSpPr>
            <a:spLocks noGrp="1"/>
          </p:cNvSpPr>
          <p:nvPr/>
        </p:nvSpPr>
        <p:spPr>
          <a:xfrm>
            <a:off x="6072188" y="31337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80" name="line-78">
            <a:extLst>
              <a:ext uri="{FF2B5EF4-FFF2-40B4-BE49-F238E27FC236}">
                <a16:creationId xmlns:a16="http://schemas.microsoft.com/office/drawing/2014/main" id="{41A87E07-A922-445B-9CE4-C6D65220F7FE}"/>
              </a:ext>
            </a:extLst>
          </p:cNvPr>
          <p:cNvSpPr>
            <a:spLocks noGrp="1"/>
          </p:cNvSpPr>
          <p:nvPr/>
        </p:nvSpPr>
        <p:spPr>
          <a:xfrm>
            <a:off x="6115050" y="3848100"/>
            <a:ext cx="9525" cy="209550"/>
          </a:xfrm>
          <a:custGeom>
            <a:avLst/>
            <a:gdLst/>
            <a:ahLst/>
            <a:cxnLst/>
            <a:rect l="0" t="0" r="0" b="0"/>
            <a:pathLst>
              <a:path w="9525" h="209550">
                <a:moveTo>
                  <a:pt x="0" y="0"/>
                </a:moveTo>
                <a:lnTo>
                  <a:pt x="0" y="209550"/>
                </a:lnTo>
              </a:path>
            </a:pathLst>
          </a:custGeom>
          <a:noFill/>
          <a:ln w="19050">
            <a:solidFill>
              <a:srgbClr val="122C50"/>
            </a:solidFill>
            <a:prstDash val="solid"/>
          </a:ln>
        </p:spPr>
        <p:txBody>
          <a:bodyPr/>
          <a:p/>
        </p:txBody>
      </p:sp>
      <p:sp>
        <p:nvSpPr>
          <p:cNvPr id="81" name="arrow-79">
            <a:extLst>
              <a:ext uri="{FF2B5EF4-FFF2-40B4-BE49-F238E27FC236}">
                <a16:creationId xmlns:a16="http://schemas.microsoft.com/office/drawing/2014/main" id="{BBC717DB-C560-4FC5-A004-7FA045AEA52D}"/>
              </a:ext>
            </a:extLst>
          </p:cNvPr>
          <p:cNvSpPr>
            <a:spLocks noGrp="1"/>
          </p:cNvSpPr>
          <p:nvPr/>
        </p:nvSpPr>
        <p:spPr>
          <a:xfrm>
            <a:off x="6072188" y="39719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82" name="line-80">
            <a:extLst>
              <a:ext uri="{FF2B5EF4-FFF2-40B4-BE49-F238E27FC236}">
                <a16:creationId xmlns:a16="http://schemas.microsoft.com/office/drawing/2014/main" id="{1CFA042D-FB32-45F8-8C6E-CF875EFC846E}"/>
              </a:ext>
            </a:extLst>
          </p:cNvPr>
          <p:cNvSpPr>
            <a:spLocks noGrp="1"/>
          </p:cNvSpPr>
          <p:nvPr/>
        </p:nvSpPr>
        <p:spPr>
          <a:xfrm>
            <a:off x="6115050" y="4829175"/>
            <a:ext cx="9525" cy="342900"/>
          </a:xfrm>
          <a:custGeom>
            <a:avLst/>
            <a:gdLst/>
            <a:ahLst/>
            <a:cxnLst/>
            <a:rect l="0" t="0" r="0" b="0"/>
            <a:pathLst>
              <a:path w="9525" h="342900">
                <a:moveTo>
                  <a:pt x="0" y="0"/>
                </a:moveTo>
                <a:lnTo>
                  <a:pt x="0" y="342900"/>
                </a:lnTo>
              </a:path>
            </a:pathLst>
          </a:custGeom>
          <a:noFill/>
          <a:ln w="19050">
            <a:solidFill>
              <a:srgbClr val="122C50"/>
            </a:solidFill>
            <a:prstDash val="solid"/>
          </a:ln>
        </p:spPr>
        <p:txBody>
          <a:bodyPr/>
          <a:p/>
        </p:txBody>
      </p:sp>
      <p:sp>
        <p:nvSpPr>
          <p:cNvPr id="83" name="arrow-81">
            <a:extLst>
              <a:ext uri="{FF2B5EF4-FFF2-40B4-BE49-F238E27FC236}">
                <a16:creationId xmlns:a16="http://schemas.microsoft.com/office/drawing/2014/main" id="{86AE1786-6354-4F67-848C-81B8F12E6CED}"/>
              </a:ext>
            </a:extLst>
          </p:cNvPr>
          <p:cNvSpPr>
            <a:spLocks noGrp="1"/>
          </p:cNvSpPr>
          <p:nvPr/>
        </p:nvSpPr>
        <p:spPr>
          <a:xfrm>
            <a:off x="6072188" y="5086350"/>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84" name="node-82">
            <a:extLst>
              <a:ext uri="{FF2B5EF4-FFF2-40B4-BE49-F238E27FC236}">
                <a16:creationId xmlns:a16="http://schemas.microsoft.com/office/drawing/2014/main" id="{F05D77A1-C1A3-4C6B-884D-5AA9F4005769}"/>
              </a:ext>
            </a:extLst>
          </p:cNvPr>
          <p:cNvSpPr>
            <a:spLocks noGrp="1"/>
          </p:cNvSpPr>
          <p:nvPr/>
        </p:nvSpPr>
        <p:spPr>
          <a:xfrm>
            <a:off x="7677150" y="733425"/>
            <a:ext cx="704850" cy="704850"/>
          </a:xfrm>
          <a:prstGeom prst="ellipse">
            <a:avLst/>
          </a:prstGeom>
          <a:solidFill>
            <a:srgbClr val="FFF5EB"/>
          </a:solidFill>
          <a:ln w="16193">
            <a:solidFill>
              <a:srgbClr val="FFF5EB"/>
            </a:solidFill>
          </a:ln>
        </p:spPr>
        <p:txBody>
          <a:bodyPr/>
          <a:p/>
        </p:txBody>
      </p:sp>
      <p:sp>
        <p:nvSpPr>
          <p:cNvPr id="85" name="line-83">
            <a:extLst>
              <a:ext uri="{FF2B5EF4-FFF2-40B4-BE49-F238E27FC236}">
                <a16:creationId xmlns:a16="http://schemas.microsoft.com/office/drawing/2014/main" id="{12227C54-1E5A-4090-A675-4F7DCB63CE6D}"/>
              </a:ext>
            </a:extLst>
          </p:cNvPr>
          <p:cNvSpPr>
            <a:spLocks noGrp="1"/>
          </p:cNvSpPr>
          <p:nvPr/>
        </p:nvSpPr>
        <p:spPr>
          <a:xfrm>
            <a:off x="7820025" y="847725"/>
            <a:ext cx="419100" cy="466725"/>
          </a:xfrm>
          <a:custGeom>
            <a:avLst/>
            <a:gdLst/>
            <a:ahLst/>
            <a:cxnLst/>
            <a:rect l="0" t="0" r="0" b="0"/>
            <a:pathLst>
              <a:path w="419100" h="466725">
                <a:moveTo>
                  <a:pt x="209550" y="0"/>
                </a:moveTo>
                <a:lnTo>
                  <a:pt x="419100" y="85725"/>
                </a:lnTo>
                <a:lnTo>
                  <a:pt x="381000" y="323850"/>
                </a:lnTo>
                <a:lnTo>
                  <a:pt x="209550" y="466725"/>
                </a:lnTo>
                <a:lnTo>
                  <a:pt x="38100" y="323850"/>
                </a:lnTo>
                <a:lnTo>
                  <a:pt x="0" y="85725"/>
                </a:lnTo>
                <a:lnTo>
                  <a:pt x="209550" y="0"/>
                </a:lnTo>
              </a:path>
            </a:pathLst>
          </a:custGeom>
          <a:noFill/>
          <a:ln w="24765">
            <a:solidFill>
              <a:srgbClr val="CD7939"/>
            </a:solidFill>
            <a:prstDash val="solid"/>
          </a:ln>
        </p:spPr>
        <p:txBody>
          <a:bodyPr/>
          <a:p/>
        </p:txBody>
      </p:sp>
      <p:sp>
        <p:nvSpPr>
          <p:cNvPr id="86" name="line-84">
            <a:extLst>
              <a:ext uri="{FF2B5EF4-FFF2-40B4-BE49-F238E27FC236}">
                <a16:creationId xmlns:a16="http://schemas.microsoft.com/office/drawing/2014/main" id="{98712B37-8549-42E6-8012-F65F85FEE6F4}"/>
              </a:ext>
            </a:extLst>
          </p:cNvPr>
          <p:cNvSpPr>
            <a:spLocks noGrp="1"/>
          </p:cNvSpPr>
          <p:nvPr/>
        </p:nvSpPr>
        <p:spPr>
          <a:xfrm>
            <a:off x="7924800" y="990600"/>
            <a:ext cx="209550" cy="152400"/>
          </a:xfrm>
          <a:custGeom>
            <a:avLst/>
            <a:gdLst/>
            <a:ahLst/>
            <a:cxnLst/>
            <a:rect l="0" t="0" r="0" b="0"/>
            <a:pathLst>
              <a:path w="209550" h="152400">
                <a:moveTo>
                  <a:pt x="0" y="76200"/>
                </a:moveTo>
                <a:lnTo>
                  <a:pt x="76200" y="152400"/>
                </a:lnTo>
                <a:lnTo>
                  <a:pt x="209550" y="0"/>
                </a:lnTo>
              </a:path>
            </a:pathLst>
          </a:custGeom>
          <a:noFill/>
          <a:ln w="24765">
            <a:solidFill>
              <a:srgbClr val="CD7939"/>
            </a:solidFill>
            <a:prstDash val="solid"/>
          </a:ln>
        </p:spPr>
        <p:txBody>
          <a:bodyPr/>
          <a:p/>
        </p:txBody>
      </p:sp>
      <p:sp>
        <p:nvSpPr>
          <p:cNvPr id="87" name="line-85">
            <a:extLst>
              <a:ext uri="{FF2B5EF4-FFF2-40B4-BE49-F238E27FC236}">
                <a16:creationId xmlns:a16="http://schemas.microsoft.com/office/drawing/2014/main" id="{6CC13B79-B65D-4AA6-88E0-35767FC5F70B}"/>
              </a:ext>
            </a:extLst>
          </p:cNvPr>
          <p:cNvSpPr>
            <a:spLocks noGrp="1"/>
          </p:cNvSpPr>
          <p:nvPr/>
        </p:nvSpPr>
        <p:spPr>
          <a:xfrm>
            <a:off x="8391525" y="723900"/>
            <a:ext cx="114300" cy="95250"/>
          </a:xfrm>
          <a:custGeom>
            <a:avLst/>
            <a:gdLst/>
            <a:ahLst/>
            <a:cxnLst/>
            <a:rect l="0" t="0" r="0" b="0"/>
            <a:pathLst>
              <a:path w="114300" h="95250">
                <a:moveTo>
                  <a:pt x="0" y="95250"/>
                </a:moveTo>
                <a:lnTo>
                  <a:pt x="0" y="28575"/>
                </a:lnTo>
                <a:lnTo>
                  <a:pt x="28575" y="0"/>
                </a:lnTo>
                <a:lnTo>
                  <a:pt x="85725" y="0"/>
                </a:lnTo>
                <a:lnTo>
                  <a:pt x="114300" y="28575"/>
                </a:lnTo>
                <a:lnTo>
                  <a:pt x="114300" y="95250"/>
                </a:lnTo>
              </a:path>
            </a:pathLst>
          </a:custGeom>
          <a:noFill/>
          <a:ln w="19050">
            <a:solidFill>
              <a:srgbClr val="122C50"/>
            </a:solidFill>
            <a:prstDash val="solid"/>
          </a:ln>
        </p:spPr>
        <p:txBody>
          <a:bodyPr/>
          <a:p/>
        </p:txBody>
      </p:sp>
      <p:sp>
        <p:nvSpPr>
          <p:cNvPr id="88" name="element-86">
            <a:extLst>
              <a:ext uri="{FF2B5EF4-FFF2-40B4-BE49-F238E27FC236}">
                <a16:creationId xmlns:a16="http://schemas.microsoft.com/office/drawing/2014/main" id="{B7CB9D20-A121-456A-A8A5-2513E4C834F1}"/>
              </a:ext>
            </a:extLst>
          </p:cNvPr>
          <p:cNvSpPr>
            <a:spLocks noGrp="1"/>
          </p:cNvSpPr>
          <p:nvPr/>
        </p:nvSpPr>
        <p:spPr>
          <a:xfrm>
            <a:off x="8353425" y="809625"/>
            <a:ext cx="190500" cy="142875"/>
          </a:xfrm>
          <a:prstGeom prst="roundRect">
            <a:avLst>
              <a:gd name="adj" fmla="val 20000"/>
            </a:avLst>
          </a:prstGeom>
          <a:solidFill>
            <a:srgbClr val="122C50"/>
          </a:solidFill>
          <a:ln w="14288">
            <a:solidFill>
              <a:srgbClr val="122C50"/>
            </a:solidFill>
          </a:ln>
        </p:spPr>
        <p:txBody>
          <a:bodyPr/>
          <a:p/>
        </p:txBody>
      </p:sp>
      <p:sp>
        <p:nvSpPr>
          <p:cNvPr id="89" name="node-87">
            <a:extLst>
              <a:ext uri="{FF2B5EF4-FFF2-40B4-BE49-F238E27FC236}">
                <a16:creationId xmlns:a16="http://schemas.microsoft.com/office/drawing/2014/main" id="{24A6B014-4E9B-4EB5-98E2-B1ED9CB40AB2}"/>
              </a:ext>
            </a:extLst>
          </p:cNvPr>
          <p:cNvSpPr>
            <a:spLocks noGrp="1"/>
          </p:cNvSpPr>
          <p:nvPr/>
        </p:nvSpPr>
        <p:spPr>
          <a:xfrm>
            <a:off x="8429625" y="847725"/>
            <a:ext cx="38100" cy="38100"/>
          </a:xfrm>
          <a:prstGeom prst="ellipse">
            <a:avLst/>
          </a:prstGeom>
          <a:solidFill>
            <a:srgbClr val="FFFFFF"/>
          </a:solidFill>
          <a:ln w="16193">
            <a:solidFill>
              <a:srgbClr val="FFFFFF"/>
            </a:solidFill>
          </a:ln>
        </p:spPr>
        <p:txBody>
          <a:bodyPr/>
          <a:p/>
        </p:txBody>
      </p:sp>
      <p:sp>
        <p:nvSpPr>
          <p:cNvPr id="90" name="element-88">
            <a:extLst>
              <a:ext uri="{FF2B5EF4-FFF2-40B4-BE49-F238E27FC236}">
                <a16:creationId xmlns:a16="http://schemas.microsoft.com/office/drawing/2014/main" id="{B364D3BD-2AE6-42C6-BBAD-483EC3C92D4A}"/>
              </a:ext>
            </a:extLst>
          </p:cNvPr>
          <p:cNvSpPr>
            <a:spLocks noGrp="1"/>
          </p:cNvSpPr>
          <p:nvPr/>
        </p:nvSpPr>
        <p:spPr>
          <a:xfrm>
            <a:off x="7105650" y="1504950"/>
            <a:ext cx="1847850" cy="295275"/>
          </a:xfrm>
          <a:prstGeom prst="rect">
            <a:avLst/>
          </a:prstGeom>
          <a:noFill/>
          <a:ln w="0">
            <a:noFill/>
          </a:ln>
        </p:spPr>
        <p:txBody>
          <a:bodyPr lIns="0" tIns="0" rIns="0" bIns="0" anchor="ctr">
            <a:noAutofit/>
          </a:bodyPr>
          <a:lstStyle/>
          <a:p>
            <a:pPr algn="ctr">
              <a:defRPr sz="1575" b="1">
                <a:solidFill>
                  <a:srgbClr val="122C50"/>
                </a:solidFill>
                <a:latin typeface="Arial"/>
                <a:ea typeface="Arial"/>
                <a:cs typeface="Arial"/>
              </a:defRPr>
            </a:pPr>
            <a:r>
              <a:rPr sz="1575" b="1">
                <a:solidFill>
                  <a:srgbClr val="122C50"/>
                </a:solidFill>
                <a:latin typeface="Arial"/>
                <a:ea typeface="Arial"/>
                <a:cs typeface="Arial"/>
              </a:rPr>
              <a:t>Factuality</a:t>
            </a:r>
          </a:p>
        </p:txBody>
      </p:sp>
      <p:sp>
        <p:nvSpPr>
          <p:cNvPr id="91" name="element-89">
            <a:extLst>
              <a:ext uri="{FF2B5EF4-FFF2-40B4-BE49-F238E27FC236}">
                <a16:creationId xmlns:a16="http://schemas.microsoft.com/office/drawing/2014/main" id="{9DB81C40-57E8-40B1-AE96-214485E15E17}"/>
              </a:ext>
            </a:extLst>
          </p:cNvPr>
          <p:cNvSpPr>
            <a:spLocks noGrp="1"/>
          </p:cNvSpPr>
          <p:nvPr/>
        </p:nvSpPr>
        <p:spPr>
          <a:xfrm>
            <a:off x="7229475" y="1847850"/>
            <a:ext cx="1600200" cy="1114425"/>
          </a:xfrm>
          <a:prstGeom prst="roundRect">
            <a:avLst>
              <a:gd name="adj" fmla="val 7692"/>
            </a:avLst>
          </a:prstGeom>
          <a:solidFill>
            <a:srgbClr val="FFF5EB"/>
          </a:solidFill>
          <a:ln w="9525">
            <a:solidFill>
              <a:srgbClr val="CD7939"/>
            </a:solidFill>
            <a:prstDash val="dash"/>
          </a:ln>
        </p:spPr>
        <p:txBody>
          <a:bodyPr/>
          <a:p/>
        </p:txBody>
      </p:sp>
      <p:sp>
        <p:nvSpPr>
          <p:cNvPr id="92" name="node-90">
            <a:extLst>
              <a:ext uri="{FF2B5EF4-FFF2-40B4-BE49-F238E27FC236}">
                <a16:creationId xmlns:a16="http://schemas.microsoft.com/office/drawing/2014/main" id="{1517C29C-8DA6-4432-9AFC-23E33BDD12C7}"/>
              </a:ext>
            </a:extLst>
          </p:cNvPr>
          <p:cNvSpPr>
            <a:spLocks noGrp="1"/>
          </p:cNvSpPr>
          <p:nvPr/>
        </p:nvSpPr>
        <p:spPr>
          <a:xfrm>
            <a:off x="7924800" y="1924050"/>
            <a:ext cx="209550" cy="209550"/>
          </a:xfrm>
          <a:prstGeom prst="ellipse">
            <a:avLst/>
          </a:prstGeom>
          <a:solidFill>
            <a:srgbClr val="FFFFFF"/>
          </a:solidFill>
          <a:ln w="16193">
            <a:solidFill>
              <a:srgbClr val="CD7939"/>
            </a:solidFill>
          </a:ln>
        </p:spPr>
        <p:txBody>
          <a:bodyPr/>
          <a:p/>
        </p:txBody>
      </p:sp>
      <p:sp>
        <p:nvSpPr>
          <p:cNvPr id="93" name="line-91">
            <a:extLst>
              <a:ext uri="{FF2B5EF4-FFF2-40B4-BE49-F238E27FC236}">
                <a16:creationId xmlns:a16="http://schemas.microsoft.com/office/drawing/2014/main" id="{03F1149C-7348-48C0-96B4-CE9EC1016A1D}"/>
              </a:ext>
            </a:extLst>
          </p:cNvPr>
          <p:cNvSpPr>
            <a:spLocks noGrp="1"/>
          </p:cNvSpPr>
          <p:nvPr/>
        </p:nvSpPr>
        <p:spPr>
          <a:xfrm>
            <a:off x="7658100" y="2133600"/>
            <a:ext cx="371475" cy="495300"/>
          </a:xfrm>
          <a:custGeom>
            <a:avLst/>
            <a:gdLst/>
            <a:ahLst/>
            <a:cxnLst/>
            <a:rect l="0" t="0" r="0" b="0"/>
            <a:pathLst>
              <a:path w="371475" h="495300">
                <a:moveTo>
                  <a:pt x="371475" y="0"/>
                </a:moveTo>
                <a:lnTo>
                  <a:pt x="0" y="495300"/>
                </a:lnTo>
              </a:path>
            </a:pathLst>
          </a:custGeom>
          <a:noFill/>
          <a:ln w="16193">
            <a:solidFill>
              <a:srgbClr val="CD7939"/>
            </a:solidFill>
            <a:prstDash val="solid"/>
          </a:ln>
        </p:spPr>
        <p:txBody>
          <a:bodyPr/>
          <a:p/>
        </p:txBody>
      </p:sp>
      <p:sp>
        <p:nvSpPr>
          <p:cNvPr id="94" name="node-92">
            <a:extLst>
              <a:ext uri="{FF2B5EF4-FFF2-40B4-BE49-F238E27FC236}">
                <a16:creationId xmlns:a16="http://schemas.microsoft.com/office/drawing/2014/main" id="{0EFB4B83-CA89-491D-91B9-5E5AD672802C}"/>
              </a:ext>
            </a:extLst>
          </p:cNvPr>
          <p:cNvSpPr>
            <a:spLocks noGrp="1"/>
          </p:cNvSpPr>
          <p:nvPr/>
        </p:nvSpPr>
        <p:spPr>
          <a:xfrm>
            <a:off x="7572375" y="2628900"/>
            <a:ext cx="171450" cy="171450"/>
          </a:xfrm>
          <a:prstGeom prst="ellipse">
            <a:avLst/>
          </a:prstGeom>
          <a:solidFill>
            <a:srgbClr val="FFFFFF"/>
          </a:solidFill>
          <a:ln w="16193">
            <a:solidFill>
              <a:srgbClr val="CD7939"/>
            </a:solidFill>
          </a:ln>
        </p:spPr>
        <p:txBody>
          <a:bodyPr/>
          <a:p/>
        </p:txBody>
      </p:sp>
      <p:sp>
        <p:nvSpPr>
          <p:cNvPr id="95" name="line-93">
            <a:extLst>
              <a:ext uri="{FF2B5EF4-FFF2-40B4-BE49-F238E27FC236}">
                <a16:creationId xmlns:a16="http://schemas.microsoft.com/office/drawing/2014/main" id="{C064A5CB-9FA0-4911-BCEA-FE25D43BE9DA}"/>
              </a:ext>
            </a:extLst>
          </p:cNvPr>
          <p:cNvSpPr>
            <a:spLocks noGrp="1"/>
          </p:cNvSpPr>
          <p:nvPr/>
        </p:nvSpPr>
        <p:spPr>
          <a:xfrm>
            <a:off x="8029575" y="2133600"/>
            <a:ext cx="9525" cy="495300"/>
          </a:xfrm>
          <a:custGeom>
            <a:avLst/>
            <a:gdLst/>
            <a:ahLst/>
            <a:cxnLst/>
            <a:rect l="0" t="0" r="0" b="0"/>
            <a:pathLst>
              <a:path w="9525" h="495300">
                <a:moveTo>
                  <a:pt x="0" y="0"/>
                </a:moveTo>
                <a:lnTo>
                  <a:pt x="0" y="495300"/>
                </a:lnTo>
              </a:path>
            </a:pathLst>
          </a:custGeom>
          <a:noFill/>
          <a:ln w="16193">
            <a:solidFill>
              <a:srgbClr val="CD7939"/>
            </a:solidFill>
            <a:prstDash val="solid"/>
          </a:ln>
        </p:spPr>
        <p:txBody>
          <a:bodyPr/>
          <a:p/>
        </p:txBody>
      </p:sp>
      <p:sp>
        <p:nvSpPr>
          <p:cNvPr id="96" name="node-94">
            <a:extLst>
              <a:ext uri="{FF2B5EF4-FFF2-40B4-BE49-F238E27FC236}">
                <a16:creationId xmlns:a16="http://schemas.microsoft.com/office/drawing/2014/main" id="{FAAAAF83-6C00-44D3-B89A-F95B33B01376}"/>
              </a:ext>
            </a:extLst>
          </p:cNvPr>
          <p:cNvSpPr>
            <a:spLocks noGrp="1"/>
          </p:cNvSpPr>
          <p:nvPr/>
        </p:nvSpPr>
        <p:spPr>
          <a:xfrm>
            <a:off x="7943850" y="2628900"/>
            <a:ext cx="171450" cy="171450"/>
          </a:xfrm>
          <a:prstGeom prst="ellipse">
            <a:avLst/>
          </a:prstGeom>
          <a:solidFill>
            <a:srgbClr val="FFFFFF"/>
          </a:solidFill>
          <a:ln w="16193">
            <a:solidFill>
              <a:srgbClr val="CD7939"/>
            </a:solidFill>
          </a:ln>
        </p:spPr>
        <p:txBody>
          <a:bodyPr/>
          <a:p/>
        </p:txBody>
      </p:sp>
      <p:sp>
        <p:nvSpPr>
          <p:cNvPr id="97" name="line-95">
            <a:extLst>
              <a:ext uri="{FF2B5EF4-FFF2-40B4-BE49-F238E27FC236}">
                <a16:creationId xmlns:a16="http://schemas.microsoft.com/office/drawing/2014/main" id="{6A501940-1F89-4074-86B1-E1836161CBAB}"/>
              </a:ext>
            </a:extLst>
          </p:cNvPr>
          <p:cNvSpPr>
            <a:spLocks noGrp="1"/>
          </p:cNvSpPr>
          <p:nvPr/>
        </p:nvSpPr>
        <p:spPr>
          <a:xfrm>
            <a:off x="8029575" y="2133600"/>
            <a:ext cx="371475" cy="495300"/>
          </a:xfrm>
          <a:custGeom>
            <a:avLst/>
            <a:gdLst/>
            <a:ahLst/>
            <a:cxnLst/>
            <a:rect l="0" t="0" r="0" b="0"/>
            <a:pathLst>
              <a:path w="371475" h="495300">
                <a:moveTo>
                  <a:pt x="0" y="0"/>
                </a:moveTo>
                <a:lnTo>
                  <a:pt x="371475" y="495300"/>
                </a:lnTo>
              </a:path>
            </a:pathLst>
          </a:custGeom>
          <a:noFill/>
          <a:ln w="16193">
            <a:solidFill>
              <a:srgbClr val="CD7939"/>
            </a:solidFill>
            <a:prstDash val="solid"/>
          </a:ln>
        </p:spPr>
        <p:txBody>
          <a:bodyPr/>
          <a:p/>
        </p:txBody>
      </p:sp>
      <p:sp>
        <p:nvSpPr>
          <p:cNvPr id="98" name="node-96">
            <a:extLst>
              <a:ext uri="{FF2B5EF4-FFF2-40B4-BE49-F238E27FC236}">
                <a16:creationId xmlns:a16="http://schemas.microsoft.com/office/drawing/2014/main" id="{E2CBDD03-E6C8-484C-8B60-98D7867EE634}"/>
              </a:ext>
            </a:extLst>
          </p:cNvPr>
          <p:cNvSpPr>
            <a:spLocks noGrp="1"/>
          </p:cNvSpPr>
          <p:nvPr/>
        </p:nvSpPr>
        <p:spPr>
          <a:xfrm>
            <a:off x="8315325" y="2628900"/>
            <a:ext cx="171450" cy="171450"/>
          </a:xfrm>
          <a:prstGeom prst="ellipse">
            <a:avLst/>
          </a:prstGeom>
          <a:solidFill>
            <a:srgbClr val="FFFFFF"/>
          </a:solidFill>
          <a:ln w="16193">
            <a:solidFill>
              <a:srgbClr val="CD7939"/>
            </a:solidFill>
          </a:ln>
        </p:spPr>
        <p:txBody>
          <a:bodyPr/>
          <a:p/>
        </p:txBody>
      </p:sp>
      <p:sp>
        <p:nvSpPr>
          <p:cNvPr id="99" name="element-97">
            <a:extLst>
              <a:ext uri="{FF2B5EF4-FFF2-40B4-BE49-F238E27FC236}">
                <a16:creationId xmlns:a16="http://schemas.microsoft.com/office/drawing/2014/main" id="{2E8EF7EC-3668-4ACB-B37E-DD2A43AC7D47}"/>
              </a:ext>
            </a:extLst>
          </p:cNvPr>
          <p:cNvSpPr>
            <a:spLocks noGrp="1"/>
          </p:cNvSpPr>
          <p:nvPr/>
        </p:nvSpPr>
        <p:spPr>
          <a:xfrm>
            <a:off x="7229475" y="4057650"/>
            <a:ext cx="1600200" cy="771525"/>
          </a:xfrm>
          <a:prstGeom prst="roundRect">
            <a:avLst>
              <a:gd name="adj" fmla="val 7407"/>
            </a:avLst>
          </a:prstGeom>
          <a:solidFill>
            <a:srgbClr val="FFF5EB"/>
          </a:solidFill>
          <a:ln w="14288">
            <a:solidFill>
              <a:srgbClr val="CD7939"/>
            </a:solidFill>
          </a:ln>
        </p:spPr>
        <p:txBody>
          <a:bodyPr/>
          <a:p/>
        </p:txBody>
      </p:sp>
      <p:sp>
        <p:nvSpPr>
          <p:cNvPr id="100" name="element-98">
            <a:extLst>
              <a:ext uri="{FF2B5EF4-FFF2-40B4-BE49-F238E27FC236}">
                <a16:creationId xmlns:a16="http://schemas.microsoft.com/office/drawing/2014/main" id="{B91CA681-5E75-42F8-A1BB-797083E45EAF}"/>
              </a:ext>
            </a:extLst>
          </p:cNvPr>
          <p:cNvSpPr>
            <a:spLocks noGrp="1"/>
          </p:cNvSpPr>
          <p:nvPr/>
        </p:nvSpPr>
        <p:spPr>
          <a:xfrm>
            <a:off x="7381875" y="4219575"/>
            <a:ext cx="190500" cy="266700"/>
          </a:xfrm>
          <a:prstGeom prst="roundRect">
            <a:avLst>
              <a:gd name="adj" fmla="val 15000"/>
            </a:avLst>
          </a:prstGeom>
          <a:solidFill>
            <a:srgbClr val="FFFFFF"/>
          </a:solidFill>
          <a:ln w="14288">
            <a:solidFill>
              <a:srgbClr val="CD7939"/>
            </a:solidFill>
          </a:ln>
        </p:spPr>
        <p:txBody>
          <a:bodyPr/>
          <a:p/>
        </p:txBody>
      </p:sp>
      <p:sp>
        <p:nvSpPr>
          <p:cNvPr id="101" name="line-99">
            <a:extLst>
              <a:ext uri="{FF2B5EF4-FFF2-40B4-BE49-F238E27FC236}">
                <a16:creationId xmlns:a16="http://schemas.microsoft.com/office/drawing/2014/main" id="{DEBC2075-DC47-4C8B-8C18-D0545E8D877B}"/>
              </a:ext>
            </a:extLst>
          </p:cNvPr>
          <p:cNvSpPr>
            <a:spLocks noGrp="1"/>
          </p:cNvSpPr>
          <p:nvPr/>
        </p:nvSpPr>
        <p:spPr>
          <a:xfrm>
            <a:off x="7419975" y="4299585"/>
            <a:ext cx="114300" cy="9525"/>
          </a:xfrm>
          <a:custGeom>
            <a:avLst/>
            <a:gdLst/>
            <a:ahLst/>
            <a:cxnLst/>
            <a:rect l="0" t="0" r="0" b="0"/>
            <a:pathLst>
              <a:path w="114300" h="9525">
                <a:moveTo>
                  <a:pt x="0" y="0"/>
                </a:moveTo>
                <a:lnTo>
                  <a:pt x="114300" y="0"/>
                </a:lnTo>
              </a:path>
            </a:pathLst>
          </a:custGeom>
          <a:noFill/>
          <a:ln w="12383">
            <a:solidFill>
              <a:srgbClr val="CD7939"/>
            </a:solidFill>
            <a:prstDash val="solid"/>
          </a:ln>
        </p:spPr>
        <p:txBody>
          <a:bodyPr/>
          <a:p/>
        </p:txBody>
      </p:sp>
      <p:sp>
        <p:nvSpPr>
          <p:cNvPr id="102" name="line-100">
            <a:extLst>
              <a:ext uri="{FF2B5EF4-FFF2-40B4-BE49-F238E27FC236}">
                <a16:creationId xmlns:a16="http://schemas.microsoft.com/office/drawing/2014/main" id="{50DBBB89-ED82-48BA-9F52-44360C783FB0}"/>
              </a:ext>
            </a:extLst>
          </p:cNvPr>
          <p:cNvSpPr>
            <a:spLocks noGrp="1"/>
          </p:cNvSpPr>
          <p:nvPr/>
        </p:nvSpPr>
        <p:spPr>
          <a:xfrm>
            <a:off x="7419975" y="4347591"/>
            <a:ext cx="114300" cy="9525"/>
          </a:xfrm>
          <a:custGeom>
            <a:avLst/>
            <a:gdLst/>
            <a:ahLst/>
            <a:cxnLst/>
            <a:rect l="0" t="0" r="0" b="0"/>
            <a:pathLst>
              <a:path w="114300" h="9525">
                <a:moveTo>
                  <a:pt x="0" y="0"/>
                </a:moveTo>
                <a:lnTo>
                  <a:pt x="114300" y="0"/>
                </a:lnTo>
              </a:path>
            </a:pathLst>
          </a:custGeom>
          <a:noFill/>
          <a:ln w="12383">
            <a:solidFill>
              <a:srgbClr val="CD7939"/>
            </a:solidFill>
            <a:prstDash val="solid"/>
          </a:ln>
        </p:spPr>
        <p:txBody>
          <a:bodyPr/>
          <a:p/>
        </p:txBody>
      </p:sp>
      <p:sp>
        <p:nvSpPr>
          <p:cNvPr id="103" name="line-101">
            <a:extLst>
              <a:ext uri="{FF2B5EF4-FFF2-40B4-BE49-F238E27FC236}">
                <a16:creationId xmlns:a16="http://schemas.microsoft.com/office/drawing/2014/main" id="{79BE7751-64A9-4CA0-A591-81990CA7037E}"/>
              </a:ext>
            </a:extLst>
          </p:cNvPr>
          <p:cNvSpPr>
            <a:spLocks noGrp="1"/>
          </p:cNvSpPr>
          <p:nvPr/>
        </p:nvSpPr>
        <p:spPr>
          <a:xfrm>
            <a:off x="7419975" y="4395597"/>
            <a:ext cx="85725" cy="9525"/>
          </a:xfrm>
          <a:custGeom>
            <a:avLst/>
            <a:gdLst/>
            <a:ahLst/>
            <a:cxnLst/>
            <a:rect l="0" t="0" r="0" b="0"/>
            <a:pathLst>
              <a:path w="85725" h="9525">
                <a:moveTo>
                  <a:pt x="0" y="0"/>
                </a:moveTo>
                <a:lnTo>
                  <a:pt x="85725" y="0"/>
                </a:lnTo>
              </a:path>
            </a:pathLst>
          </a:custGeom>
          <a:noFill/>
          <a:ln w="12383">
            <a:solidFill>
              <a:srgbClr val="CD7939"/>
            </a:solidFill>
            <a:prstDash val="solid"/>
          </a:ln>
        </p:spPr>
        <p:txBody>
          <a:bodyPr/>
          <a:p/>
        </p:txBody>
      </p:sp>
      <p:sp>
        <p:nvSpPr>
          <p:cNvPr id="104" name="element-102">
            <a:extLst>
              <a:ext uri="{FF2B5EF4-FFF2-40B4-BE49-F238E27FC236}">
                <a16:creationId xmlns:a16="http://schemas.microsoft.com/office/drawing/2014/main" id="{912D191A-00D5-4E4A-A331-D76D7F1DDF6D}"/>
              </a:ext>
            </a:extLst>
          </p:cNvPr>
          <p:cNvSpPr>
            <a:spLocks noGrp="1"/>
          </p:cNvSpPr>
          <p:nvPr/>
        </p:nvSpPr>
        <p:spPr>
          <a:xfrm>
            <a:off x="7686675" y="4171950"/>
            <a:ext cx="1095375" cy="228600"/>
          </a:xfrm>
          <a:prstGeom prst="rect">
            <a:avLst/>
          </a:prstGeom>
          <a:noFill/>
          <a:ln w="0">
            <a:noFill/>
          </a:ln>
        </p:spPr>
        <p:txBody>
          <a:bodyPr lIns="0" tIns="0" rIns="0" bIns="0" anchor="ctr">
            <a:noAutofit/>
          </a:bodyPr>
          <a:lstStyle/>
          <a:p>
            <a:pPr algn="l">
              <a:defRPr sz="1425" b="0">
                <a:solidFill>
                  <a:srgbClr val="122C50"/>
                </a:solidFill>
                <a:latin typeface="Arial"/>
                <a:ea typeface="Arial"/>
                <a:cs typeface="Arial"/>
              </a:defRPr>
            </a:pPr>
            <a:r>
              <a:rPr sz="1425" b="0">
                <a:solidFill>
                  <a:srgbClr val="122C50"/>
                </a:solidFill>
                <a:latin typeface="Arial"/>
                <a:ea typeface="Arial"/>
                <a:cs typeface="Arial"/>
              </a:rPr>
              <a:t>Reason</a:t>
            </a:r>
          </a:p>
        </p:txBody>
      </p:sp>
      <p:sp>
        <p:nvSpPr>
          <p:cNvPr id="105" name="element-103">
            <a:extLst>
              <a:ext uri="{FF2B5EF4-FFF2-40B4-BE49-F238E27FC236}">
                <a16:creationId xmlns:a16="http://schemas.microsoft.com/office/drawing/2014/main" id="{09107401-8BFF-4BEC-9F6C-4DFCB134AF5B}"/>
              </a:ext>
            </a:extLst>
          </p:cNvPr>
          <p:cNvSpPr>
            <a:spLocks noGrp="1"/>
          </p:cNvSpPr>
          <p:nvPr/>
        </p:nvSpPr>
        <p:spPr>
          <a:xfrm>
            <a:off x="7410450" y="4495800"/>
            <a:ext cx="1381125" cy="238125"/>
          </a:xfrm>
          <a:prstGeom prst="rect">
            <a:avLst/>
          </a:prstGeom>
          <a:noFill/>
          <a:ln w="0">
            <a:noFill/>
          </a:ln>
        </p:spPr>
        <p:txBody>
          <a:bodyPr lIns="0" tIns="0" rIns="0" bIns="0" anchor="ctr">
            <a:noAutofit/>
          </a:bodyPr>
          <a:lstStyle/>
          <a:p>
            <a:pPr algn="ctr">
              <a:defRPr sz="1500" b="1">
                <a:solidFill>
                  <a:srgbClr val="CD7939"/>
                </a:solidFill>
                <a:latin typeface="Arial"/>
                <a:ea typeface="Arial"/>
                <a:cs typeface="Arial"/>
              </a:defRPr>
            </a:pPr>
            <a:r>
              <a:rPr sz="1500" b="1">
                <a:solidFill>
                  <a:srgbClr val="CD7939"/>
                </a:solidFill>
                <a:latin typeface="Arial"/>
                <a:ea typeface="Arial"/>
                <a:cs typeface="Arial"/>
              </a:rPr>
              <a:t>A / B / None</a:t>
            </a:r>
          </a:p>
        </p:txBody>
      </p:sp>
      <p:sp>
        <p:nvSpPr>
          <p:cNvPr id="106" name="line-104">
            <a:extLst>
              <a:ext uri="{FF2B5EF4-FFF2-40B4-BE49-F238E27FC236}">
                <a16:creationId xmlns:a16="http://schemas.microsoft.com/office/drawing/2014/main" id="{434EB677-2745-40D1-9014-AAF5FE2333DA}"/>
              </a:ext>
            </a:extLst>
          </p:cNvPr>
          <p:cNvSpPr>
            <a:spLocks noGrp="1"/>
          </p:cNvSpPr>
          <p:nvPr/>
        </p:nvSpPr>
        <p:spPr>
          <a:xfrm>
            <a:off x="8029575" y="2962275"/>
            <a:ext cx="9525" cy="257175"/>
          </a:xfrm>
          <a:custGeom>
            <a:avLst/>
            <a:gdLst/>
            <a:ahLst/>
            <a:cxnLst/>
            <a:rect l="0" t="0" r="0" b="0"/>
            <a:pathLst>
              <a:path w="9525" h="257175">
                <a:moveTo>
                  <a:pt x="0" y="0"/>
                </a:moveTo>
                <a:lnTo>
                  <a:pt x="0" y="257175"/>
                </a:lnTo>
              </a:path>
            </a:pathLst>
          </a:custGeom>
          <a:noFill/>
          <a:ln w="19050">
            <a:solidFill>
              <a:srgbClr val="122C50"/>
            </a:solidFill>
            <a:prstDash val="solid"/>
          </a:ln>
        </p:spPr>
        <p:txBody>
          <a:bodyPr/>
          <a:p/>
        </p:txBody>
      </p:sp>
      <p:sp>
        <p:nvSpPr>
          <p:cNvPr id="107" name="arrow-105">
            <a:extLst>
              <a:ext uri="{FF2B5EF4-FFF2-40B4-BE49-F238E27FC236}">
                <a16:creationId xmlns:a16="http://schemas.microsoft.com/office/drawing/2014/main" id="{D46C26CB-42B1-45C3-AC73-797C0E5AAD6D}"/>
              </a:ext>
            </a:extLst>
          </p:cNvPr>
          <p:cNvSpPr>
            <a:spLocks noGrp="1"/>
          </p:cNvSpPr>
          <p:nvPr/>
        </p:nvSpPr>
        <p:spPr>
          <a:xfrm>
            <a:off x="7986713" y="31337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08" name="line-106">
            <a:extLst>
              <a:ext uri="{FF2B5EF4-FFF2-40B4-BE49-F238E27FC236}">
                <a16:creationId xmlns:a16="http://schemas.microsoft.com/office/drawing/2014/main" id="{6A34DA56-E84D-4C98-8B39-916500CBE09C}"/>
              </a:ext>
            </a:extLst>
          </p:cNvPr>
          <p:cNvSpPr>
            <a:spLocks noGrp="1"/>
          </p:cNvSpPr>
          <p:nvPr/>
        </p:nvSpPr>
        <p:spPr>
          <a:xfrm>
            <a:off x="8029575" y="3848100"/>
            <a:ext cx="9525" cy="209550"/>
          </a:xfrm>
          <a:custGeom>
            <a:avLst/>
            <a:gdLst/>
            <a:ahLst/>
            <a:cxnLst/>
            <a:rect l="0" t="0" r="0" b="0"/>
            <a:pathLst>
              <a:path w="9525" h="209550">
                <a:moveTo>
                  <a:pt x="0" y="0"/>
                </a:moveTo>
                <a:lnTo>
                  <a:pt x="0" y="209550"/>
                </a:lnTo>
              </a:path>
            </a:pathLst>
          </a:custGeom>
          <a:noFill/>
          <a:ln w="19050">
            <a:solidFill>
              <a:srgbClr val="122C50"/>
            </a:solidFill>
            <a:prstDash val="solid"/>
          </a:ln>
        </p:spPr>
        <p:txBody>
          <a:bodyPr/>
          <a:p/>
        </p:txBody>
      </p:sp>
      <p:sp>
        <p:nvSpPr>
          <p:cNvPr id="109" name="arrow-107">
            <a:extLst>
              <a:ext uri="{FF2B5EF4-FFF2-40B4-BE49-F238E27FC236}">
                <a16:creationId xmlns:a16="http://schemas.microsoft.com/office/drawing/2014/main" id="{6249F8CF-B46D-432F-B49A-13068F5459D4}"/>
              </a:ext>
            </a:extLst>
          </p:cNvPr>
          <p:cNvSpPr>
            <a:spLocks noGrp="1"/>
          </p:cNvSpPr>
          <p:nvPr/>
        </p:nvSpPr>
        <p:spPr>
          <a:xfrm>
            <a:off x="7986713" y="39719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10" name="line-108">
            <a:extLst>
              <a:ext uri="{FF2B5EF4-FFF2-40B4-BE49-F238E27FC236}">
                <a16:creationId xmlns:a16="http://schemas.microsoft.com/office/drawing/2014/main" id="{99009E00-3309-42D9-AE8E-E6D7A42A63E6}"/>
              </a:ext>
            </a:extLst>
          </p:cNvPr>
          <p:cNvSpPr>
            <a:spLocks noGrp="1"/>
          </p:cNvSpPr>
          <p:nvPr/>
        </p:nvSpPr>
        <p:spPr>
          <a:xfrm>
            <a:off x="8029575" y="4829175"/>
            <a:ext cx="9525" cy="342900"/>
          </a:xfrm>
          <a:custGeom>
            <a:avLst/>
            <a:gdLst/>
            <a:ahLst/>
            <a:cxnLst/>
            <a:rect l="0" t="0" r="0" b="0"/>
            <a:pathLst>
              <a:path w="9525" h="342900">
                <a:moveTo>
                  <a:pt x="0" y="0"/>
                </a:moveTo>
                <a:lnTo>
                  <a:pt x="0" y="342900"/>
                </a:lnTo>
              </a:path>
            </a:pathLst>
          </a:custGeom>
          <a:noFill/>
          <a:ln w="19050">
            <a:solidFill>
              <a:srgbClr val="122C50"/>
            </a:solidFill>
            <a:prstDash val="solid"/>
          </a:ln>
        </p:spPr>
        <p:txBody>
          <a:bodyPr/>
          <a:p/>
        </p:txBody>
      </p:sp>
      <p:sp>
        <p:nvSpPr>
          <p:cNvPr id="111" name="arrow-109">
            <a:extLst>
              <a:ext uri="{FF2B5EF4-FFF2-40B4-BE49-F238E27FC236}">
                <a16:creationId xmlns:a16="http://schemas.microsoft.com/office/drawing/2014/main" id="{EF36E9AB-BC84-493D-9918-8782A980DDD3}"/>
              </a:ext>
            </a:extLst>
          </p:cNvPr>
          <p:cNvSpPr>
            <a:spLocks noGrp="1"/>
          </p:cNvSpPr>
          <p:nvPr/>
        </p:nvSpPr>
        <p:spPr>
          <a:xfrm>
            <a:off x="7986713" y="5086350"/>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12" name="node-110">
            <a:extLst>
              <a:ext uri="{FF2B5EF4-FFF2-40B4-BE49-F238E27FC236}">
                <a16:creationId xmlns:a16="http://schemas.microsoft.com/office/drawing/2014/main" id="{9D917AF8-A24B-467D-8B30-1F599629799C}"/>
              </a:ext>
            </a:extLst>
          </p:cNvPr>
          <p:cNvSpPr>
            <a:spLocks noGrp="1"/>
          </p:cNvSpPr>
          <p:nvPr/>
        </p:nvSpPr>
        <p:spPr>
          <a:xfrm>
            <a:off x="9591675" y="733425"/>
            <a:ext cx="704850" cy="704850"/>
          </a:xfrm>
          <a:prstGeom prst="ellipse">
            <a:avLst/>
          </a:prstGeom>
          <a:solidFill>
            <a:srgbClr val="F5EFFB"/>
          </a:solidFill>
          <a:ln w="16193">
            <a:solidFill>
              <a:srgbClr val="F5EFFB"/>
            </a:solidFill>
          </a:ln>
        </p:spPr>
        <p:txBody>
          <a:bodyPr/>
          <a:p/>
        </p:txBody>
      </p:sp>
      <p:sp>
        <p:nvSpPr>
          <p:cNvPr id="113" name="node-111">
            <a:extLst>
              <a:ext uri="{FF2B5EF4-FFF2-40B4-BE49-F238E27FC236}">
                <a16:creationId xmlns:a16="http://schemas.microsoft.com/office/drawing/2014/main" id="{9FDFDE4A-E268-421A-85FF-DAC38038E952}"/>
              </a:ext>
            </a:extLst>
          </p:cNvPr>
          <p:cNvSpPr>
            <a:spLocks noGrp="1"/>
          </p:cNvSpPr>
          <p:nvPr/>
        </p:nvSpPr>
        <p:spPr>
          <a:xfrm>
            <a:off x="9801225" y="847725"/>
            <a:ext cx="304800" cy="304800"/>
          </a:xfrm>
          <a:prstGeom prst="ellipse">
            <a:avLst/>
          </a:prstGeom>
          <a:noFill/>
          <a:ln w="16193">
            <a:solidFill>
              <a:srgbClr val="8662B5"/>
            </a:solidFill>
          </a:ln>
        </p:spPr>
        <p:txBody>
          <a:bodyPr/>
          <a:p/>
        </p:txBody>
      </p:sp>
      <p:sp>
        <p:nvSpPr>
          <p:cNvPr id="114" name="line-112">
            <a:extLst>
              <a:ext uri="{FF2B5EF4-FFF2-40B4-BE49-F238E27FC236}">
                <a16:creationId xmlns:a16="http://schemas.microsoft.com/office/drawing/2014/main" id="{04BB713E-1A83-48E7-9D74-A5B7B537560F}"/>
              </a:ext>
            </a:extLst>
          </p:cNvPr>
          <p:cNvSpPr>
            <a:spLocks noGrp="1"/>
          </p:cNvSpPr>
          <p:nvPr/>
        </p:nvSpPr>
        <p:spPr>
          <a:xfrm>
            <a:off x="9877425" y="1133475"/>
            <a:ext cx="161925" cy="104775"/>
          </a:xfrm>
          <a:custGeom>
            <a:avLst/>
            <a:gdLst/>
            <a:ahLst/>
            <a:cxnLst/>
            <a:rect l="0" t="0" r="0" b="0"/>
            <a:pathLst>
              <a:path w="161925" h="104775">
                <a:moveTo>
                  <a:pt x="0" y="0"/>
                </a:moveTo>
                <a:lnTo>
                  <a:pt x="0" y="104775"/>
                </a:lnTo>
                <a:lnTo>
                  <a:pt x="161925" y="104775"/>
                </a:lnTo>
                <a:lnTo>
                  <a:pt x="161925" y="0"/>
                </a:lnTo>
              </a:path>
            </a:pathLst>
          </a:custGeom>
          <a:noFill/>
          <a:ln w="23813">
            <a:solidFill>
              <a:srgbClr val="8662B5"/>
            </a:solidFill>
            <a:prstDash val="solid"/>
          </a:ln>
        </p:spPr>
        <p:txBody>
          <a:bodyPr/>
          <a:p/>
        </p:txBody>
      </p:sp>
      <p:sp>
        <p:nvSpPr>
          <p:cNvPr id="115" name="line-113">
            <a:extLst>
              <a:ext uri="{FF2B5EF4-FFF2-40B4-BE49-F238E27FC236}">
                <a16:creationId xmlns:a16="http://schemas.microsoft.com/office/drawing/2014/main" id="{8828B309-453F-4EA6-A35E-43CAD1F7B1F8}"/>
              </a:ext>
            </a:extLst>
          </p:cNvPr>
          <p:cNvSpPr>
            <a:spLocks noGrp="1"/>
          </p:cNvSpPr>
          <p:nvPr/>
        </p:nvSpPr>
        <p:spPr>
          <a:xfrm>
            <a:off x="9886950" y="1295400"/>
            <a:ext cx="133350" cy="9525"/>
          </a:xfrm>
          <a:custGeom>
            <a:avLst/>
            <a:gdLst/>
            <a:ahLst/>
            <a:cxnLst/>
            <a:rect l="0" t="0" r="0" b="0"/>
            <a:pathLst>
              <a:path w="133350" h="9525">
                <a:moveTo>
                  <a:pt x="0" y="0"/>
                </a:moveTo>
                <a:lnTo>
                  <a:pt x="133350" y="0"/>
                </a:lnTo>
              </a:path>
            </a:pathLst>
          </a:custGeom>
          <a:noFill/>
          <a:ln w="23813">
            <a:solidFill>
              <a:srgbClr val="8662B5"/>
            </a:solidFill>
            <a:prstDash val="solid"/>
          </a:ln>
        </p:spPr>
        <p:txBody>
          <a:bodyPr/>
          <a:p/>
        </p:txBody>
      </p:sp>
      <p:sp>
        <p:nvSpPr>
          <p:cNvPr id="116" name="line-114">
            <a:extLst>
              <a:ext uri="{FF2B5EF4-FFF2-40B4-BE49-F238E27FC236}">
                <a16:creationId xmlns:a16="http://schemas.microsoft.com/office/drawing/2014/main" id="{313C72FE-4ABB-4443-9F29-A6912DFDD92F}"/>
              </a:ext>
            </a:extLst>
          </p:cNvPr>
          <p:cNvSpPr>
            <a:spLocks noGrp="1"/>
          </p:cNvSpPr>
          <p:nvPr/>
        </p:nvSpPr>
        <p:spPr>
          <a:xfrm>
            <a:off x="9658350" y="895350"/>
            <a:ext cx="57150" cy="38100"/>
          </a:xfrm>
          <a:custGeom>
            <a:avLst/>
            <a:gdLst/>
            <a:ahLst/>
            <a:cxnLst/>
            <a:rect l="0" t="0" r="0" b="0"/>
            <a:pathLst>
              <a:path w="57150" h="38100">
                <a:moveTo>
                  <a:pt x="57150" y="38100"/>
                </a:moveTo>
                <a:lnTo>
                  <a:pt x="0" y="0"/>
                </a:lnTo>
              </a:path>
            </a:pathLst>
          </a:custGeom>
          <a:noFill/>
          <a:ln w="19050">
            <a:solidFill>
              <a:srgbClr val="8662B5"/>
            </a:solidFill>
            <a:prstDash val="solid"/>
          </a:ln>
        </p:spPr>
        <p:txBody>
          <a:bodyPr/>
          <a:p/>
        </p:txBody>
      </p:sp>
      <p:sp>
        <p:nvSpPr>
          <p:cNvPr id="117" name="line-115">
            <a:extLst>
              <a:ext uri="{FF2B5EF4-FFF2-40B4-BE49-F238E27FC236}">
                <a16:creationId xmlns:a16="http://schemas.microsoft.com/office/drawing/2014/main" id="{9686BCF8-47D1-4496-BEE6-8AF6A613B975}"/>
              </a:ext>
            </a:extLst>
          </p:cNvPr>
          <p:cNvSpPr>
            <a:spLocks noGrp="1"/>
          </p:cNvSpPr>
          <p:nvPr/>
        </p:nvSpPr>
        <p:spPr>
          <a:xfrm>
            <a:off x="10163175" y="895350"/>
            <a:ext cx="66675" cy="38100"/>
          </a:xfrm>
          <a:custGeom>
            <a:avLst/>
            <a:gdLst/>
            <a:ahLst/>
            <a:cxnLst/>
            <a:rect l="0" t="0" r="0" b="0"/>
            <a:pathLst>
              <a:path w="66675" h="38100">
                <a:moveTo>
                  <a:pt x="0" y="38100"/>
                </a:moveTo>
                <a:lnTo>
                  <a:pt x="66675" y="0"/>
                </a:lnTo>
              </a:path>
            </a:pathLst>
          </a:custGeom>
          <a:noFill/>
          <a:ln w="19050">
            <a:solidFill>
              <a:srgbClr val="8662B5"/>
            </a:solidFill>
            <a:prstDash val="solid"/>
          </a:ln>
        </p:spPr>
        <p:txBody>
          <a:bodyPr/>
          <a:p/>
        </p:txBody>
      </p:sp>
      <p:sp>
        <p:nvSpPr>
          <p:cNvPr id="118" name="line-116">
            <a:extLst>
              <a:ext uri="{FF2B5EF4-FFF2-40B4-BE49-F238E27FC236}">
                <a16:creationId xmlns:a16="http://schemas.microsoft.com/office/drawing/2014/main" id="{38478374-22B6-484D-A6AF-06B7A0F0DFA8}"/>
              </a:ext>
            </a:extLst>
          </p:cNvPr>
          <p:cNvSpPr>
            <a:spLocks noGrp="1"/>
          </p:cNvSpPr>
          <p:nvPr/>
        </p:nvSpPr>
        <p:spPr>
          <a:xfrm>
            <a:off x="10306050" y="723900"/>
            <a:ext cx="114300" cy="95250"/>
          </a:xfrm>
          <a:custGeom>
            <a:avLst/>
            <a:gdLst/>
            <a:ahLst/>
            <a:cxnLst/>
            <a:rect l="0" t="0" r="0" b="0"/>
            <a:pathLst>
              <a:path w="114300" h="95250">
                <a:moveTo>
                  <a:pt x="0" y="95250"/>
                </a:moveTo>
                <a:lnTo>
                  <a:pt x="0" y="28575"/>
                </a:lnTo>
                <a:lnTo>
                  <a:pt x="28575" y="0"/>
                </a:lnTo>
                <a:lnTo>
                  <a:pt x="85725" y="0"/>
                </a:lnTo>
                <a:lnTo>
                  <a:pt x="114300" y="28575"/>
                </a:lnTo>
                <a:lnTo>
                  <a:pt x="114300" y="95250"/>
                </a:lnTo>
              </a:path>
            </a:pathLst>
          </a:custGeom>
          <a:noFill/>
          <a:ln w="19050">
            <a:solidFill>
              <a:srgbClr val="122C50"/>
            </a:solidFill>
            <a:prstDash val="solid"/>
          </a:ln>
        </p:spPr>
        <p:txBody>
          <a:bodyPr/>
          <a:p/>
        </p:txBody>
      </p:sp>
      <p:sp>
        <p:nvSpPr>
          <p:cNvPr id="119" name="element-117">
            <a:extLst>
              <a:ext uri="{FF2B5EF4-FFF2-40B4-BE49-F238E27FC236}">
                <a16:creationId xmlns:a16="http://schemas.microsoft.com/office/drawing/2014/main" id="{14290B63-1FC7-4C17-A199-DF9D9CC00013}"/>
              </a:ext>
            </a:extLst>
          </p:cNvPr>
          <p:cNvSpPr>
            <a:spLocks noGrp="1"/>
          </p:cNvSpPr>
          <p:nvPr/>
        </p:nvSpPr>
        <p:spPr>
          <a:xfrm>
            <a:off x="10267950" y="809625"/>
            <a:ext cx="190500" cy="142875"/>
          </a:xfrm>
          <a:prstGeom prst="roundRect">
            <a:avLst>
              <a:gd name="adj" fmla="val 20000"/>
            </a:avLst>
          </a:prstGeom>
          <a:solidFill>
            <a:srgbClr val="122C50"/>
          </a:solidFill>
          <a:ln w="14288">
            <a:solidFill>
              <a:srgbClr val="122C50"/>
            </a:solidFill>
          </a:ln>
        </p:spPr>
        <p:txBody>
          <a:bodyPr/>
          <a:p/>
        </p:txBody>
      </p:sp>
      <p:sp>
        <p:nvSpPr>
          <p:cNvPr id="120" name="node-118">
            <a:extLst>
              <a:ext uri="{FF2B5EF4-FFF2-40B4-BE49-F238E27FC236}">
                <a16:creationId xmlns:a16="http://schemas.microsoft.com/office/drawing/2014/main" id="{5495B74D-C341-4C54-A646-6CA79138ABE3}"/>
              </a:ext>
            </a:extLst>
          </p:cNvPr>
          <p:cNvSpPr>
            <a:spLocks noGrp="1"/>
          </p:cNvSpPr>
          <p:nvPr/>
        </p:nvSpPr>
        <p:spPr>
          <a:xfrm>
            <a:off x="10344150" y="847725"/>
            <a:ext cx="38100" cy="38100"/>
          </a:xfrm>
          <a:prstGeom prst="ellipse">
            <a:avLst/>
          </a:prstGeom>
          <a:solidFill>
            <a:srgbClr val="FFFFFF"/>
          </a:solidFill>
          <a:ln w="16193">
            <a:solidFill>
              <a:srgbClr val="FFFFFF"/>
            </a:solidFill>
          </a:ln>
        </p:spPr>
        <p:txBody>
          <a:bodyPr/>
          <a:p/>
        </p:txBody>
      </p:sp>
      <p:sp>
        <p:nvSpPr>
          <p:cNvPr id="121" name="element-119">
            <a:extLst>
              <a:ext uri="{FF2B5EF4-FFF2-40B4-BE49-F238E27FC236}">
                <a16:creationId xmlns:a16="http://schemas.microsoft.com/office/drawing/2014/main" id="{9F180E06-BB74-41BB-9C33-B24317B2A121}"/>
              </a:ext>
            </a:extLst>
          </p:cNvPr>
          <p:cNvSpPr>
            <a:spLocks noGrp="1"/>
          </p:cNvSpPr>
          <p:nvPr/>
        </p:nvSpPr>
        <p:spPr>
          <a:xfrm>
            <a:off x="9020175" y="1504950"/>
            <a:ext cx="1847850" cy="295275"/>
          </a:xfrm>
          <a:prstGeom prst="rect">
            <a:avLst/>
          </a:prstGeom>
          <a:noFill/>
          <a:ln w="0">
            <a:noFill/>
          </a:ln>
        </p:spPr>
        <p:txBody>
          <a:bodyPr lIns="0" tIns="0" rIns="0" bIns="0" anchor="ctr">
            <a:noAutofit/>
          </a:bodyPr>
          <a:lstStyle/>
          <a:p>
            <a:pPr algn="ctr">
              <a:defRPr sz="1575" b="1">
                <a:solidFill>
                  <a:srgbClr val="122C50"/>
                </a:solidFill>
                <a:latin typeface="Arial"/>
                <a:ea typeface="Arial"/>
                <a:cs typeface="Arial"/>
              </a:defRPr>
            </a:pPr>
            <a:r>
              <a:rPr sz="1575" b="1">
                <a:solidFill>
                  <a:srgbClr val="122C50"/>
                </a:solidFill>
                <a:latin typeface="Arial"/>
                <a:ea typeface="Arial"/>
                <a:cs typeface="Arial"/>
              </a:rPr>
              <a:t>Creativity</a:t>
            </a:r>
          </a:p>
        </p:txBody>
      </p:sp>
      <p:sp>
        <p:nvSpPr>
          <p:cNvPr id="122" name="element-120">
            <a:extLst>
              <a:ext uri="{FF2B5EF4-FFF2-40B4-BE49-F238E27FC236}">
                <a16:creationId xmlns:a16="http://schemas.microsoft.com/office/drawing/2014/main" id="{56E7ECF8-836F-43B0-A5B3-A05C4F917C3E}"/>
              </a:ext>
            </a:extLst>
          </p:cNvPr>
          <p:cNvSpPr>
            <a:spLocks noGrp="1"/>
          </p:cNvSpPr>
          <p:nvPr/>
        </p:nvSpPr>
        <p:spPr>
          <a:xfrm>
            <a:off x="9144000" y="1847850"/>
            <a:ext cx="1600200" cy="1114425"/>
          </a:xfrm>
          <a:prstGeom prst="roundRect">
            <a:avLst>
              <a:gd name="adj" fmla="val 7692"/>
            </a:avLst>
          </a:prstGeom>
          <a:solidFill>
            <a:srgbClr val="F5EFFB"/>
          </a:solidFill>
          <a:ln w="9525">
            <a:solidFill>
              <a:srgbClr val="8662B5"/>
            </a:solidFill>
            <a:prstDash val="dash"/>
          </a:ln>
        </p:spPr>
        <p:txBody>
          <a:bodyPr/>
          <a:p/>
        </p:txBody>
      </p:sp>
      <p:sp>
        <p:nvSpPr>
          <p:cNvPr id="123" name="node-121">
            <a:extLst>
              <a:ext uri="{FF2B5EF4-FFF2-40B4-BE49-F238E27FC236}">
                <a16:creationId xmlns:a16="http://schemas.microsoft.com/office/drawing/2014/main" id="{8203CBD2-F541-45D6-A99F-8FF8F57F8583}"/>
              </a:ext>
            </a:extLst>
          </p:cNvPr>
          <p:cNvSpPr>
            <a:spLocks noGrp="1"/>
          </p:cNvSpPr>
          <p:nvPr/>
        </p:nvSpPr>
        <p:spPr>
          <a:xfrm>
            <a:off x="9839325" y="1924050"/>
            <a:ext cx="209550" cy="209550"/>
          </a:xfrm>
          <a:prstGeom prst="ellipse">
            <a:avLst/>
          </a:prstGeom>
          <a:solidFill>
            <a:srgbClr val="FFFFFF"/>
          </a:solidFill>
          <a:ln w="16193">
            <a:solidFill>
              <a:srgbClr val="8662B5"/>
            </a:solidFill>
          </a:ln>
        </p:spPr>
        <p:txBody>
          <a:bodyPr/>
          <a:p/>
        </p:txBody>
      </p:sp>
      <p:sp>
        <p:nvSpPr>
          <p:cNvPr id="124" name="line-122">
            <a:extLst>
              <a:ext uri="{FF2B5EF4-FFF2-40B4-BE49-F238E27FC236}">
                <a16:creationId xmlns:a16="http://schemas.microsoft.com/office/drawing/2014/main" id="{E324C75A-A2ED-44C4-A8AE-9B2026B59350}"/>
              </a:ext>
            </a:extLst>
          </p:cNvPr>
          <p:cNvSpPr>
            <a:spLocks noGrp="1"/>
          </p:cNvSpPr>
          <p:nvPr/>
        </p:nvSpPr>
        <p:spPr>
          <a:xfrm>
            <a:off x="9572625" y="2133600"/>
            <a:ext cx="371475" cy="495300"/>
          </a:xfrm>
          <a:custGeom>
            <a:avLst/>
            <a:gdLst/>
            <a:ahLst/>
            <a:cxnLst/>
            <a:rect l="0" t="0" r="0" b="0"/>
            <a:pathLst>
              <a:path w="371475" h="495300">
                <a:moveTo>
                  <a:pt x="371475" y="0"/>
                </a:moveTo>
                <a:lnTo>
                  <a:pt x="0" y="495300"/>
                </a:lnTo>
              </a:path>
            </a:pathLst>
          </a:custGeom>
          <a:noFill/>
          <a:ln w="16193">
            <a:solidFill>
              <a:srgbClr val="8662B5"/>
            </a:solidFill>
            <a:prstDash val="solid"/>
          </a:ln>
        </p:spPr>
        <p:txBody>
          <a:bodyPr/>
          <a:p/>
        </p:txBody>
      </p:sp>
      <p:sp>
        <p:nvSpPr>
          <p:cNvPr id="125" name="node-123">
            <a:extLst>
              <a:ext uri="{FF2B5EF4-FFF2-40B4-BE49-F238E27FC236}">
                <a16:creationId xmlns:a16="http://schemas.microsoft.com/office/drawing/2014/main" id="{F0E3E8BA-2630-45D1-8DAC-D0061089D48C}"/>
              </a:ext>
            </a:extLst>
          </p:cNvPr>
          <p:cNvSpPr>
            <a:spLocks noGrp="1"/>
          </p:cNvSpPr>
          <p:nvPr/>
        </p:nvSpPr>
        <p:spPr>
          <a:xfrm>
            <a:off x="9486900" y="2628900"/>
            <a:ext cx="171450" cy="171450"/>
          </a:xfrm>
          <a:prstGeom prst="ellipse">
            <a:avLst/>
          </a:prstGeom>
          <a:solidFill>
            <a:srgbClr val="FFFFFF"/>
          </a:solidFill>
          <a:ln w="16193">
            <a:solidFill>
              <a:srgbClr val="8662B5"/>
            </a:solidFill>
          </a:ln>
        </p:spPr>
        <p:txBody>
          <a:bodyPr/>
          <a:p/>
        </p:txBody>
      </p:sp>
      <p:sp>
        <p:nvSpPr>
          <p:cNvPr id="126" name="line-124">
            <a:extLst>
              <a:ext uri="{FF2B5EF4-FFF2-40B4-BE49-F238E27FC236}">
                <a16:creationId xmlns:a16="http://schemas.microsoft.com/office/drawing/2014/main" id="{7DFE5EC3-282C-4044-894E-21240B4D4173}"/>
              </a:ext>
            </a:extLst>
          </p:cNvPr>
          <p:cNvSpPr>
            <a:spLocks noGrp="1"/>
          </p:cNvSpPr>
          <p:nvPr/>
        </p:nvSpPr>
        <p:spPr>
          <a:xfrm>
            <a:off x="9944100" y="2133600"/>
            <a:ext cx="9525" cy="495300"/>
          </a:xfrm>
          <a:custGeom>
            <a:avLst/>
            <a:gdLst/>
            <a:ahLst/>
            <a:cxnLst/>
            <a:rect l="0" t="0" r="0" b="0"/>
            <a:pathLst>
              <a:path w="9525" h="495300">
                <a:moveTo>
                  <a:pt x="0" y="0"/>
                </a:moveTo>
                <a:lnTo>
                  <a:pt x="0" y="495300"/>
                </a:lnTo>
              </a:path>
            </a:pathLst>
          </a:custGeom>
          <a:noFill/>
          <a:ln w="16193">
            <a:solidFill>
              <a:srgbClr val="8662B5"/>
            </a:solidFill>
            <a:prstDash val="solid"/>
          </a:ln>
        </p:spPr>
        <p:txBody>
          <a:bodyPr/>
          <a:p/>
        </p:txBody>
      </p:sp>
      <p:sp>
        <p:nvSpPr>
          <p:cNvPr id="127" name="node-125">
            <a:extLst>
              <a:ext uri="{FF2B5EF4-FFF2-40B4-BE49-F238E27FC236}">
                <a16:creationId xmlns:a16="http://schemas.microsoft.com/office/drawing/2014/main" id="{9343AA2B-1719-454E-925C-E442AFC1332A}"/>
              </a:ext>
            </a:extLst>
          </p:cNvPr>
          <p:cNvSpPr>
            <a:spLocks noGrp="1"/>
          </p:cNvSpPr>
          <p:nvPr/>
        </p:nvSpPr>
        <p:spPr>
          <a:xfrm>
            <a:off x="9858375" y="2628900"/>
            <a:ext cx="171450" cy="171450"/>
          </a:xfrm>
          <a:prstGeom prst="ellipse">
            <a:avLst/>
          </a:prstGeom>
          <a:solidFill>
            <a:srgbClr val="FFFFFF"/>
          </a:solidFill>
          <a:ln w="16193">
            <a:solidFill>
              <a:srgbClr val="8662B5"/>
            </a:solidFill>
          </a:ln>
        </p:spPr>
        <p:txBody>
          <a:bodyPr/>
          <a:p/>
        </p:txBody>
      </p:sp>
      <p:sp>
        <p:nvSpPr>
          <p:cNvPr id="128" name="line-126">
            <a:extLst>
              <a:ext uri="{FF2B5EF4-FFF2-40B4-BE49-F238E27FC236}">
                <a16:creationId xmlns:a16="http://schemas.microsoft.com/office/drawing/2014/main" id="{2D61A9D1-3AC8-48A5-9B86-6BF464274ED1}"/>
              </a:ext>
            </a:extLst>
          </p:cNvPr>
          <p:cNvSpPr>
            <a:spLocks noGrp="1"/>
          </p:cNvSpPr>
          <p:nvPr/>
        </p:nvSpPr>
        <p:spPr>
          <a:xfrm>
            <a:off x="9944100" y="2133600"/>
            <a:ext cx="371475" cy="495300"/>
          </a:xfrm>
          <a:custGeom>
            <a:avLst/>
            <a:gdLst/>
            <a:ahLst/>
            <a:cxnLst/>
            <a:rect l="0" t="0" r="0" b="0"/>
            <a:pathLst>
              <a:path w="371475" h="495300">
                <a:moveTo>
                  <a:pt x="0" y="0"/>
                </a:moveTo>
                <a:lnTo>
                  <a:pt x="371475" y="495300"/>
                </a:lnTo>
              </a:path>
            </a:pathLst>
          </a:custGeom>
          <a:noFill/>
          <a:ln w="16193">
            <a:solidFill>
              <a:srgbClr val="8662B5"/>
            </a:solidFill>
            <a:prstDash val="solid"/>
          </a:ln>
        </p:spPr>
        <p:txBody>
          <a:bodyPr/>
          <a:p/>
        </p:txBody>
      </p:sp>
      <p:sp>
        <p:nvSpPr>
          <p:cNvPr id="129" name="node-127">
            <a:extLst>
              <a:ext uri="{FF2B5EF4-FFF2-40B4-BE49-F238E27FC236}">
                <a16:creationId xmlns:a16="http://schemas.microsoft.com/office/drawing/2014/main" id="{CD301374-FA5F-4C5E-9DC6-21D246D76FA0}"/>
              </a:ext>
            </a:extLst>
          </p:cNvPr>
          <p:cNvSpPr>
            <a:spLocks noGrp="1"/>
          </p:cNvSpPr>
          <p:nvPr/>
        </p:nvSpPr>
        <p:spPr>
          <a:xfrm>
            <a:off x="10229850" y="2628900"/>
            <a:ext cx="171450" cy="171450"/>
          </a:xfrm>
          <a:prstGeom prst="ellipse">
            <a:avLst/>
          </a:prstGeom>
          <a:solidFill>
            <a:srgbClr val="FFFFFF"/>
          </a:solidFill>
          <a:ln w="16193">
            <a:solidFill>
              <a:srgbClr val="8662B5"/>
            </a:solidFill>
          </a:ln>
        </p:spPr>
        <p:txBody>
          <a:bodyPr/>
          <a:p/>
        </p:txBody>
      </p:sp>
      <p:sp>
        <p:nvSpPr>
          <p:cNvPr id="130" name="element-128">
            <a:extLst>
              <a:ext uri="{FF2B5EF4-FFF2-40B4-BE49-F238E27FC236}">
                <a16:creationId xmlns:a16="http://schemas.microsoft.com/office/drawing/2014/main" id="{8248C563-7D9B-4F24-A061-34C520BE82A7}"/>
              </a:ext>
            </a:extLst>
          </p:cNvPr>
          <p:cNvSpPr>
            <a:spLocks noGrp="1"/>
          </p:cNvSpPr>
          <p:nvPr/>
        </p:nvSpPr>
        <p:spPr>
          <a:xfrm>
            <a:off x="9144000" y="4057650"/>
            <a:ext cx="1600200" cy="771525"/>
          </a:xfrm>
          <a:prstGeom prst="roundRect">
            <a:avLst>
              <a:gd name="adj" fmla="val 7407"/>
            </a:avLst>
          </a:prstGeom>
          <a:solidFill>
            <a:srgbClr val="F5EFFB"/>
          </a:solidFill>
          <a:ln w="14288">
            <a:solidFill>
              <a:srgbClr val="8662B5"/>
            </a:solidFill>
          </a:ln>
        </p:spPr>
        <p:txBody>
          <a:bodyPr/>
          <a:p/>
        </p:txBody>
      </p:sp>
      <p:sp>
        <p:nvSpPr>
          <p:cNvPr id="131" name="element-129">
            <a:extLst>
              <a:ext uri="{FF2B5EF4-FFF2-40B4-BE49-F238E27FC236}">
                <a16:creationId xmlns:a16="http://schemas.microsoft.com/office/drawing/2014/main" id="{DA49D800-E0E0-495B-A2DD-011CBEE8A499}"/>
              </a:ext>
            </a:extLst>
          </p:cNvPr>
          <p:cNvSpPr>
            <a:spLocks noGrp="1"/>
          </p:cNvSpPr>
          <p:nvPr/>
        </p:nvSpPr>
        <p:spPr>
          <a:xfrm>
            <a:off x="9296400" y="4219575"/>
            <a:ext cx="190500" cy="266700"/>
          </a:xfrm>
          <a:prstGeom prst="roundRect">
            <a:avLst>
              <a:gd name="adj" fmla="val 15000"/>
            </a:avLst>
          </a:prstGeom>
          <a:solidFill>
            <a:srgbClr val="FFFFFF"/>
          </a:solidFill>
          <a:ln w="14288">
            <a:solidFill>
              <a:srgbClr val="8662B5"/>
            </a:solidFill>
          </a:ln>
        </p:spPr>
        <p:txBody>
          <a:bodyPr/>
          <a:p/>
        </p:txBody>
      </p:sp>
      <p:sp>
        <p:nvSpPr>
          <p:cNvPr id="132" name="line-130">
            <a:extLst>
              <a:ext uri="{FF2B5EF4-FFF2-40B4-BE49-F238E27FC236}">
                <a16:creationId xmlns:a16="http://schemas.microsoft.com/office/drawing/2014/main" id="{6BB8CE78-EC6A-46B5-A960-AC6B5D9AD42A}"/>
              </a:ext>
            </a:extLst>
          </p:cNvPr>
          <p:cNvSpPr>
            <a:spLocks noGrp="1"/>
          </p:cNvSpPr>
          <p:nvPr/>
        </p:nvSpPr>
        <p:spPr>
          <a:xfrm>
            <a:off x="9334500" y="4299585"/>
            <a:ext cx="114300" cy="9525"/>
          </a:xfrm>
          <a:custGeom>
            <a:avLst/>
            <a:gdLst/>
            <a:ahLst/>
            <a:cxnLst/>
            <a:rect l="0" t="0" r="0" b="0"/>
            <a:pathLst>
              <a:path w="114300" h="9525">
                <a:moveTo>
                  <a:pt x="0" y="0"/>
                </a:moveTo>
                <a:lnTo>
                  <a:pt x="114300" y="0"/>
                </a:lnTo>
              </a:path>
            </a:pathLst>
          </a:custGeom>
          <a:noFill/>
          <a:ln w="12383">
            <a:solidFill>
              <a:srgbClr val="8662B5"/>
            </a:solidFill>
            <a:prstDash val="solid"/>
          </a:ln>
        </p:spPr>
        <p:txBody>
          <a:bodyPr/>
          <a:p/>
        </p:txBody>
      </p:sp>
      <p:sp>
        <p:nvSpPr>
          <p:cNvPr id="133" name="line-131">
            <a:extLst>
              <a:ext uri="{FF2B5EF4-FFF2-40B4-BE49-F238E27FC236}">
                <a16:creationId xmlns:a16="http://schemas.microsoft.com/office/drawing/2014/main" id="{C015545F-BBFB-460E-AF19-D952B7274A10}"/>
              </a:ext>
            </a:extLst>
          </p:cNvPr>
          <p:cNvSpPr>
            <a:spLocks noGrp="1"/>
          </p:cNvSpPr>
          <p:nvPr/>
        </p:nvSpPr>
        <p:spPr>
          <a:xfrm>
            <a:off x="9334500" y="4347591"/>
            <a:ext cx="114300" cy="9525"/>
          </a:xfrm>
          <a:custGeom>
            <a:avLst/>
            <a:gdLst/>
            <a:ahLst/>
            <a:cxnLst/>
            <a:rect l="0" t="0" r="0" b="0"/>
            <a:pathLst>
              <a:path w="114300" h="9525">
                <a:moveTo>
                  <a:pt x="0" y="0"/>
                </a:moveTo>
                <a:lnTo>
                  <a:pt x="114300" y="0"/>
                </a:lnTo>
              </a:path>
            </a:pathLst>
          </a:custGeom>
          <a:noFill/>
          <a:ln w="12383">
            <a:solidFill>
              <a:srgbClr val="8662B5"/>
            </a:solidFill>
            <a:prstDash val="solid"/>
          </a:ln>
        </p:spPr>
        <p:txBody>
          <a:bodyPr/>
          <a:p/>
        </p:txBody>
      </p:sp>
      <p:sp>
        <p:nvSpPr>
          <p:cNvPr id="134" name="line-132">
            <a:extLst>
              <a:ext uri="{FF2B5EF4-FFF2-40B4-BE49-F238E27FC236}">
                <a16:creationId xmlns:a16="http://schemas.microsoft.com/office/drawing/2014/main" id="{C339633C-B3F7-4FE6-9B99-91E16EFC2F2C}"/>
              </a:ext>
            </a:extLst>
          </p:cNvPr>
          <p:cNvSpPr>
            <a:spLocks noGrp="1"/>
          </p:cNvSpPr>
          <p:nvPr/>
        </p:nvSpPr>
        <p:spPr>
          <a:xfrm>
            <a:off x="9334500" y="4395597"/>
            <a:ext cx="85725" cy="9525"/>
          </a:xfrm>
          <a:custGeom>
            <a:avLst/>
            <a:gdLst/>
            <a:ahLst/>
            <a:cxnLst/>
            <a:rect l="0" t="0" r="0" b="0"/>
            <a:pathLst>
              <a:path w="85725" h="9525">
                <a:moveTo>
                  <a:pt x="0" y="0"/>
                </a:moveTo>
                <a:lnTo>
                  <a:pt x="85725" y="0"/>
                </a:lnTo>
              </a:path>
            </a:pathLst>
          </a:custGeom>
          <a:noFill/>
          <a:ln w="12383">
            <a:solidFill>
              <a:srgbClr val="8662B5"/>
            </a:solidFill>
            <a:prstDash val="solid"/>
          </a:ln>
        </p:spPr>
        <p:txBody>
          <a:bodyPr/>
          <a:p/>
        </p:txBody>
      </p:sp>
      <p:sp>
        <p:nvSpPr>
          <p:cNvPr id="135" name="element-133">
            <a:extLst>
              <a:ext uri="{FF2B5EF4-FFF2-40B4-BE49-F238E27FC236}">
                <a16:creationId xmlns:a16="http://schemas.microsoft.com/office/drawing/2014/main" id="{35E9153D-B85C-4E9B-91C8-9A57738587B1}"/>
              </a:ext>
            </a:extLst>
          </p:cNvPr>
          <p:cNvSpPr>
            <a:spLocks noGrp="1"/>
          </p:cNvSpPr>
          <p:nvPr/>
        </p:nvSpPr>
        <p:spPr>
          <a:xfrm>
            <a:off x="9601200" y="4171950"/>
            <a:ext cx="1095375" cy="228600"/>
          </a:xfrm>
          <a:prstGeom prst="rect">
            <a:avLst/>
          </a:prstGeom>
          <a:noFill/>
          <a:ln w="0">
            <a:noFill/>
          </a:ln>
        </p:spPr>
        <p:txBody>
          <a:bodyPr lIns="0" tIns="0" rIns="0" bIns="0" anchor="ctr">
            <a:noAutofit/>
          </a:bodyPr>
          <a:lstStyle/>
          <a:p>
            <a:pPr algn="l">
              <a:defRPr sz="1425" b="0">
                <a:solidFill>
                  <a:srgbClr val="122C50"/>
                </a:solidFill>
                <a:latin typeface="Arial"/>
                <a:ea typeface="Arial"/>
                <a:cs typeface="Arial"/>
              </a:defRPr>
            </a:pPr>
            <a:r>
              <a:rPr sz="1425" b="0" dirty="0">
                <a:solidFill>
                  <a:srgbClr val="122C50"/>
                </a:solidFill>
                <a:latin typeface="Arial"/>
                <a:ea typeface="Arial"/>
                <a:cs typeface="Arial"/>
              </a:rPr>
              <a:t>Reason</a:t>
            </a:r>
          </a:p>
        </p:txBody>
      </p:sp>
      <p:sp>
        <p:nvSpPr>
          <p:cNvPr id="136" name="element-134">
            <a:extLst>
              <a:ext uri="{FF2B5EF4-FFF2-40B4-BE49-F238E27FC236}">
                <a16:creationId xmlns:a16="http://schemas.microsoft.com/office/drawing/2014/main" id="{77508272-83F7-49E1-B604-AC592478030D}"/>
              </a:ext>
            </a:extLst>
          </p:cNvPr>
          <p:cNvSpPr>
            <a:spLocks noGrp="1"/>
          </p:cNvSpPr>
          <p:nvPr/>
        </p:nvSpPr>
        <p:spPr>
          <a:xfrm>
            <a:off x="9324975" y="4495800"/>
            <a:ext cx="1381125" cy="238125"/>
          </a:xfrm>
          <a:prstGeom prst="rect">
            <a:avLst/>
          </a:prstGeom>
          <a:noFill/>
          <a:ln w="0">
            <a:noFill/>
          </a:ln>
        </p:spPr>
        <p:txBody>
          <a:bodyPr lIns="0" tIns="0" rIns="0" bIns="0" anchor="ctr">
            <a:noAutofit/>
          </a:bodyPr>
          <a:lstStyle/>
          <a:p>
            <a:pPr algn="ctr">
              <a:defRPr sz="1500" b="1">
                <a:solidFill>
                  <a:srgbClr val="8662B5"/>
                </a:solidFill>
                <a:latin typeface="Arial"/>
                <a:ea typeface="Arial"/>
                <a:cs typeface="Arial"/>
              </a:defRPr>
            </a:pPr>
            <a:r>
              <a:rPr sz="1500" b="1" dirty="0">
                <a:solidFill>
                  <a:srgbClr val="8662B5"/>
                </a:solidFill>
                <a:latin typeface="Arial"/>
                <a:ea typeface="Arial"/>
                <a:cs typeface="Arial"/>
              </a:rPr>
              <a:t>A / B / None</a:t>
            </a:r>
          </a:p>
        </p:txBody>
      </p:sp>
      <p:sp>
        <p:nvSpPr>
          <p:cNvPr id="137" name="line-135">
            <a:extLst>
              <a:ext uri="{FF2B5EF4-FFF2-40B4-BE49-F238E27FC236}">
                <a16:creationId xmlns:a16="http://schemas.microsoft.com/office/drawing/2014/main" id="{ED962CFF-9298-4786-BC8A-4882E8A6BA75}"/>
              </a:ext>
            </a:extLst>
          </p:cNvPr>
          <p:cNvSpPr>
            <a:spLocks noGrp="1"/>
          </p:cNvSpPr>
          <p:nvPr/>
        </p:nvSpPr>
        <p:spPr>
          <a:xfrm>
            <a:off x="9944100" y="2962275"/>
            <a:ext cx="9525" cy="257175"/>
          </a:xfrm>
          <a:custGeom>
            <a:avLst/>
            <a:gdLst/>
            <a:ahLst/>
            <a:cxnLst/>
            <a:rect l="0" t="0" r="0" b="0"/>
            <a:pathLst>
              <a:path w="9525" h="257175">
                <a:moveTo>
                  <a:pt x="0" y="0"/>
                </a:moveTo>
                <a:lnTo>
                  <a:pt x="0" y="257175"/>
                </a:lnTo>
              </a:path>
            </a:pathLst>
          </a:custGeom>
          <a:noFill/>
          <a:ln w="19050">
            <a:solidFill>
              <a:srgbClr val="122C50"/>
            </a:solidFill>
            <a:prstDash val="solid"/>
          </a:ln>
        </p:spPr>
        <p:txBody>
          <a:bodyPr/>
          <a:p/>
        </p:txBody>
      </p:sp>
      <p:sp>
        <p:nvSpPr>
          <p:cNvPr id="138" name="arrow-136">
            <a:extLst>
              <a:ext uri="{FF2B5EF4-FFF2-40B4-BE49-F238E27FC236}">
                <a16:creationId xmlns:a16="http://schemas.microsoft.com/office/drawing/2014/main" id="{85E4099C-B061-4138-8E0C-7C4FD0E6D555}"/>
              </a:ext>
            </a:extLst>
          </p:cNvPr>
          <p:cNvSpPr>
            <a:spLocks noGrp="1"/>
          </p:cNvSpPr>
          <p:nvPr/>
        </p:nvSpPr>
        <p:spPr>
          <a:xfrm>
            <a:off x="9901238" y="31337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39" name="line-137">
            <a:extLst>
              <a:ext uri="{FF2B5EF4-FFF2-40B4-BE49-F238E27FC236}">
                <a16:creationId xmlns:a16="http://schemas.microsoft.com/office/drawing/2014/main" id="{2B7E2C28-86CD-443B-BCAD-E4C43D77F721}"/>
              </a:ext>
            </a:extLst>
          </p:cNvPr>
          <p:cNvSpPr>
            <a:spLocks noGrp="1"/>
          </p:cNvSpPr>
          <p:nvPr/>
        </p:nvSpPr>
        <p:spPr>
          <a:xfrm>
            <a:off x="9944100" y="3848100"/>
            <a:ext cx="9525" cy="209550"/>
          </a:xfrm>
          <a:custGeom>
            <a:avLst/>
            <a:gdLst/>
            <a:ahLst/>
            <a:cxnLst/>
            <a:rect l="0" t="0" r="0" b="0"/>
            <a:pathLst>
              <a:path w="9525" h="209550">
                <a:moveTo>
                  <a:pt x="0" y="0"/>
                </a:moveTo>
                <a:lnTo>
                  <a:pt x="0" y="209550"/>
                </a:lnTo>
              </a:path>
            </a:pathLst>
          </a:custGeom>
          <a:noFill/>
          <a:ln w="19050">
            <a:solidFill>
              <a:srgbClr val="122C50"/>
            </a:solidFill>
            <a:prstDash val="solid"/>
          </a:ln>
        </p:spPr>
        <p:txBody>
          <a:bodyPr/>
          <a:p/>
        </p:txBody>
      </p:sp>
      <p:sp>
        <p:nvSpPr>
          <p:cNvPr id="140" name="arrow-138">
            <a:extLst>
              <a:ext uri="{FF2B5EF4-FFF2-40B4-BE49-F238E27FC236}">
                <a16:creationId xmlns:a16="http://schemas.microsoft.com/office/drawing/2014/main" id="{3B905141-5A98-441A-8BE9-B506FB0D80E5}"/>
              </a:ext>
            </a:extLst>
          </p:cNvPr>
          <p:cNvSpPr>
            <a:spLocks noGrp="1"/>
          </p:cNvSpPr>
          <p:nvPr/>
        </p:nvSpPr>
        <p:spPr>
          <a:xfrm>
            <a:off x="9901238" y="39719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41" name="line-139">
            <a:extLst>
              <a:ext uri="{FF2B5EF4-FFF2-40B4-BE49-F238E27FC236}">
                <a16:creationId xmlns:a16="http://schemas.microsoft.com/office/drawing/2014/main" id="{6C258382-ADA8-4E21-9092-443A8556E43F}"/>
              </a:ext>
            </a:extLst>
          </p:cNvPr>
          <p:cNvSpPr>
            <a:spLocks noGrp="1"/>
          </p:cNvSpPr>
          <p:nvPr/>
        </p:nvSpPr>
        <p:spPr>
          <a:xfrm>
            <a:off x="9944100" y="4829175"/>
            <a:ext cx="9525" cy="342900"/>
          </a:xfrm>
          <a:custGeom>
            <a:avLst/>
            <a:gdLst/>
            <a:ahLst/>
            <a:cxnLst/>
            <a:rect l="0" t="0" r="0" b="0"/>
            <a:pathLst>
              <a:path w="9525" h="342900">
                <a:moveTo>
                  <a:pt x="0" y="0"/>
                </a:moveTo>
                <a:lnTo>
                  <a:pt x="0" y="342900"/>
                </a:lnTo>
              </a:path>
            </a:pathLst>
          </a:custGeom>
          <a:noFill/>
          <a:ln w="19050">
            <a:solidFill>
              <a:srgbClr val="122C50"/>
            </a:solidFill>
            <a:prstDash val="solid"/>
          </a:ln>
        </p:spPr>
        <p:txBody>
          <a:bodyPr/>
          <a:p/>
        </p:txBody>
      </p:sp>
      <p:sp>
        <p:nvSpPr>
          <p:cNvPr id="142" name="arrow-140">
            <a:extLst>
              <a:ext uri="{FF2B5EF4-FFF2-40B4-BE49-F238E27FC236}">
                <a16:creationId xmlns:a16="http://schemas.microsoft.com/office/drawing/2014/main" id="{83B8884B-42A5-447F-A35F-A26564303F44}"/>
              </a:ext>
            </a:extLst>
          </p:cNvPr>
          <p:cNvSpPr>
            <a:spLocks noGrp="1"/>
          </p:cNvSpPr>
          <p:nvPr/>
        </p:nvSpPr>
        <p:spPr>
          <a:xfrm>
            <a:off x="9901238" y="5086350"/>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43" name="node-141">
            <a:extLst>
              <a:ext uri="{FF2B5EF4-FFF2-40B4-BE49-F238E27FC236}">
                <a16:creationId xmlns:a16="http://schemas.microsoft.com/office/drawing/2014/main" id="{5A232BE6-5A2E-4946-8DCF-54FB14786E80}"/>
              </a:ext>
            </a:extLst>
          </p:cNvPr>
          <p:cNvSpPr>
            <a:spLocks noGrp="1"/>
          </p:cNvSpPr>
          <p:nvPr/>
        </p:nvSpPr>
        <p:spPr>
          <a:xfrm>
            <a:off x="11506200" y="733425"/>
            <a:ext cx="704850" cy="704850"/>
          </a:xfrm>
          <a:prstGeom prst="ellipse">
            <a:avLst/>
          </a:prstGeom>
          <a:solidFill>
            <a:srgbClr val="EFF4FA"/>
          </a:solidFill>
          <a:ln w="16193">
            <a:solidFill>
              <a:srgbClr val="EFF4FA"/>
            </a:solidFill>
          </a:ln>
        </p:spPr>
        <p:txBody>
          <a:bodyPr/>
          <a:p/>
        </p:txBody>
      </p:sp>
      <p:sp>
        <p:nvSpPr>
          <p:cNvPr id="144" name="line-142">
            <a:extLst>
              <a:ext uri="{FF2B5EF4-FFF2-40B4-BE49-F238E27FC236}">
                <a16:creationId xmlns:a16="http://schemas.microsoft.com/office/drawing/2014/main" id="{44951422-37B0-47FB-A9F4-9962A4FA674E}"/>
              </a:ext>
            </a:extLst>
          </p:cNvPr>
          <p:cNvSpPr>
            <a:spLocks noGrp="1"/>
          </p:cNvSpPr>
          <p:nvPr/>
        </p:nvSpPr>
        <p:spPr>
          <a:xfrm>
            <a:off x="11639550" y="904875"/>
            <a:ext cx="428625" cy="9525"/>
          </a:xfrm>
          <a:custGeom>
            <a:avLst/>
            <a:gdLst/>
            <a:ahLst/>
            <a:cxnLst/>
            <a:rect l="0" t="0" r="0" b="0"/>
            <a:pathLst>
              <a:path w="428625" h="9525">
                <a:moveTo>
                  <a:pt x="0" y="0"/>
                </a:moveTo>
                <a:lnTo>
                  <a:pt x="428625" y="0"/>
                </a:lnTo>
              </a:path>
            </a:pathLst>
          </a:custGeom>
          <a:noFill/>
          <a:ln w="28575">
            <a:solidFill>
              <a:srgbClr val="4B77AA"/>
            </a:solidFill>
            <a:prstDash val="solid"/>
          </a:ln>
        </p:spPr>
        <p:txBody>
          <a:bodyPr/>
          <a:p/>
        </p:txBody>
      </p:sp>
      <p:sp>
        <p:nvSpPr>
          <p:cNvPr id="145" name="line-143">
            <a:extLst>
              <a:ext uri="{FF2B5EF4-FFF2-40B4-BE49-F238E27FC236}">
                <a16:creationId xmlns:a16="http://schemas.microsoft.com/office/drawing/2014/main" id="{6F91507C-9F22-407B-B7C2-CFEB729BAB3B}"/>
              </a:ext>
            </a:extLst>
          </p:cNvPr>
          <p:cNvSpPr>
            <a:spLocks noGrp="1"/>
          </p:cNvSpPr>
          <p:nvPr/>
        </p:nvSpPr>
        <p:spPr>
          <a:xfrm>
            <a:off x="11639550" y="1009650"/>
            <a:ext cx="371475" cy="9525"/>
          </a:xfrm>
          <a:custGeom>
            <a:avLst/>
            <a:gdLst/>
            <a:ahLst/>
            <a:cxnLst/>
            <a:rect l="0" t="0" r="0" b="0"/>
            <a:pathLst>
              <a:path w="371475" h="9525">
                <a:moveTo>
                  <a:pt x="0" y="0"/>
                </a:moveTo>
                <a:lnTo>
                  <a:pt x="371475" y="0"/>
                </a:lnTo>
              </a:path>
            </a:pathLst>
          </a:custGeom>
          <a:noFill/>
          <a:ln w="28575">
            <a:solidFill>
              <a:srgbClr val="4B77AA"/>
            </a:solidFill>
            <a:prstDash val="solid"/>
          </a:ln>
        </p:spPr>
        <p:txBody>
          <a:bodyPr/>
          <a:p/>
        </p:txBody>
      </p:sp>
      <p:sp>
        <p:nvSpPr>
          <p:cNvPr id="146" name="line-144">
            <a:extLst>
              <a:ext uri="{FF2B5EF4-FFF2-40B4-BE49-F238E27FC236}">
                <a16:creationId xmlns:a16="http://schemas.microsoft.com/office/drawing/2014/main" id="{BE718C94-7A23-42FB-BE27-24A8D35218D2}"/>
              </a:ext>
            </a:extLst>
          </p:cNvPr>
          <p:cNvSpPr>
            <a:spLocks noGrp="1"/>
          </p:cNvSpPr>
          <p:nvPr/>
        </p:nvSpPr>
        <p:spPr>
          <a:xfrm>
            <a:off x="11639550" y="1114425"/>
            <a:ext cx="314325" cy="9525"/>
          </a:xfrm>
          <a:custGeom>
            <a:avLst/>
            <a:gdLst/>
            <a:ahLst/>
            <a:cxnLst/>
            <a:rect l="0" t="0" r="0" b="0"/>
            <a:pathLst>
              <a:path w="314325" h="9525">
                <a:moveTo>
                  <a:pt x="0" y="0"/>
                </a:moveTo>
                <a:lnTo>
                  <a:pt x="314325" y="0"/>
                </a:lnTo>
              </a:path>
            </a:pathLst>
          </a:custGeom>
          <a:noFill/>
          <a:ln w="28575">
            <a:solidFill>
              <a:srgbClr val="4B77AA"/>
            </a:solidFill>
            <a:prstDash val="solid"/>
          </a:ln>
        </p:spPr>
        <p:txBody>
          <a:bodyPr/>
          <a:p/>
        </p:txBody>
      </p:sp>
      <p:sp>
        <p:nvSpPr>
          <p:cNvPr id="147" name="line-145">
            <a:extLst>
              <a:ext uri="{FF2B5EF4-FFF2-40B4-BE49-F238E27FC236}">
                <a16:creationId xmlns:a16="http://schemas.microsoft.com/office/drawing/2014/main" id="{68C8EF4C-9451-4360-AA79-BA8795C8A9C5}"/>
              </a:ext>
            </a:extLst>
          </p:cNvPr>
          <p:cNvSpPr>
            <a:spLocks noGrp="1"/>
          </p:cNvSpPr>
          <p:nvPr/>
        </p:nvSpPr>
        <p:spPr>
          <a:xfrm>
            <a:off x="11639550" y="1219200"/>
            <a:ext cx="257175" cy="9525"/>
          </a:xfrm>
          <a:custGeom>
            <a:avLst/>
            <a:gdLst/>
            <a:ahLst/>
            <a:cxnLst/>
            <a:rect l="0" t="0" r="0" b="0"/>
            <a:pathLst>
              <a:path w="257175" h="9525">
                <a:moveTo>
                  <a:pt x="0" y="0"/>
                </a:moveTo>
                <a:lnTo>
                  <a:pt x="257175" y="0"/>
                </a:lnTo>
              </a:path>
            </a:pathLst>
          </a:custGeom>
          <a:noFill/>
          <a:ln w="28575">
            <a:solidFill>
              <a:srgbClr val="4B77AA"/>
            </a:solidFill>
            <a:prstDash val="solid"/>
          </a:ln>
        </p:spPr>
        <p:txBody>
          <a:bodyPr/>
          <a:p/>
        </p:txBody>
      </p:sp>
      <p:sp>
        <p:nvSpPr>
          <p:cNvPr id="148" name="line-146">
            <a:extLst>
              <a:ext uri="{FF2B5EF4-FFF2-40B4-BE49-F238E27FC236}">
                <a16:creationId xmlns:a16="http://schemas.microsoft.com/office/drawing/2014/main" id="{D3702217-E2F5-4EC3-BFA0-134BA1F2CF9F}"/>
              </a:ext>
            </a:extLst>
          </p:cNvPr>
          <p:cNvSpPr>
            <a:spLocks noGrp="1"/>
          </p:cNvSpPr>
          <p:nvPr/>
        </p:nvSpPr>
        <p:spPr>
          <a:xfrm>
            <a:off x="12220575" y="723900"/>
            <a:ext cx="114300" cy="95250"/>
          </a:xfrm>
          <a:custGeom>
            <a:avLst/>
            <a:gdLst/>
            <a:ahLst/>
            <a:cxnLst/>
            <a:rect l="0" t="0" r="0" b="0"/>
            <a:pathLst>
              <a:path w="114300" h="95250">
                <a:moveTo>
                  <a:pt x="0" y="95250"/>
                </a:moveTo>
                <a:lnTo>
                  <a:pt x="0" y="28575"/>
                </a:lnTo>
                <a:lnTo>
                  <a:pt x="28575" y="0"/>
                </a:lnTo>
                <a:lnTo>
                  <a:pt x="85725" y="0"/>
                </a:lnTo>
                <a:lnTo>
                  <a:pt x="114300" y="28575"/>
                </a:lnTo>
                <a:lnTo>
                  <a:pt x="114300" y="95250"/>
                </a:lnTo>
              </a:path>
            </a:pathLst>
          </a:custGeom>
          <a:noFill/>
          <a:ln w="19050">
            <a:solidFill>
              <a:srgbClr val="122C50"/>
            </a:solidFill>
            <a:prstDash val="solid"/>
          </a:ln>
        </p:spPr>
        <p:txBody>
          <a:bodyPr/>
          <a:p/>
        </p:txBody>
      </p:sp>
      <p:sp>
        <p:nvSpPr>
          <p:cNvPr id="149" name="element-147">
            <a:extLst>
              <a:ext uri="{FF2B5EF4-FFF2-40B4-BE49-F238E27FC236}">
                <a16:creationId xmlns:a16="http://schemas.microsoft.com/office/drawing/2014/main" id="{4AD1C5C2-5BB2-43B8-AF89-3A5A8929FD93}"/>
              </a:ext>
            </a:extLst>
          </p:cNvPr>
          <p:cNvSpPr>
            <a:spLocks noGrp="1"/>
          </p:cNvSpPr>
          <p:nvPr/>
        </p:nvSpPr>
        <p:spPr>
          <a:xfrm>
            <a:off x="12182475" y="809625"/>
            <a:ext cx="190500" cy="142875"/>
          </a:xfrm>
          <a:prstGeom prst="roundRect">
            <a:avLst>
              <a:gd name="adj" fmla="val 20000"/>
            </a:avLst>
          </a:prstGeom>
          <a:solidFill>
            <a:srgbClr val="122C50"/>
          </a:solidFill>
          <a:ln w="14288">
            <a:solidFill>
              <a:srgbClr val="122C50"/>
            </a:solidFill>
          </a:ln>
        </p:spPr>
        <p:txBody>
          <a:bodyPr/>
          <a:p/>
        </p:txBody>
      </p:sp>
      <p:sp>
        <p:nvSpPr>
          <p:cNvPr id="150" name="node-148">
            <a:extLst>
              <a:ext uri="{FF2B5EF4-FFF2-40B4-BE49-F238E27FC236}">
                <a16:creationId xmlns:a16="http://schemas.microsoft.com/office/drawing/2014/main" id="{C75DFE00-CFE7-4C85-8688-4F02DD48CE51}"/>
              </a:ext>
            </a:extLst>
          </p:cNvPr>
          <p:cNvSpPr>
            <a:spLocks noGrp="1"/>
          </p:cNvSpPr>
          <p:nvPr/>
        </p:nvSpPr>
        <p:spPr>
          <a:xfrm>
            <a:off x="12258675" y="847725"/>
            <a:ext cx="38100" cy="38100"/>
          </a:xfrm>
          <a:prstGeom prst="ellipse">
            <a:avLst/>
          </a:prstGeom>
          <a:solidFill>
            <a:srgbClr val="FFFFFF"/>
          </a:solidFill>
          <a:ln w="16193">
            <a:solidFill>
              <a:srgbClr val="FFFFFF"/>
            </a:solidFill>
          </a:ln>
        </p:spPr>
        <p:txBody>
          <a:bodyPr/>
          <a:p/>
        </p:txBody>
      </p:sp>
      <p:sp>
        <p:nvSpPr>
          <p:cNvPr id="151" name="element-149">
            <a:extLst>
              <a:ext uri="{FF2B5EF4-FFF2-40B4-BE49-F238E27FC236}">
                <a16:creationId xmlns:a16="http://schemas.microsoft.com/office/drawing/2014/main" id="{26C0F0F1-FC5F-4F3C-8923-B93C72F96503}"/>
              </a:ext>
            </a:extLst>
          </p:cNvPr>
          <p:cNvSpPr>
            <a:spLocks noGrp="1"/>
          </p:cNvSpPr>
          <p:nvPr/>
        </p:nvSpPr>
        <p:spPr>
          <a:xfrm>
            <a:off x="10934700" y="1504950"/>
            <a:ext cx="1847850" cy="295275"/>
          </a:xfrm>
          <a:prstGeom prst="rect">
            <a:avLst/>
          </a:prstGeom>
          <a:noFill/>
          <a:ln w="0">
            <a:noFill/>
          </a:ln>
        </p:spPr>
        <p:txBody>
          <a:bodyPr lIns="0" tIns="0" rIns="0" bIns="0" anchor="ctr">
            <a:noAutofit/>
          </a:bodyPr>
          <a:lstStyle/>
          <a:p>
            <a:pPr algn="ctr">
              <a:defRPr sz="1575" b="1">
                <a:solidFill>
                  <a:srgbClr val="122C50"/>
                </a:solidFill>
                <a:latin typeface="Arial"/>
                <a:ea typeface="Arial"/>
                <a:cs typeface="Arial"/>
              </a:defRPr>
            </a:pPr>
            <a:r>
              <a:rPr sz="1575" b="1">
                <a:solidFill>
                  <a:srgbClr val="122C50"/>
                </a:solidFill>
                <a:latin typeface="Arial"/>
                <a:ea typeface="Arial"/>
                <a:cs typeface="Arial"/>
              </a:rPr>
              <a:t>Clarity</a:t>
            </a:r>
          </a:p>
        </p:txBody>
      </p:sp>
      <p:sp>
        <p:nvSpPr>
          <p:cNvPr id="152" name="element-150">
            <a:extLst>
              <a:ext uri="{FF2B5EF4-FFF2-40B4-BE49-F238E27FC236}">
                <a16:creationId xmlns:a16="http://schemas.microsoft.com/office/drawing/2014/main" id="{BE2356A0-9BAB-41D1-A7AD-B4FCAC421417}"/>
              </a:ext>
            </a:extLst>
          </p:cNvPr>
          <p:cNvSpPr>
            <a:spLocks noGrp="1"/>
          </p:cNvSpPr>
          <p:nvPr/>
        </p:nvSpPr>
        <p:spPr>
          <a:xfrm>
            <a:off x="11058525" y="1847850"/>
            <a:ext cx="1600200" cy="1114425"/>
          </a:xfrm>
          <a:prstGeom prst="roundRect">
            <a:avLst>
              <a:gd name="adj" fmla="val 7692"/>
            </a:avLst>
          </a:prstGeom>
          <a:solidFill>
            <a:srgbClr val="EFF4FA"/>
          </a:solidFill>
          <a:ln w="9525">
            <a:solidFill>
              <a:srgbClr val="4B77AA"/>
            </a:solidFill>
            <a:prstDash val="dash"/>
          </a:ln>
        </p:spPr>
        <p:txBody>
          <a:bodyPr/>
          <a:p/>
        </p:txBody>
      </p:sp>
      <p:sp>
        <p:nvSpPr>
          <p:cNvPr id="153" name="node-151">
            <a:extLst>
              <a:ext uri="{FF2B5EF4-FFF2-40B4-BE49-F238E27FC236}">
                <a16:creationId xmlns:a16="http://schemas.microsoft.com/office/drawing/2014/main" id="{139EE09A-B67C-442E-B493-1066D57CCFFC}"/>
              </a:ext>
            </a:extLst>
          </p:cNvPr>
          <p:cNvSpPr>
            <a:spLocks noGrp="1"/>
          </p:cNvSpPr>
          <p:nvPr/>
        </p:nvSpPr>
        <p:spPr>
          <a:xfrm>
            <a:off x="11753850" y="1924050"/>
            <a:ext cx="209550" cy="209550"/>
          </a:xfrm>
          <a:prstGeom prst="ellipse">
            <a:avLst/>
          </a:prstGeom>
          <a:solidFill>
            <a:srgbClr val="FFFFFF"/>
          </a:solidFill>
          <a:ln w="16193">
            <a:solidFill>
              <a:srgbClr val="4B77AA"/>
            </a:solidFill>
          </a:ln>
        </p:spPr>
        <p:txBody>
          <a:bodyPr/>
          <a:p/>
        </p:txBody>
      </p:sp>
      <p:sp>
        <p:nvSpPr>
          <p:cNvPr id="154" name="line-152">
            <a:extLst>
              <a:ext uri="{FF2B5EF4-FFF2-40B4-BE49-F238E27FC236}">
                <a16:creationId xmlns:a16="http://schemas.microsoft.com/office/drawing/2014/main" id="{DEFD7498-B2D5-4563-BA62-B35C08C9AB52}"/>
              </a:ext>
            </a:extLst>
          </p:cNvPr>
          <p:cNvSpPr>
            <a:spLocks noGrp="1"/>
          </p:cNvSpPr>
          <p:nvPr/>
        </p:nvSpPr>
        <p:spPr>
          <a:xfrm>
            <a:off x="11487150" y="2133600"/>
            <a:ext cx="371475" cy="495300"/>
          </a:xfrm>
          <a:custGeom>
            <a:avLst/>
            <a:gdLst/>
            <a:ahLst/>
            <a:cxnLst/>
            <a:rect l="0" t="0" r="0" b="0"/>
            <a:pathLst>
              <a:path w="371475" h="495300">
                <a:moveTo>
                  <a:pt x="371475" y="0"/>
                </a:moveTo>
                <a:lnTo>
                  <a:pt x="0" y="495300"/>
                </a:lnTo>
              </a:path>
            </a:pathLst>
          </a:custGeom>
          <a:noFill/>
          <a:ln w="16193">
            <a:solidFill>
              <a:srgbClr val="4B77AA"/>
            </a:solidFill>
            <a:prstDash val="solid"/>
          </a:ln>
        </p:spPr>
        <p:txBody>
          <a:bodyPr/>
          <a:p/>
        </p:txBody>
      </p:sp>
      <p:sp>
        <p:nvSpPr>
          <p:cNvPr id="155" name="node-153">
            <a:extLst>
              <a:ext uri="{FF2B5EF4-FFF2-40B4-BE49-F238E27FC236}">
                <a16:creationId xmlns:a16="http://schemas.microsoft.com/office/drawing/2014/main" id="{18C474B4-9710-4A5B-B1F7-9E7D8EF4C9E4}"/>
              </a:ext>
            </a:extLst>
          </p:cNvPr>
          <p:cNvSpPr>
            <a:spLocks noGrp="1"/>
          </p:cNvSpPr>
          <p:nvPr/>
        </p:nvSpPr>
        <p:spPr>
          <a:xfrm>
            <a:off x="11401425" y="2628900"/>
            <a:ext cx="171450" cy="171450"/>
          </a:xfrm>
          <a:prstGeom prst="ellipse">
            <a:avLst/>
          </a:prstGeom>
          <a:solidFill>
            <a:srgbClr val="FFFFFF"/>
          </a:solidFill>
          <a:ln w="16193">
            <a:solidFill>
              <a:srgbClr val="4B77AA"/>
            </a:solidFill>
          </a:ln>
        </p:spPr>
        <p:txBody>
          <a:bodyPr/>
          <a:p/>
        </p:txBody>
      </p:sp>
      <p:sp>
        <p:nvSpPr>
          <p:cNvPr id="156" name="line-154">
            <a:extLst>
              <a:ext uri="{FF2B5EF4-FFF2-40B4-BE49-F238E27FC236}">
                <a16:creationId xmlns:a16="http://schemas.microsoft.com/office/drawing/2014/main" id="{8298EB59-86E7-4CA5-AA54-5F05E4363B76}"/>
              </a:ext>
            </a:extLst>
          </p:cNvPr>
          <p:cNvSpPr>
            <a:spLocks noGrp="1"/>
          </p:cNvSpPr>
          <p:nvPr/>
        </p:nvSpPr>
        <p:spPr>
          <a:xfrm>
            <a:off x="11858625" y="2133600"/>
            <a:ext cx="9525" cy="495300"/>
          </a:xfrm>
          <a:custGeom>
            <a:avLst/>
            <a:gdLst/>
            <a:ahLst/>
            <a:cxnLst/>
            <a:rect l="0" t="0" r="0" b="0"/>
            <a:pathLst>
              <a:path w="9525" h="495300">
                <a:moveTo>
                  <a:pt x="0" y="0"/>
                </a:moveTo>
                <a:lnTo>
                  <a:pt x="0" y="495300"/>
                </a:lnTo>
              </a:path>
            </a:pathLst>
          </a:custGeom>
          <a:noFill/>
          <a:ln w="16193">
            <a:solidFill>
              <a:srgbClr val="4B77AA"/>
            </a:solidFill>
            <a:prstDash val="solid"/>
          </a:ln>
        </p:spPr>
        <p:txBody>
          <a:bodyPr/>
          <a:p/>
        </p:txBody>
      </p:sp>
      <p:sp>
        <p:nvSpPr>
          <p:cNvPr id="157" name="node-155">
            <a:extLst>
              <a:ext uri="{FF2B5EF4-FFF2-40B4-BE49-F238E27FC236}">
                <a16:creationId xmlns:a16="http://schemas.microsoft.com/office/drawing/2014/main" id="{61A1F688-5E29-4970-B206-43D65CDE2C9C}"/>
              </a:ext>
            </a:extLst>
          </p:cNvPr>
          <p:cNvSpPr>
            <a:spLocks noGrp="1"/>
          </p:cNvSpPr>
          <p:nvPr/>
        </p:nvSpPr>
        <p:spPr>
          <a:xfrm>
            <a:off x="11772900" y="2628900"/>
            <a:ext cx="171450" cy="171450"/>
          </a:xfrm>
          <a:prstGeom prst="ellipse">
            <a:avLst/>
          </a:prstGeom>
          <a:solidFill>
            <a:srgbClr val="FFFFFF"/>
          </a:solidFill>
          <a:ln w="16193">
            <a:solidFill>
              <a:srgbClr val="4B77AA"/>
            </a:solidFill>
          </a:ln>
        </p:spPr>
        <p:txBody>
          <a:bodyPr/>
          <a:p/>
        </p:txBody>
      </p:sp>
      <p:sp>
        <p:nvSpPr>
          <p:cNvPr id="158" name="line-156">
            <a:extLst>
              <a:ext uri="{FF2B5EF4-FFF2-40B4-BE49-F238E27FC236}">
                <a16:creationId xmlns:a16="http://schemas.microsoft.com/office/drawing/2014/main" id="{9A2F2431-CF2A-42C5-BC87-C82D43C995F6}"/>
              </a:ext>
            </a:extLst>
          </p:cNvPr>
          <p:cNvSpPr>
            <a:spLocks noGrp="1"/>
          </p:cNvSpPr>
          <p:nvPr/>
        </p:nvSpPr>
        <p:spPr>
          <a:xfrm>
            <a:off x="11858625" y="2133600"/>
            <a:ext cx="371475" cy="495300"/>
          </a:xfrm>
          <a:custGeom>
            <a:avLst/>
            <a:gdLst/>
            <a:ahLst/>
            <a:cxnLst/>
            <a:rect l="0" t="0" r="0" b="0"/>
            <a:pathLst>
              <a:path w="371475" h="495300">
                <a:moveTo>
                  <a:pt x="0" y="0"/>
                </a:moveTo>
                <a:lnTo>
                  <a:pt x="371475" y="495300"/>
                </a:lnTo>
              </a:path>
            </a:pathLst>
          </a:custGeom>
          <a:noFill/>
          <a:ln w="16193">
            <a:solidFill>
              <a:srgbClr val="4B77AA"/>
            </a:solidFill>
            <a:prstDash val="solid"/>
          </a:ln>
        </p:spPr>
        <p:txBody>
          <a:bodyPr/>
          <a:p/>
        </p:txBody>
      </p:sp>
      <p:sp>
        <p:nvSpPr>
          <p:cNvPr id="159" name="node-157">
            <a:extLst>
              <a:ext uri="{FF2B5EF4-FFF2-40B4-BE49-F238E27FC236}">
                <a16:creationId xmlns:a16="http://schemas.microsoft.com/office/drawing/2014/main" id="{C7600AED-EA85-41A3-B24E-624E63ACB77F}"/>
              </a:ext>
            </a:extLst>
          </p:cNvPr>
          <p:cNvSpPr>
            <a:spLocks noGrp="1"/>
          </p:cNvSpPr>
          <p:nvPr/>
        </p:nvSpPr>
        <p:spPr>
          <a:xfrm>
            <a:off x="12144375" y="2628900"/>
            <a:ext cx="171450" cy="171450"/>
          </a:xfrm>
          <a:prstGeom prst="ellipse">
            <a:avLst/>
          </a:prstGeom>
          <a:solidFill>
            <a:srgbClr val="FFFFFF"/>
          </a:solidFill>
          <a:ln w="16193">
            <a:solidFill>
              <a:srgbClr val="4B77AA"/>
            </a:solidFill>
          </a:ln>
        </p:spPr>
        <p:txBody>
          <a:bodyPr/>
          <a:p/>
        </p:txBody>
      </p:sp>
      <p:sp>
        <p:nvSpPr>
          <p:cNvPr id="160" name="element-158">
            <a:extLst>
              <a:ext uri="{FF2B5EF4-FFF2-40B4-BE49-F238E27FC236}">
                <a16:creationId xmlns:a16="http://schemas.microsoft.com/office/drawing/2014/main" id="{3A6FD706-8857-44F1-B068-606C1D16CF8C}"/>
              </a:ext>
            </a:extLst>
          </p:cNvPr>
          <p:cNvSpPr>
            <a:spLocks noGrp="1"/>
          </p:cNvSpPr>
          <p:nvPr/>
        </p:nvSpPr>
        <p:spPr>
          <a:xfrm>
            <a:off x="11058525" y="4057650"/>
            <a:ext cx="1600200" cy="771525"/>
          </a:xfrm>
          <a:prstGeom prst="roundRect">
            <a:avLst>
              <a:gd name="adj" fmla="val 7407"/>
            </a:avLst>
          </a:prstGeom>
          <a:solidFill>
            <a:srgbClr val="EFF4FA"/>
          </a:solidFill>
          <a:ln w="14288">
            <a:solidFill>
              <a:srgbClr val="4B77AA"/>
            </a:solidFill>
          </a:ln>
        </p:spPr>
        <p:txBody>
          <a:bodyPr/>
          <a:p/>
        </p:txBody>
      </p:sp>
      <p:sp>
        <p:nvSpPr>
          <p:cNvPr id="161" name="element-159">
            <a:extLst>
              <a:ext uri="{FF2B5EF4-FFF2-40B4-BE49-F238E27FC236}">
                <a16:creationId xmlns:a16="http://schemas.microsoft.com/office/drawing/2014/main" id="{57518E82-E53F-4730-A216-56452934B821}"/>
              </a:ext>
            </a:extLst>
          </p:cNvPr>
          <p:cNvSpPr>
            <a:spLocks noGrp="1"/>
          </p:cNvSpPr>
          <p:nvPr/>
        </p:nvSpPr>
        <p:spPr>
          <a:xfrm>
            <a:off x="11210925" y="4219575"/>
            <a:ext cx="190500" cy="266700"/>
          </a:xfrm>
          <a:prstGeom prst="roundRect">
            <a:avLst>
              <a:gd name="adj" fmla="val 15000"/>
            </a:avLst>
          </a:prstGeom>
          <a:solidFill>
            <a:srgbClr val="FFFFFF"/>
          </a:solidFill>
          <a:ln w="14288">
            <a:solidFill>
              <a:srgbClr val="4B77AA"/>
            </a:solidFill>
          </a:ln>
        </p:spPr>
        <p:txBody>
          <a:bodyPr/>
          <a:p/>
        </p:txBody>
      </p:sp>
      <p:sp>
        <p:nvSpPr>
          <p:cNvPr id="162" name="line-160">
            <a:extLst>
              <a:ext uri="{FF2B5EF4-FFF2-40B4-BE49-F238E27FC236}">
                <a16:creationId xmlns:a16="http://schemas.microsoft.com/office/drawing/2014/main" id="{F05BDB1D-30E0-4AC4-938C-AC5E36376EA1}"/>
              </a:ext>
            </a:extLst>
          </p:cNvPr>
          <p:cNvSpPr>
            <a:spLocks noGrp="1"/>
          </p:cNvSpPr>
          <p:nvPr/>
        </p:nvSpPr>
        <p:spPr>
          <a:xfrm>
            <a:off x="11249025" y="4299585"/>
            <a:ext cx="114300" cy="9525"/>
          </a:xfrm>
          <a:custGeom>
            <a:avLst/>
            <a:gdLst/>
            <a:ahLst/>
            <a:cxnLst/>
            <a:rect l="0" t="0" r="0" b="0"/>
            <a:pathLst>
              <a:path w="114300" h="9525">
                <a:moveTo>
                  <a:pt x="0" y="0"/>
                </a:moveTo>
                <a:lnTo>
                  <a:pt x="114300" y="0"/>
                </a:lnTo>
              </a:path>
            </a:pathLst>
          </a:custGeom>
          <a:noFill/>
          <a:ln w="12383">
            <a:solidFill>
              <a:srgbClr val="4B77AA"/>
            </a:solidFill>
            <a:prstDash val="solid"/>
          </a:ln>
        </p:spPr>
        <p:txBody>
          <a:bodyPr/>
          <a:p/>
        </p:txBody>
      </p:sp>
      <p:sp>
        <p:nvSpPr>
          <p:cNvPr id="163" name="line-161">
            <a:extLst>
              <a:ext uri="{FF2B5EF4-FFF2-40B4-BE49-F238E27FC236}">
                <a16:creationId xmlns:a16="http://schemas.microsoft.com/office/drawing/2014/main" id="{7B5A2D54-2C64-4047-BBDA-8EC52C193879}"/>
              </a:ext>
            </a:extLst>
          </p:cNvPr>
          <p:cNvSpPr>
            <a:spLocks noGrp="1"/>
          </p:cNvSpPr>
          <p:nvPr/>
        </p:nvSpPr>
        <p:spPr>
          <a:xfrm>
            <a:off x="11249025" y="4347591"/>
            <a:ext cx="114300" cy="9525"/>
          </a:xfrm>
          <a:custGeom>
            <a:avLst/>
            <a:gdLst/>
            <a:ahLst/>
            <a:cxnLst/>
            <a:rect l="0" t="0" r="0" b="0"/>
            <a:pathLst>
              <a:path w="114300" h="9525">
                <a:moveTo>
                  <a:pt x="0" y="0"/>
                </a:moveTo>
                <a:lnTo>
                  <a:pt x="114300" y="0"/>
                </a:lnTo>
              </a:path>
            </a:pathLst>
          </a:custGeom>
          <a:noFill/>
          <a:ln w="12383">
            <a:solidFill>
              <a:srgbClr val="4B77AA"/>
            </a:solidFill>
            <a:prstDash val="solid"/>
          </a:ln>
        </p:spPr>
        <p:txBody>
          <a:bodyPr/>
          <a:p/>
        </p:txBody>
      </p:sp>
      <p:sp>
        <p:nvSpPr>
          <p:cNvPr id="164" name="line-162">
            <a:extLst>
              <a:ext uri="{FF2B5EF4-FFF2-40B4-BE49-F238E27FC236}">
                <a16:creationId xmlns:a16="http://schemas.microsoft.com/office/drawing/2014/main" id="{DAAA84D9-0AE5-475F-8CE9-84F45A37C27B}"/>
              </a:ext>
            </a:extLst>
          </p:cNvPr>
          <p:cNvSpPr>
            <a:spLocks noGrp="1"/>
          </p:cNvSpPr>
          <p:nvPr/>
        </p:nvSpPr>
        <p:spPr>
          <a:xfrm>
            <a:off x="11249025" y="4395597"/>
            <a:ext cx="85725" cy="9525"/>
          </a:xfrm>
          <a:custGeom>
            <a:avLst/>
            <a:gdLst/>
            <a:ahLst/>
            <a:cxnLst/>
            <a:rect l="0" t="0" r="0" b="0"/>
            <a:pathLst>
              <a:path w="85725" h="9525">
                <a:moveTo>
                  <a:pt x="0" y="0"/>
                </a:moveTo>
                <a:lnTo>
                  <a:pt x="85725" y="0"/>
                </a:lnTo>
              </a:path>
            </a:pathLst>
          </a:custGeom>
          <a:noFill/>
          <a:ln w="12383">
            <a:solidFill>
              <a:srgbClr val="4B77AA"/>
            </a:solidFill>
            <a:prstDash val="solid"/>
          </a:ln>
        </p:spPr>
        <p:txBody>
          <a:bodyPr/>
          <a:p/>
        </p:txBody>
      </p:sp>
      <p:sp>
        <p:nvSpPr>
          <p:cNvPr id="165" name="element-163">
            <a:extLst>
              <a:ext uri="{FF2B5EF4-FFF2-40B4-BE49-F238E27FC236}">
                <a16:creationId xmlns:a16="http://schemas.microsoft.com/office/drawing/2014/main" id="{8BEE5D84-50CA-4B6B-8D2A-2DABAD4FAD3A}"/>
              </a:ext>
            </a:extLst>
          </p:cNvPr>
          <p:cNvSpPr>
            <a:spLocks noGrp="1"/>
          </p:cNvSpPr>
          <p:nvPr/>
        </p:nvSpPr>
        <p:spPr>
          <a:xfrm>
            <a:off x="11515725" y="4171950"/>
            <a:ext cx="1095375" cy="228600"/>
          </a:xfrm>
          <a:prstGeom prst="rect">
            <a:avLst/>
          </a:prstGeom>
          <a:noFill/>
          <a:ln w="0">
            <a:noFill/>
          </a:ln>
        </p:spPr>
        <p:txBody>
          <a:bodyPr lIns="0" tIns="0" rIns="0" bIns="0" anchor="ctr">
            <a:noAutofit/>
          </a:bodyPr>
          <a:lstStyle/>
          <a:p>
            <a:pPr algn="l">
              <a:defRPr sz="1425" b="0">
                <a:solidFill>
                  <a:srgbClr val="122C50"/>
                </a:solidFill>
                <a:latin typeface="Arial"/>
                <a:ea typeface="Arial"/>
                <a:cs typeface="Arial"/>
              </a:defRPr>
            </a:pPr>
            <a:r>
              <a:rPr sz="1425" b="0" dirty="0">
                <a:solidFill>
                  <a:srgbClr val="122C50"/>
                </a:solidFill>
                <a:latin typeface="Arial"/>
                <a:ea typeface="Arial"/>
                <a:cs typeface="Arial"/>
              </a:rPr>
              <a:t>Reason</a:t>
            </a:r>
          </a:p>
        </p:txBody>
      </p:sp>
      <p:sp>
        <p:nvSpPr>
          <p:cNvPr id="166" name="element-164">
            <a:extLst>
              <a:ext uri="{FF2B5EF4-FFF2-40B4-BE49-F238E27FC236}">
                <a16:creationId xmlns:a16="http://schemas.microsoft.com/office/drawing/2014/main" id="{5A7C3754-7AFF-46CC-99E8-B4D3A2319BEC}"/>
              </a:ext>
            </a:extLst>
          </p:cNvPr>
          <p:cNvSpPr>
            <a:spLocks noGrp="1"/>
          </p:cNvSpPr>
          <p:nvPr/>
        </p:nvSpPr>
        <p:spPr>
          <a:xfrm>
            <a:off x="11239500" y="4495800"/>
            <a:ext cx="1381125" cy="238125"/>
          </a:xfrm>
          <a:prstGeom prst="rect">
            <a:avLst/>
          </a:prstGeom>
          <a:noFill/>
          <a:ln w="0">
            <a:noFill/>
          </a:ln>
        </p:spPr>
        <p:txBody>
          <a:bodyPr lIns="0" tIns="0" rIns="0" bIns="0" anchor="ctr">
            <a:noAutofit/>
          </a:bodyPr>
          <a:lstStyle/>
          <a:p>
            <a:pPr algn="ctr">
              <a:defRPr sz="1500" b="1">
                <a:solidFill>
                  <a:srgbClr val="4B77AA"/>
                </a:solidFill>
                <a:latin typeface="Arial"/>
                <a:ea typeface="Arial"/>
                <a:cs typeface="Arial"/>
              </a:defRPr>
            </a:pPr>
            <a:r>
              <a:rPr sz="1500" b="1" dirty="0">
                <a:solidFill>
                  <a:srgbClr val="4B77AA"/>
                </a:solidFill>
                <a:latin typeface="Arial"/>
                <a:ea typeface="Arial"/>
                <a:cs typeface="Arial"/>
              </a:rPr>
              <a:t>A / B / None</a:t>
            </a:r>
          </a:p>
        </p:txBody>
      </p:sp>
      <p:sp>
        <p:nvSpPr>
          <p:cNvPr id="167" name="line-165">
            <a:extLst>
              <a:ext uri="{FF2B5EF4-FFF2-40B4-BE49-F238E27FC236}">
                <a16:creationId xmlns:a16="http://schemas.microsoft.com/office/drawing/2014/main" id="{E0245BEB-DE32-4D50-ABC5-706794C8D1E3}"/>
              </a:ext>
            </a:extLst>
          </p:cNvPr>
          <p:cNvSpPr>
            <a:spLocks noGrp="1"/>
          </p:cNvSpPr>
          <p:nvPr/>
        </p:nvSpPr>
        <p:spPr>
          <a:xfrm>
            <a:off x="11858625" y="2962275"/>
            <a:ext cx="9525" cy="257175"/>
          </a:xfrm>
          <a:custGeom>
            <a:avLst/>
            <a:gdLst/>
            <a:ahLst/>
            <a:cxnLst/>
            <a:rect l="0" t="0" r="0" b="0"/>
            <a:pathLst>
              <a:path w="9525" h="257175">
                <a:moveTo>
                  <a:pt x="0" y="0"/>
                </a:moveTo>
                <a:lnTo>
                  <a:pt x="0" y="257175"/>
                </a:lnTo>
              </a:path>
            </a:pathLst>
          </a:custGeom>
          <a:noFill/>
          <a:ln w="19050">
            <a:solidFill>
              <a:srgbClr val="122C50"/>
            </a:solidFill>
            <a:prstDash val="solid"/>
          </a:ln>
        </p:spPr>
        <p:txBody>
          <a:bodyPr/>
          <a:p/>
        </p:txBody>
      </p:sp>
      <p:sp>
        <p:nvSpPr>
          <p:cNvPr id="168" name="arrow-166">
            <a:extLst>
              <a:ext uri="{FF2B5EF4-FFF2-40B4-BE49-F238E27FC236}">
                <a16:creationId xmlns:a16="http://schemas.microsoft.com/office/drawing/2014/main" id="{C9555233-4B45-44CD-8AD1-392F0D673CB4}"/>
              </a:ext>
            </a:extLst>
          </p:cNvPr>
          <p:cNvSpPr>
            <a:spLocks noGrp="1"/>
          </p:cNvSpPr>
          <p:nvPr/>
        </p:nvSpPr>
        <p:spPr>
          <a:xfrm>
            <a:off x="11815763" y="31337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69" name="line-167">
            <a:extLst>
              <a:ext uri="{FF2B5EF4-FFF2-40B4-BE49-F238E27FC236}">
                <a16:creationId xmlns:a16="http://schemas.microsoft.com/office/drawing/2014/main" id="{5E5F27EC-A869-4AE3-AC66-D7C873D82363}"/>
              </a:ext>
            </a:extLst>
          </p:cNvPr>
          <p:cNvSpPr>
            <a:spLocks noGrp="1"/>
          </p:cNvSpPr>
          <p:nvPr/>
        </p:nvSpPr>
        <p:spPr>
          <a:xfrm>
            <a:off x="11858625" y="3848100"/>
            <a:ext cx="9525" cy="209550"/>
          </a:xfrm>
          <a:custGeom>
            <a:avLst/>
            <a:gdLst/>
            <a:ahLst/>
            <a:cxnLst/>
            <a:rect l="0" t="0" r="0" b="0"/>
            <a:pathLst>
              <a:path w="9525" h="209550">
                <a:moveTo>
                  <a:pt x="0" y="0"/>
                </a:moveTo>
                <a:lnTo>
                  <a:pt x="0" y="209550"/>
                </a:lnTo>
              </a:path>
            </a:pathLst>
          </a:custGeom>
          <a:noFill/>
          <a:ln w="19050">
            <a:solidFill>
              <a:srgbClr val="122C50"/>
            </a:solidFill>
            <a:prstDash val="solid"/>
          </a:ln>
        </p:spPr>
        <p:txBody>
          <a:bodyPr/>
          <a:p/>
        </p:txBody>
      </p:sp>
      <p:sp>
        <p:nvSpPr>
          <p:cNvPr id="170" name="arrow-168">
            <a:extLst>
              <a:ext uri="{FF2B5EF4-FFF2-40B4-BE49-F238E27FC236}">
                <a16:creationId xmlns:a16="http://schemas.microsoft.com/office/drawing/2014/main" id="{F4BF886E-C7C6-4975-A020-C0F92105E193}"/>
              </a:ext>
            </a:extLst>
          </p:cNvPr>
          <p:cNvSpPr>
            <a:spLocks noGrp="1"/>
          </p:cNvSpPr>
          <p:nvPr/>
        </p:nvSpPr>
        <p:spPr>
          <a:xfrm>
            <a:off x="11815763" y="3971925"/>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71" name="line-169">
            <a:extLst>
              <a:ext uri="{FF2B5EF4-FFF2-40B4-BE49-F238E27FC236}">
                <a16:creationId xmlns:a16="http://schemas.microsoft.com/office/drawing/2014/main" id="{C638EC1E-2E60-4419-8B55-9F693EC95FF3}"/>
              </a:ext>
            </a:extLst>
          </p:cNvPr>
          <p:cNvSpPr>
            <a:spLocks noGrp="1"/>
          </p:cNvSpPr>
          <p:nvPr/>
        </p:nvSpPr>
        <p:spPr>
          <a:xfrm>
            <a:off x="11858625" y="4829175"/>
            <a:ext cx="9525" cy="342900"/>
          </a:xfrm>
          <a:custGeom>
            <a:avLst/>
            <a:gdLst/>
            <a:ahLst/>
            <a:cxnLst/>
            <a:rect l="0" t="0" r="0" b="0"/>
            <a:pathLst>
              <a:path w="9525" h="342900">
                <a:moveTo>
                  <a:pt x="0" y="0"/>
                </a:moveTo>
                <a:lnTo>
                  <a:pt x="0" y="342900"/>
                </a:lnTo>
              </a:path>
            </a:pathLst>
          </a:custGeom>
          <a:noFill/>
          <a:ln w="19050">
            <a:solidFill>
              <a:srgbClr val="122C50"/>
            </a:solidFill>
            <a:prstDash val="solid"/>
          </a:ln>
        </p:spPr>
        <p:txBody>
          <a:bodyPr/>
          <a:p/>
        </p:txBody>
      </p:sp>
      <p:sp>
        <p:nvSpPr>
          <p:cNvPr id="172" name="arrow-170">
            <a:extLst>
              <a:ext uri="{FF2B5EF4-FFF2-40B4-BE49-F238E27FC236}">
                <a16:creationId xmlns:a16="http://schemas.microsoft.com/office/drawing/2014/main" id="{9242193A-6B38-4043-A57C-7D096F1F22A6}"/>
              </a:ext>
            </a:extLst>
          </p:cNvPr>
          <p:cNvSpPr>
            <a:spLocks noGrp="1"/>
          </p:cNvSpPr>
          <p:nvPr/>
        </p:nvSpPr>
        <p:spPr>
          <a:xfrm>
            <a:off x="11815763" y="5086350"/>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73" name="line-171">
            <a:extLst>
              <a:ext uri="{FF2B5EF4-FFF2-40B4-BE49-F238E27FC236}">
                <a16:creationId xmlns:a16="http://schemas.microsoft.com/office/drawing/2014/main" id="{A0C9B23B-4330-4ACD-A025-85B76D76C38A}"/>
              </a:ext>
            </a:extLst>
          </p:cNvPr>
          <p:cNvSpPr>
            <a:spLocks noGrp="1"/>
          </p:cNvSpPr>
          <p:nvPr/>
        </p:nvSpPr>
        <p:spPr>
          <a:xfrm>
            <a:off x="4200525" y="3733800"/>
            <a:ext cx="9467850" cy="1438275"/>
          </a:xfrm>
          <a:custGeom>
            <a:avLst/>
            <a:gdLst/>
            <a:ahLst/>
            <a:cxnLst/>
            <a:rect l="0" t="0" r="0" b="0"/>
            <a:pathLst>
              <a:path w="9467850" h="1438275">
                <a:moveTo>
                  <a:pt x="0" y="1438275"/>
                </a:moveTo>
                <a:lnTo>
                  <a:pt x="9467850" y="1438275"/>
                </a:lnTo>
                <a:lnTo>
                  <a:pt x="9467850" y="0"/>
                </a:lnTo>
              </a:path>
            </a:pathLst>
          </a:custGeom>
          <a:noFill/>
          <a:ln w="21908">
            <a:solidFill>
              <a:srgbClr val="122C50"/>
            </a:solidFill>
            <a:prstDash val="solid"/>
          </a:ln>
        </p:spPr>
        <p:txBody>
          <a:bodyPr/>
          <a:p/>
        </p:txBody>
      </p:sp>
      <p:sp>
        <p:nvSpPr>
          <p:cNvPr id="174" name="arrow-172">
            <a:extLst>
              <a:ext uri="{FF2B5EF4-FFF2-40B4-BE49-F238E27FC236}">
                <a16:creationId xmlns:a16="http://schemas.microsoft.com/office/drawing/2014/main" id="{35CF7481-113D-4033-9247-94553AB72FD4}"/>
              </a:ext>
            </a:extLst>
          </p:cNvPr>
          <p:cNvSpPr>
            <a:spLocks noGrp="1"/>
          </p:cNvSpPr>
          <p:nvPr/>
        </p:nvSpPr>
        <p:spPr>
          <a:xfrm>
            <a:off x="13625513" y="3733800"/>
            <a:ext cx="85725" cy="85725"/>
          </a:xfrm>
          <a:custGeom>
            <a:avLst/>
            <a:gdLst/>
            <a:ahLst/>
            <a:cxnLst/>
            <a:rect l="0" t="0" r="0" b="0"/>
            <a:pathLst>
              <a:path w="85725" h="85725">
                <a:moveTo>
                  <a:pt x="42863" y="0"/>
                </a:moveTo>
                <a:lnTo>
                  <a:pt x="0" y="85725"/>
                </a:lnTo>
                <a:lnTo>
                  <a:pt x="85725" y="85725"/>
                </a:lnTo>
                <a:lnTo>
                  <a:pt x="42863" y="0"/>
                </a:lnTo>
              </a:path>
            </a:pathLst>
          </a:custGeom>
          <a:solidFill>
            <a:srgbClr val="122C50"/>
          </a:solidFill>
          <a:ln w="2858">
            <a:solidFill>
              <a:srgbClr val="122C50"/>
            </a:solidFill>
          </a:ln>
        </p:spPr>
        <p:txBody>
          <a:bodyPr/>
          <a:p/>
        </p:txBody>
      </p:sp>
      <p:sp>
        <p:nvSpPr>
          <p:cNvPr id="175" name="element-173">
            <a:extLst>
              <a:ext uri="{FF2B5EF4-FFF2-40B4-BE49-F238E27FC236}">
                <a16:creationId xmlns:a16="http://schemas.microsoft.com/office/drawing/2014/main" id="{BDC87E62-3994-4826-81B2-AC1D5D9BF49E}"/>
              </a:ext>
            </a:extLst>
          </p:cNvPr>
          <p:cNvSpPr>
            <a:spLocks noGrp="1"/>
          </p:cNvSpPr>
          <p:nvPr/>
        </p:nvSpPr>
        <p:spPr>
          <a:xfrm>
            <a:off x="5391150" y="5248275"/>
            <a:ext cx="7048500" cy="257175"/>
          </a:xfrm>
          <a:prstGeom prst="rect">
            <a:avLst/>
          </a:prstGeom>
          <a:noFill/>
          <a:ln w="0">
            <a:noFill/>
          </a:ln>
        </p:spPr>
        <p:txBody>
          <a:bodyPr lIns="0" tIns="0" rIns="0" bIns="0" anchor="ctr">
            <a:noAutofit/>
          </a:bodyPr>
          <a:lstStyle/>
          <a:p>
            <a:pPr algn="ctr">
              <a:defRPr sz="1500" b="0">
                <a:solidFill>
                  <a:srgbClr val="5B6C80"/>
                </a:solidFill>
                <a:latin typeface="Arial"/>
                <a:ea typeface="Arial"/>
                <a:cs typeface="Arial"/>
              </a:defRPr>
            </a:pPr>
            <a:r>
              <a:rPr sz="1500" b="0">
                <a:solidFill>
                  <a:srgbClr val="5B6C80"/>
                </a:solidFill>
                <a:latin typeface="Arial"/>
                <a:ea typeface="Arial"/>
                <a:cs typeface="Arial"/>
              </a:rPr>
              <a:t>Scope-specific judgments: local None is valid</a:t>
            </a:r>
          </a:p>
        </p:txBody>
      </p:sp>
      <p:sp>
        <p:nvSpPr>
          <p:cNvPr id="176" name="element-174">
            <a:extLst>
              <a:ext uri="{FF2B5EF4-FFF2-40B4-BE49-F238E27FC236}">
                <a16:creationId xmlns:a16="http://schemas.microsoft.com/office/drawing/2014/main" id="{C0CB58AC-E5E6-4B86-984A-AB23534E2A24}"/>
              </a:ext>
            </a:extLst>
          </p:cNvPr>
          <p:cNvSpPr>
            <a:spLocks noGrp="1"/>
          </p:cNvSpPr>
          <p:nvPr/>
        </p:nvSpPr>
        <p:spPr>
          <a:xfrm>
            <a:off x="13144500" y="1905000"/>
            <a:ext cx="1628775" cy="1828800"/>
          </a:xfrm>
          <a:prstGeom prst="roundRect">
            <a:avLst>
              <a:gd name="adj" fmla="val 5263"/>
            </a:avLst>
          </a:prstGeom>
          <a:solidFill>
            <a:srgbClr val="F4F7FC"/>
          </a:solidFill>
          <a:ln w="14288">
            <a:solidFill>
              <a:srgbClr val="6E92B8"/>
            </a:solidFill>
          </a:ln>
        </p:spPr>
        <p:txBody>
          <a:bodyPr/>
          <a:p/>
        </p:txBody>
      </p:sp>
      <p:sp>
        <p:nvSpPr>
          <p:cNvPr id="177" name="line-175">
            <a:extLst>
              <a:ext uri="{FF2B5EF4-FFF2-40B4-BE49-F238E27FC236}">
                <a16:creationId xmlns:a16="http://schemas.microsoft.com/office/drawing/2014/main" id="{A8C166C6-3833-4F5A-9254-AFB9E3763474}"/>
              </a:ext>
            </a:extLst>
          </p:cNvPr>
          <p:cNvSpPr>
            <a:spLocks noGrp="1"/>
          </p:cNvSpPr>
          <p:nvPr/>
        </p:nvSpPr>
        <p:spPr>
          <a:xfrm>
            <a:off x="13954125" y="2114550"/>
            <a:ext cx="9525" cy="523875"/>
          </a:xfrm>
          <a:custGeom>
            <a:avLst/>
            <a:gdLst/>
            <a:ahLst/>
            <a:cxnLst/>
            <a:rect l="0" t="0" r="0" b="0"/>
            <a:pathLst>
              <a:path w="9525" h="523875">
                <a:moveTo>
                  <a:pt x="0" y="0"/>
                </a:moveTo>
                <a:lnTo>
                  <a:pt x="0" y="523875"/>
                </a:lnTo>
              </a:path>
            </a:pathLst>
          </a:custGeom>
          <a:noFill/>
          <a:ln w="38100">
            <a:solidFill>
              <a:srgbClr val="122C50"/>
            </a:solidFill>
            <a:prstDash val="solid"/>
          </a:ln>
        </p:spPr>
        <p:txBody>
          <a:bodyPr/>
          <a:p/>
        </p:txBody>
      </p:sp>
      <p:sp>
        <p:nvSpPr>
          <p:cNvPr id="178" name="line-176">
            <a:extLst>
              <a:ext uri="{FF2B5EF4-FFF2-40B4-BE49-F238E27FC236}">
                <a16:creationId xmlns:a16="http://schemas.microsoft.com/office/drawing/2014/main" id="{A921FB80-253C-451A-869A-19E3DBB571B4}"/>
              </a:ext>
            </a:extLst>
          </p:cNvPr>
          <p:cNvSpPr>
            <a:spLocks noGrp="1"/>
          </p:cNvSpPr>
          <p:nvPr/>
        </p:nvSpPr>
        <p:spPr>
          <a:xfrm>
            <a:off x="13592175" y="2228850"/>
            <a:ext cx="714375" cy="9525"/>
          </a:xfrm>
          <a:custGeom>
            <a:avLst/>
            <a:gdLst/>
            <a:ahLst/>
            <a:cxnLst/>
            <a:rect l="0" t="0" r="0" b="0"/>
            <a:pathLst>
              <a:path w="714375" h="9525">
                <a:moveTo>
                  <a:pt x="0" y="0"/>
                </a:moveTo>
                <a:lnTo>
                  <a:pt x="714375" y="0"/>
                </a:lnTo>
              </a:path>
            </a:pathLst>
          </a:custGeom>
          <a:noFill/>
          <a:ln w="28575">
            <a:solidFill>
              <a:srgbClr val="122C50"/>
            </a:solidFill>
            <a:prstDash val="solid"/>
          </a:ln>
        </p:spPr>
        <p:txBody>
          <a:bodyPr/>
          <a:p/>
        </p:txBody>
      </p:sp>
      <p:sp>
        <p:nvSpPr>
          <p:cNvPr id="179" name="line-177">
            <a:extLst>
              <a:ext uri="{FF2B5EF4-FFF2-40B4-BE49-F238E27FC236}">
                <a16:creationId xmlns:a16="http://schemas.microsoft.com/office/drawing/2014/main" id="{BBBAF1D3-BEAD-4AAE-8333-7A23375F1621}"/>
              </a:ext>
            </a:extLst>
          </p:cNvPr>
          <p:cNvSpPr>
            <a:spLocks noGrp="1"/>
          </p:cNvSpPr>
          <p:nvPr/>
        </p:nvSpPr>
        <p:spPr>
          <a:xfrm>
            <a:off x="13782675" y="2676525"/>
            <a:ext cx="361950" cy="9525"/>
          </a:xfrm>
          <a:custGeom>
            <a:avLst/>
            <a:gdLst/>
            <a:ahLst/>
            <a:cxnLst/>
            <a:rect l="0" t="0" r="0" b="0"/>
            <a:pathLst>
              <a:path w="361950" h="9525">
                <a:moveTo>
                  <a:pt x="0" y="0"/>
                </a:moveTo>
                <a:lnTo>
                  <a:pt x="361950" y="0"/>
                </a:lnTo>
              </a:path>
            </a:pathLst>
          </a:custGeom>
          <a:noFill/>
          <a:ln w="38100">
            <a:solidFill>
              <a:srgbClr val="122C50"/>
            </a:solidFill>
            <a:prstDash val="solid"/>
          </a:ln>
        </p:spPr>
        <p:txBody>
          <a:bodyPr/>
          <a:p/>
        </p:txBody>
      </p:sp>
      <p:sp>
        <p:nvSpPr>
          <p:cNvPr id="180" name="line-178">
            <a:extLst>
              <a:ext uri="{FF2B5EF4-FFF2-40B4-BE49-F238E27FC236}">
                <a16:creationId xmlns:a16="http://schemas.microsoft.com/office/drawing/2014/main" id="{450A8EC4-F37E-4974-9FBF-A9711A77F940}"/>
              </a:ext>
            </a:extLst>
          </p:cNvPr>
          <p:cNvSpPr>
            <a:spLocks noGrp="1"/>
          </p:cNvSpPr>
          <p:nvPr/>
        </p:nvSpPr>
        <p:spPr>
          <a:xfrm>
            <a:off x="13506450" y="2247900"/>
            <a:ext cx="228600" cy="238125"/>
          </a:xfrm>
          <a:custGeom>
            <a:avLst/>
            <a:gdLst/>
            <a:ahLst/>
            <a:cxnLst/>
            <a:rect l="0" t="0" r="0" b="0"/>
            <a:pathLst>
              <a:path w="228600" h="238125">
                <a:moveTo>
                  <a:pt x="114300" y="0"/>
                </a:moveTo>
                <a:lnTo>
                  <a:pt x="0" y="238125"/>
                </a:lnTo>
                <a:lnTo>
                  <a:pt x="228600" y="238125"/>
                </a:lnTo>
                <a:lnTo>
                  <a:pt x="114300" y="0"/>
                </a:lnTo>
              </a:path>
            </a:pathLst>
          </a:custGeom>
          <a:noFill/>
          <a:ln w="21908">
            <a:solidFill>
              <a:srgbClr val="122C50"/>
            </a:solidFill>
            <a:prstDash val="solid"/>
          </a:ln>
        </p:spPr>
        <p:txBody>
          <a:bodyPr/>
          <a:p/>
        </p:txBody>
      </p:sp>
      <p:sp>
        <p:nvSpPr>
          <p:cNvPr id="181" name="line-179">
            <a:extLst>
              <a:ext uri="{FF2B5EF4-FFF2-40B4-BE49-F238E27FC236}">
                <a16:creationId xmlns:a16="http://schemas.microsoft.com/office/drawing/2014/main" id="{3AC27D77-40FE-4A99-8E5D-8B7C0F4B7A82}"/>
              </a:ext>
            </a:extLst>
          </p:cNvPr>
          <p:cNvSpPr>
            <a:spLocks noGrp="1"/>
          </p:cNvSpPr>
          <p:nvPr/>
        </p:nvSpPr>
        <p:spPr>
          <a:xfrm>
            <a:off x="14163675" y="2247900"/>
            <a:ext cx="228600" cy="238125"/>
          </a:xfrm>
          <a:custGeom>
            <a:avLst/>
            <a:gdLst/>
            <a:ahLst/>
            <a:cxnLst/>
            <a:rect l="0" t="0" r="0" b="0"/>
            <a:pathLst>
              <a:path w="228600" h="238125">
                <a:moveTo>
                  <a:pt x="114300" y="0"/>
                </a:moveTo>
                <a:lnTo>
                  <a:pt x="0" y="238125"/>
                </a:lnTo>
                <a:lnTo>
                  <a:pt x="228600" y="238125"/>
                </a:lnTo>
                <a:lnTo>
                  <a:pt x="114300" y="0"/>
                </a:lnTo>
              </a:path>
            </a:pathLst>
          </a:custGeom>
          <a:noFill/>
          <a:ln w="21908">
            <a:solidFill>
              <a:srgbClr val="122C50"/>
            </a:solidFill>
            <a:prstDash val="solid"/>
          </a:ln>
        </p:spPr>
        <p:txBody>
          <a:bodyPr/>
          <a:p/>
        </p:txBody>
      </p:sp>
      <p:sp>
        <p:nvSpPr>
          <p:cNvPr id="182" name="element-180">
            <a:extLst>
              <a:ext uri="{FF2B5EF4-FFF2-40B4-BE49-F238E27FC236}">
                <a16:creationId xmlns:a16="http://schemas.microsoft.com/office/drawing/2014/main" id="{46D446ED-2548-4D32-A55F-717B1C70E138}"/>
              </a:ext>
            </a:extLst>
          </p:cNvPr>
          <p:cNvSpPr>
            <a:spLocks noGrp="1"/>
          </p:cNvSpPr>
          <p:nvPr/>
        </p:nvSpPr>
        <p:spPr>
          <a:xfrm>
            <a:off x="13220700" y="2819400"/>
            <a:ext cx="1485900" cy="295275"/>
          </a:xfrm>
          <a:prstGeom prst="rect">
            <a:avLst/>
          </a:prstGeom>
          <a:noFill/>
          <a:ln w="0">
            <a:noFill/>
          </a:ln>
        </p:spPr>
        <p:txBody>
          <a:bodyPr lIns="0" tIns="0" rIns="0" bIns="0" anchor="ctr">
            <a:noAutofit/>
          </a:bodyPr>
          <a:lstStyle/>
          <a:p>
            <a:pPr algn="ctr">
              <a:defRPr sz="1725" b="1">
                <a:solidFill>
                  <a:srgbClr val="122C50"/>
                </a:solidFill>
                <a:latin typeface="Arial"/>
                <a:ea typeface="Arial"/>
                <a:cs typeface="Arial"/>
              </a:defRPr>
            </a:pPr>
            <a:r>
              <a:rPr sz="1725" b="1">
                <a:solidFill>
                  <a:srgbClr val="122C50"/>
                </a:solidFill>
                <a:latin typeface="Arial"/>
                <a:ea typeface="Arial"/>
                <a:cs typeface="Arial"/>
              </a:rPr>
              <a:t>Global Arbiter</a:t>
            </a:r>
          </a:p>
        </p:txBody>
      </p:sp>
      <p:sp>
        <p:nvSpPr>
          <p:cNvPr id="183" name="element-181">
            <a:extLst>
              <a:ext uri="{FF2B5EF4-FFF2-40B4-BE49-F238E27FC236}">
                <a16:creationId xmlns:a16="http://schemas.microsoft.com/office/drawing/2014/main" id="{344BEE7E-EB24-4BE2-912C-9E99B1AE3A5F}"/>
              </a:ext>
            </a:extLst>
          </p:cNvPr>
          <p:cNvSpPr>
            <a:spLocks noGrp="1"/>
          </p:cNvSpPr>
          <p:nvPr/>
        </p:nvSpPr>
        <p:spPr>
          <a:xfrm>
            <a:off x="13268325" y="3238500"/>
            <a:ext cx="1371600" cy="419100"/>
          </a:xfrm>
          <a:prstGeom prst="rect">
            <a:avLst/>
          </a:prstGeom>
          <a:noFill/>
          <a:ln w="0">
            <a:noFill/>
          </a:ln>
        </p:spPr>
        <p:txBody>
          <a:bodyPr lIns="0" tIns="0" rIns="0" bIns="0" anchor="ctr">
            <a:noAutofit/>
          </a:bodyPr>
          <a:lstStyle/>
          <a:p>
            <a:pPr algn="ctr">
              <a:defRPr sz="1350" b="0">
                <a:solidFill>
                  <a:srgbClr val="122C50"/>
                </a:solidFill>
                <a:latin typeface="Arial"/>
                <a:ea typeface="Arial"/>
                <a:cs typeface="Arial"/>
              </a:defRPr>
            </a:pPr>
            <a:r>
              <a:rPr sz="1350" b="0">
                <a:solidFill>
                  <a:srgbClr val="122C50"/>
                </a:solidFill>
                <a:latin typeface="Arial"/>
                <a:ea typeface="Arial"/>
                <a:cs typeface="Arial"/>
              </a:rPr>
              <a:t>Integrate five</a:t>
            </a:r>
          </a:p>
          <a:p>
            <a:pPr algn="ctr">
              <a:defRPr sz="1350" b="0">
                <a:solidFill>
                  <a:srgbClr val="122C50"/>
                </a:solidFill>
                <a:latin typeface="Arial"/>
                <a:ea typeface="Arial"/>
                <a:cs typeface="Arial"/>
              </a:defRPr>
            </a:pPr>
            <a:r>
              <a:rPr sz="1350" b="0">
                <a:solidFill>
                  <a:srgbClr val="122C50"/>
                </a:solidFill>
                <a:latin typeface="Arial"/>
                <a:ea typeface="Arial"/>
                <a:cs typeface="Arial"/>
              </a:rPr>
              <a:t>subtree reports</a:t>
            </a:r>
          </a:p>
        </p:txBody>
      </p:sp>
      <p:sp>
        <p:nvSpPr>
          <p:cNvPr id="184" name="line-182">
            <a:extLst>
              <a:ext uri="{FF2B5EF4-FFF2-40B4-BE49-F238E27FC236}">
                <a16:creationId xmlns:a16="http://schemas.microsoft.com/office/drawing/2014/main" id="{CDE2D148-7CCE-4BD8-8026-235F4A03AA78}"/>
              </a:ext>
            </a:extLst>
          </p:cNvPr>
          <p:cNvSpPr>
            <a:spLocks noGrp="1"/>
          </p:cNvSpPr>
          <p:nvPr/>
        </p:nvSpPr>
        <p:spPr>
          <a:xfrm>
            <a:off x="14773275" y="2781300"/>
            <a:ext cx="381000" cy="9525"/>
          </a:xfrm>
          <a:custGeom>
            <a:avLst/>
            <a:gdLst/>
            <a:ahLst/>
            <a:cxnLst/>
            <a:rect l="0" t="0" r="0" b="0"/>
            <a:pathLst>
              <a:path w="381000" h="9525">
                <a:moveTo>
                  <a:pt x="0" y="0"/>
                </a:moveTo>
                <a:lnTo>
                  <a:pt x="381000" y="0"/>
                </a:lnTo>
              </a:path>
            </a:pathLst>
          </a:custGeom>
          <a:noFill/>
          <a:ln w="21908">
            <a:solidFill>
              <a:srgbClr val="122C50"/>
            </a:solidFill>
            <a:prstDash val="solid"/>
          </a:ln>
        </p:spPr>
        <p:txBody>
          <a:bodyPr/>
          <a:p/>
        </p:txBody>
      </p:sp>
      <p:sp>
        <p:nvSpPr>
          <p:cNvPr id="185" name="arrow-183">
            <a:extLst>
              <a:ext uri="{FF2B5EF4-FFF2-40B4-BE49-F238E27FC236}">
                <a16:creationId xmlns:a16="http://schemas.microsoft.com/office/drawing/2014/main" id="{350B077E-6C3C-4757-9977-0398172E3688}"/>
              </a:ext>
            </a:extLst>
          </p:cNvPr>
          <p:cNvSpPr>
            <a:spLocks noGrp="1"/>
          </p:cNvSpPr>
          <p:nvPr/>
        </p:nvSpPr>
        <p:spPr>
          <a:xfrm>
            <a:off x="15068550" y="2738438"/>
            <a:ext cx="85725" cy="85725"/>
          </a:xfrm>
          <a:custGeom>
            <a:avLst/>
            <a:gdLst/>
            <a:ahLst/>
            <a:cxnLst/>
            <a:rect l="0" t="0" r="0" b="0"/>
            <a:pathLst>
              <a:path w="85725" h="85725">
                <a:moveTo>
                  <a:pt x="85725" y="42863"/>
                </a:moveTo>
                <a:lnTo>
                  <a:pt x="0" y="0"/>
                </a:lnTo>
                <a:lnTo>
                  <a:pt x="0" y="85725"/>
                </a:lnTo>
                <a:lnTo>
                  <a:pt x="85725" y="42863"/>
                </a:lnTo>
              </a:path>
            </a:pathLst>
          </a:custGeom>
          <a:solidFill>
            <a:srgbClr val="122C50"/>
          </a:solidFill>
          <a:ln w="2858">
            <a:solidFill>
              <a:srgbClr val="122C50"/>
            </a:solidFill>
          </a:ln>
        </p:spPr>
        <p:txBody>
          <a:bodyPr/>
          <a:p/>
        </p:txBody>
      </p:sp>
      <p:sp>
        <p:nvSpPr>
          <p:cNvPr id="186" name="element-184">
            <a:extLst>
              <a:ext uri="{FF2B5EF4-FFF2-40B4-BE49-F238E27FC236}">
                <a16:creationId xmlns:a16="http://schemas.microsoft.com/office/drawing/2014/main" id="{931F5178-E952-43C2-9B0E-37D85287E064}"/>
              </a:ext>
            </a:extLst>
          </p:cNvPr>
          <p:cNvSpPr>
            <a:spLocks noGrp="1"/>
          </p:cNvSpPr>
          <p:nvPr/>
        </p:nvSpPr>
        <p:spPr>
          <a:xfrm>
            <a:off x="15154275" y="2143125"/>
            <a:ext cx="1724025" cy="1285875"/>
          </a:xfrm>
          <a:prstGeom prst="roundRect">
            <a:avLst>
              <a:gd name="adj" fmla="val 5926"/>
            </a:avLst>
          </a:prstGeom>
          <a:solidFill>
            <a:srgbClr val="F4F7FC"/>
          </a:solidFill>
          <a:ln w="14288">
            <a:solidFill>
              <a:srgbClr val="6E92B8"/>
            </a:solidFill>
          </a:ln>
        </p:spPr>
        <p:txBody>
          <a:bodyPr/>
          <a:p/>
        </p:txBody>
      </p:sp>
      <p:sp>
        <p:nvSpPr>
          <p:cNvPr id="187" name="element-185">
            <a:extLst>
              <a:ext uri="{FF2B5EF4-FFF2-40B4-BE49-F238E27FC236}">
                <a16:creationId xmlns:a16="http://schemas.microsoft.com/office/drawing/2014/main" id="{62F63C50-3A0E-4B5D-B1AD-C51574F6FD12}"/>
              </a:ext>
            </a:extLst>
          </p:cNvPr>
          <p:cNvSpPr>
            <a:spLocks noGrp="1"/>
          </p:cNvSpPr>
          <p:nvPr/>
        </p:nvSpPr>
        <p:spPr>
          <a:xfrm>
            <a:off x="15868650" y="2276475"/>
            <a:ext cx="295275" cy="361950"/>
          </a:xfrm>
          <a:prstGeom prst="roundRect">
            <a:avLst>
              <a:gd name="adj" fmla="val 9677"/>
            </a:avLst>
          </a:prstGeom>
          <a:solidFill>
            <a:srgbClr val="FFFFFF"/>
          </a:solidFill>
          <a:ln w="14288">
            <a:solidFill>
              <a:srgbClr val="122C50"/>
            </a:solidFill>
          </a:ln>
        </p:spPr>
        <p:txBody>
          <a:bodyPr/>
          <a:p/>
        </p:txBody>
      </p:sp>
      <p:sp>
        <p:nvSpPr>
          <p:cNvPr id="188" name="line-186">
            <a:extLst>
              <a:ext uri="{FF2B5EF4-FFF2-40B4-BE49-F238E27FC236}">
                <a16:creationId xmlns:a16="http://schemas.microsoft.com/office/drawing/2014/main" id="{AC57FABF-4A9F-44A7-A52B-B6191EB441A0}"/>
              </a:ext>
            </a:extLst>
          </p:cNvPr>
          <p:cNvSpPr>
            <a:spLocks noGrp="1"/>
          </p:cNvSpPr>
          <p:nvPr/>
        </p:nvSpPr>
        <p:spPr>
          <a:xfrm>
            <a:off x="15927705" y="2385060"/>
            <a:ext cx="177165" cy="9525"/>
          </a:xfrm>
          <a:custGeom>
            <a:avLst/>
            <a:gdLst/>
            <a:ahLst/>
            <a:cxnLst/>
            <a:rect l="0" t="0" r="0" b="0"/>
            <a:pathLst>
              <a:path w="177165" h="9525">
                <a:moveTo>
                  <a:pt x="0" y="0"/>
                </a:moveTo>
                <a:lnTo>
                  <a:pt x="177165" y="0"/>
                </a:lnTo>
              </a:path>
            </a:pathLst>
          </a:custGeom>
          <a:noFill/>
          <a:ln w="12383">
            <a:solidFill>
              <a:srgbClr val="122C50"/>
            </a:solidFill>
            <a:prstDash val="solid"/>
          </a:ln>
        </p:spPr>
        <p:txBody>
          <a:bodyPr/>
          <a:p/>
        </p:txBody>
      </p:sp>
      <p:sp>
        <p:nvSpPr>
          <p:cNvPr id="189" name="line-187">
            <a:extLst>
              <a:ext uri="{FF2B5EF4-FFF2-40B4-BE49-F238E27FC236}">
                <a16:creationId xmlns:a16="http://schemas.microsoft.com/office/drawing/2014/main" id="{4E43A3F0-3EDE-4DC2-89F4-436F366F62FF}"/>
              </a:ext>
            </a:extLst>
          </p:cNvPr>
          <p:cNvSpPr>
            <a:spLocks noGrp="1"/>
          </p:cNvSpPr>
          <p:nvPr/>
        </p:nvSpPr>
        <p:spPr>
          <a:xfrm>
            <a:off x="15927705" y="2450211"/>
            <a:ext cx="177165" cy="9525"/>
          </a:xfrm>
          <a:custGeom>
            <a:avLst/>
            <a:gdLst/>
            <a:ahLst/>
            <a:cxnLst/>
            <a:rect l="0" t="0" r="0" b="0"/>
            <a:pathLst>
              <a:path w="177165" h="9525">
                <a:moveTo>
                  <a:pt x="0" y="0"/>
                </a:moveTo>
                <a:lnTo>
                  <a:pt x="177165" y="0"/>
                </a:lnTo>
              </a:path>
            </a:pathLst>
          </a:custGeom>
          <a:noFill/>
          <a:ln w="12383">
            <a:solidFill>
              <a:srgbClr val="122C50"/>
            </a:solidFill>
            <a:prstDash val="solid"/>
          </a:ln>
        </p:spPr>
        <p:txBody>
          <a:bodyPr/>
          <a:p/>
        </p:txBody>
      </p:sp>
      <p:sp>
        <p:nvSpPr>
          <p:cNvPr id="190" name="line-188">
            <a:extLst>
              <a:ext uri="{FF2B5EF4-FFF2-40B4-BE49-F238E27FC236}">
                <a16:creationId xmlns:a16="http://schemas.microsoft.com/office/drawing/2014/main" id="{1B2F4E67-670E-4B8D-8263-1576F521BDC1}"/>
              </a:ext>
            </a:extLst>
          </p:cNvPr>
          <p:cNvSpPr>
            <a:spLocks noGrp="1"/>
          </p:cNvSpPr>
          <p:nvPr/>
        </p:nvSpPr>
        <p:spPr>
          <a:xfrm>
            <a:off x="15927705" y="2515362"/>
            <a:ext cx="132874" cy="9525"/>
          </a:xfrm>
          <a:custGeom>
            <a:avLst/>
            <a:gdLst/>
            <a:ahLst/>
            <a:cxnLst/>
            <a:rect l="0" t="0" r="0" b="0"/>
            <a:pathLst>
              <a:path w="132874" h="9525">
                <a:moveTo>
                  <a:pt x="0" y="0"/>
                </a:moveTo>
                <a:lnTo>
                  <a:pt x="132874" y="0"/>
                </a:lnTo>
              </a:path>
            </a:pathLst>
          </a:custGeom>
          <a:noFill/>
          <a:ln w="12383">
            <a:solidFill>
              <a:srgbClr val="122C50"/>
            </a:solidFill>
            <a:prstDash val="solid"/>
          </a:ln>
        </p:spPr>
        <p:txBody>
          <a:bodyPr/>
          <a:p/>
        </p:txBody>
      </p:sp>
      <p:sp>
        <p:nvSpPr>
          <p:cNvPr id="191" name="element-189">
            <a:extLst>
              <a:ext uri="{FF2B5EF4-FFF2-40B4-BE49-F238E27FC236}">
                <a16:creationId xmlns:a16="http://schemas.microsoft.com/office/drawing/2014/main" id="{6A70AA45-89DC-43E2-B5A4-D1AE6EF3549C}"/>
              </a:ext>
            </a:extLst>
          </p:cNvPr>
          <p:cNvSpPr>
            <a:spLocks noGrp="1"/>
          </p:cNvSpPr>
          <p:nvPr/>
        </p:nvSpPr>
        <p:spPr>
          <a:xfrm>
            <a:off x="15249525" y="2781300"/>
            <a:ext cx="1524000" cy="552450"/>
          </a:xfrm>
          <a:prstGeom prst="rect">
            <a:avLst/>
          </a:prstGeom>
          <a:noFill/>
          <a:ln w="0">
            <a:noFill/>
          </a:ln>
        </p:spPr>
        <p:txBody>
          <a:bodyPr lIns="0" tIns="0" rIns="0" bIns="0" anchor="ctr">
            <a:noAutofit/>
          </a:bodyPr>
          <a:lstStyle/>
          <a:p>
            <a:pPr algn="ctr">
              <a:defRPr sz="1500" b="1">
                <a:solidFill>
                  <a:srgbClr val="122C50"/>
                </a:solidFill>
                <a:latin typeface="Arial"/>
                <a:ea typeface="Arial"/>
                <a:cs typeface="Arial"/>
              </a:defRPr>
            </a:pPr>
            <a:r>
              <a:rPr sz="1500" b="1" dirty="0">
                <a:solidFill>
                  <a:srgbClr val="122C50"/>
                </a:solidFill>
                <a:latin typeface="Arial"/>
                <a:ea typeface="Arial"/>
                <a:cs typeface="Arial"/>
              </a:rPr>
              <a:t>Reason +</a:t>
            </a:r>
          </a:p>
          <a:p>
            <a:pPr algn="ctr">
              <a:defRPr sz="1500" b="1">
                <a:solidFill>
                  <a:srgbClr val="122C50"/>
                </a:solidFill>
                <a:latin typeface="Arial"/>
                <a:ea typeface="Arial"/>
                <a:cs typeface="Arial"/>
              </a:defRPr>
            </a:pPr>
            <a:r>
              <a:rPr sz="1500" b="1" dirty="0">
                <a:solidFill>
                  <a:srgbClr val="122C50"/>
                </a:solidFill>
                <a:latin typeface="Arial"/>
                <a:ea typeface="Arial"/>
                <a:cs typeface="Arial"/>
              </a:rPr>
              <a:t>Final preference</a:t>
            </a:r>
          </a:p>
        </p:txBody>
      </p:sp>
      <p:sp>
        <p:nvSpPr>
          <p:cNvPr id="192" name="line-190">
            <a:extLst>
              <a:ext uri="{FF2B5EF4-FFF2-40B4-BE49-F238E27FC236}">
                <a16:creationId xmlns:a16="http://schemas.microsoft.com/office/drawing/2014/main" id="{2C6A3597-76CA-487F-A5F9-01582BA21B34}"/>
              </a:ext>
            </a:extLst>
          </p:cNvPr>
          <p:cNvSpPr>
            <a:spLocks noGrp="1"/>
          </p:cNvSpPr>
          <p:nvPr/>
        </p:nvSpPr>
        <p:spPr>
          <a:xfrm>
            <a:off x="16011525" y="3429000"/>
            <a:ext cx="9525" cy="2390775"/>
          </a:xfrm>
          <a:custGeom>
            <a:avLst/>
            <a:gdLst/>
            <a:ahLst/>
            <a:cxnLst/>
            <a:rect l="0" t="0" r="0" b="0"/>
            <a:pathLst>
              <a:path w="9525" h="2390775">
                <a:moveTo>
                  <a:pt x="0" y="0"/>
                </a:moveTo>
                <a:lnTo>
                  <a:pt x="0" y="2390775"/>
                </a:lnTo>
              </a:path>
            </a:pathLst>
          </a:custGeom>
          <a:noFill/>
          <a:ln w="19050">
            <a:solidFill>
              <a:srgbClr val="122C50"/>
            </a:solidFill>
            <a:prstDash val="solid"/>
          </a:ln>
        </p:spPr>
        <p:txBody>
          <a:bodyPr/>
          <a:p/>
        </p:txBody>
      </p:sp>
      <p:sp>
        <p:nvSpPr>
          <p:cNvPr id="193" name="arrow-191">
            <a:extLst>
              <a:ext uri="{FF2B5EF4-FFF2-40B4-BE49-F238E27FC236}">
                <a16:creationId xmlns:a16="http://schemas.microsoft.com/office/drawing/2014/main" id="{30AF9BEA-5D59-4104-AA37-BC0ABCA60D45}"/>
              </a:ext>
            </a:extLst>
          </p:cNvPr>
          <p:cNvSpPr>
            <a:spLocks noGrp="1"/>
          </p:cNvSpPr>
          <p:nvPr/>
        </p:nvSpPr>
        <p:spPr>
          <a:xfrm>
            <a:off x="15968663" y="5734050"/>
            <a:ext cx="85725" cy="85725"/>
          </a:xfrm>
          <a:custGeom>
            <a:avLst/>
            <a:gdLst/>
            <a:ahLst/>
            <a:cxnLst/>
            <a:rect l="0" t="0" r="0" b="0"/>
            <a:pathLst>
              <a:path w="85725" h="85725">
                <a:moveTo>
                  <a:pt x="42863" y="85725"/>
                </a:moveTo>
                <a:lnTo>
                  <a:pt x="85725" y="0"/>
                </a:lnTo>
                <a:lnTo>
                  <a:pt x="0" y="0"/>
                </a:lnTo>
                <a:lnTo>
                  <a:pt x="42863" y="85725"/>
                </a:lnTo>
              </a:path>
            </a:pathLst>
          </a:custGeom>
          <a:solidFill>
            <a:srgbClr val="122C50"/>
          </a:solidFill>
          <a:ln w="2858">
            <a:solidFill>
              <a:srgbClr val="122C50"/>
            </a:solidFill>
          </a:ln>
        </p:spPr>
        <p:txBody>
          <a:bodyPr/>
          <a:p/>
        </p:txBody>
      </p:sp>
      <p:sp>
        <p:nvSpPr>
          <p:cNvPr id="194" name="line-192">
            <a:extLst>
              <a:ext uri="{FF2B5EF4-FFF2-40B4-BE49-F238E27FC236}">
                <a16:creationId xmlns:a16="http://schemas.microsoft.com/office/drawing/2014/main" id="{337D3099-82BB-4A38-BB0D-438737CE4690}"/>
              </a:ext>
            </a:extLst>
          </p:cNvPr>
          <p:cNvSpPr>
            <a:spLocks noGrp="1"/>
          </p:cNvSpPr>
          <p:nvPr/>
        </p:nvSpPr>
        <p:spPr>
          <a:xfrm>
            <a:off x="266700" y="5638800"/>
            <a:ext cx="16611600" cy="9525"/>
          </a:xfrm>
          <a:custGeom>
            <a:avLst/>
            <a:gdLst/>
            <a:ahLst/>
            <a:cxnLst/>
            <a:rect l="0" t="0" r="0" b="0"/>
            <a:pathLst>
              <a:path w="16611600" h="9525">
                <a:moveTo>
                  <a:pt x="0" y="0"/>
                </a:moveTo>
                <a:lnTo>
                  <a:pt x="16611600" y="0"/>
                </a:lnTo>
              </a:path>
            </a:pathLst>
          </a:custGeom>
          <a:noFill/>
          <a:ln w="12383">
            <a:solidFill>
              <a:srgbClr val="D6E0EA"/>
            </a:solidFill>
            <a:prstDash val="solid"/>
          </a:ln>
        </p:spPr>
        <p:txBody>
          <a:bodyPr/>
          <a:p/>
        </p:txBody>
      </p:sp>
      <p:sp>
        <p:nvSpPr>
          <p:cNvPr id="195" name="element-193">
            <a:extLst>
              <a:ext uri="{FF2B5EF4-FFF2-40B4-BE49-F238E27FC236}">
                <a16:creationId xmlns:a16="http://schemas.microsoft.com/office/drawing/2014/main" id="{229B6C56-AC08-480F-879D-42E79530C064}"/>
              </a:ext>
            </a:extLst>
          </p:cNvPr>
          <p:cNvSpPr>
            <a:spLocks noGrp="1"/>
          </p:cNvSpPr>
          <p:nvPr/>
        </p:nvSpPr>
        <p:spPr>
          <a:xfrm>
            <a:off x="5219700" y="5848350"/>
            <a:ext cx="6638925" cy="400050"/>
          </a:xfrm>
          <a:prstGeom prst="rect">
            <a:avLst/>
          </a:prstGeom>
          <a:noFill/>
          <a:ln w="0">
            <a:noFill/>
          </a:ln>
        </p:spPr>
        <p:txBody>
          <a:bodyPr lIns="0" tIns="0" rIns="0" bIns="0" anchor="ctr">
            <a:noAutofit/>
          </a:bodyPr>
          <a:lstStyle/>
          <a:p>
            <a:pPr algn="l">
              <a:defRPr sz="2175" b="1">
                <a:solidFill>
                  <a:srgbClr val="122C50"/>
                </a:solidFill>
                <a:latin typeface="Arial"/>
                <a:ea typeface="Arial"/>
                <a:cs typeface="Arial"/>
              </a:defRPr>
            </a:pPr>
            <a:r>
              <a:rPr sz="2175" b="1" dirty="0">
                <a:solidFill>
                  <a:srgbClr val="122C50"/>
                </a:solidFill>
                <a:latin typeface="Arial"/>
                <a:ea typeface="Arial"/>
                <a:cs typeface="Arial"/>
              </a:rPr>
              <a:t>(b) Hierarchical reflection and rubric evolution</a:t>
            </a:r>
          </a:p>
        </p:txBody>
      </p:sp>
      <p:sp>
        <p:nvSpPr>
          <p:cNvPr id="196" name="element-194">
            <a:extLst>
              <a:ext uri="{FF2B5EF4-FFF2-40B4-BE49-F238E27FC236}">
                <a16:creationId xmlns:a16="http://schemas.microsoft.com/office/drawing/2014/main" id="{E0F833C6-C380-4707-B328-C69C05646A0B}"/>
              </a:ext>
            </a:extLst>
          </p:cNvPr>
          <p:cNvSpPr>
            <a:spLocks noGrp="1"/>
          </p:cNvSpPr>
          <p:nvPr/>
        </p:nvSpPr>
        <p:spPr>
          <a:xfrm>
            <a:off x="276226" y="6679002"/>
            <a:ext cx="4572000" cy="1990725"/>
          </a:xfrm>
          <a:prstGeom prst="roundRect">
            <a:avLst>
              <a:gd name="adj" fmla="val 3828"/>
            </a:avLst>
          </a:prstGeom>
          <a:solidFill>
            <a:srgbClr val="F7FAFE"/>
          </a:solidFill>
          <a:ln w="14288">
            <a:solidFill>
              <a:srgbClr val="BCD0E3"/>
            </a:solidFill>
          </a:ln>
        </p:spPr>
        <p:txBody>
          <a:bodyPr/>
          <a:p/>
        </p:txBody>
      </p:sp>
      <p:sp>
        <p:nvSpPr>
          <p:cNvPr id="197" name="element-195">
            <a:extLst>
              <a:ext uri="{FF2B5EF4-FFF2-40B4-BE49-F238E27FC236}">
                <a16:creationId xmlns:a16="http://schemas.microsoft.com/office/drawing/2014/main" id="{3B62E786-298A-410F-9183-E47BB8B34043}"/>
              </a:ext>
            </a:extLst>
          </p:cNvPr>
          <p:cNvSpPr>
            <a:spLocks noGrp="1"/>
          </p:cNvSpPr>
          <p:nvPr/>
        </p:nvSpPr>
        <p:spPr>
          <a:xfrm>
            <a:off x="457200" y="6800850"/>
            <a:ext cx="2762250" cy="295275"/>
          </a:xfrm>
          <a:prstGeom prst="rect">
            <a:avLst/>
          </a:prstGeom>
          <a:noFill/>
          <a:ln w="0">
            <a:noFill/>
          </a:ln>
        </p:spPr>
        <p:txBody>
          <a:bodyPr lIns="0" tIns="0" rIns="0" bIns="0" anchor="ctr">
            <a:noAutofit/>
          </a:bodyPr>
          <a:lstStyle/>
          <a:p>
            <a:pPr algn="l">
              <a:defRPr sz="1875" b="1">
                <a:solidFill>
                  <a:srgbClr val="122C50"/>
                </a:solidFill>
                <a:latin typeface="Arial"/>
                <a:ea typeface="Arial"/>
                <a:cs typeface="Arial"/>
              </a:defRPr>
            </a:pPr>
            <a:r>
              <a:rPr sz="1875" b="1" dirty="0">
                <a:solidFill>
                  <a:srgbClr val="122C50"/>
                </a:solidFill>
                <a:latin typeface="Arial"/>
                <a:ea typeface="Arial"/>
                <a:cs typeface="Arial"/>
              </a:rPr>
              <a:t>Root-local generation</a:t>
            </a:r>
          </a:p>
        </p:txBody>
      </p:sp>
      <p:sp>
        <p:nvSpPr>
          <p:cNvPr id="198" name="element-196">
            <a:extLst>
              <a:ext uri="{FF2B5EF4-FFF2-40B4-BE49-F238E27FC236}">
                <a16:creationId xmlns:a16="http://schemas.microsoft.com/office/drawing/2014/main" id="{212AC7B2-EA8F-4E5B-AD6F-59C32613ED1C}"/>
              </a:ext>
            </a:extLst>
          </p:cNvPr>
          <p:cNvSpPr>
            <a:spLocks noGrp="1"/>
          </p:cNvSpPr>
          <p:nvPr/>
        </p:nvSpPr>
        <p:spPr>
          <a:xfrm>
            <a:off x="3314700" y="6858000"/>
            <a:ext cx="1409700" cy="219075"/>
          </a:xfrm>
          <a:prstGeom prst="rect">
            <a:avLst/>
          </a:prstGeom>
          <a:noFill/>
          <a:ln w="0">
            <a:noFill/>
          </a:ln>
        </p:spPr>
        <p:txBody>
          <a:bodyPr lIns="0" tIns="0" rIns="0" bIns="0" anchor="ctr">
            <a:noAutofit/>
          </a:bodyPr>
          <a:lstStyle/>
          <a:p>
            <a:pPr algn="r">
              <a:defRPr sz="1125" b="0">
                <a:solidFill>
                  <a:srgbClr val="5B6C80"/>
                </a:solidFill>
                <a:latin typeface="Arial"/>
                <a:ea typeface="Arial"/>
                <a:cs typeface="Arial"/>
              </a:defRPr>
            </a:pPr>
            <a:r>
              <a:rPr sz="1125" b="0">
                <a:solidFill>
                  <a:srgbClr val="5B6C80"/>
                </a:solidFill>
                <a:latin typeface="Arial"/>
                <a:ea typeface="Arial"/>
                <a:cs typeface="Arial"/>
              </a:rPr>
              <a:t>One root (example)</a:t>
            </a:r>
          </a:p>
        </p:txBody>
      </p:sp>
      <p:sp>
        <p:nvSpPr>
          <p:cNvPr id="199" name="element-197">
            <a:extLst>
              <a:ext uri="{FF2B5EF4-FFF2-40B4-BE49-F238E27FC236}">
                <a16:creationId xmlns:a16="http://schemas.microsoft.com/office/drawing/2014/main" id="{AA2CF23E-4205-4C79-B6A1-73C1878FFCA1}"/>
              </a:ext>
            </a:extLst>
          </p:cNvPr>
          <p:cNvSpPr>
            <a:spLocks noGrp="1"/>
          </p:cNvSpPr>
          <p:nvPr/>
        </p:nvSpPr>
        <p:spPr>
          <a:xfrm>
            <a:off x="457200" y="7362825"/>
            <a:ext cx="171450" cy="266700"/>
          </a:xfrm>
          <a:prstGeom prst="roundRect">
            <a:avLst>
              <a:gd name="adj" fmla="val 16667"/>
            </a:avLst>
          </a:prstGeom>
          <a:solidFill>
            <a:srgbClr val="FFFFFF"/>
          </a:solidFill>
          <a:ln w="14288">
            <a:solidFill>
              <a:srgbClr val="122C50"/>
            </a:solidFill>
          </a:ln>
        </p:spPr>
        <p:txBody>
          <a:bodyPr/>
          <a:p/>
        </p:txBody>
      </p:sp>
      <p:sp>
        <p:nvSpPr>
          <p:cNvPr id="200" name="line-198">
            <a:extLst>
              <a:ext uri="{FF2B5EF4-FFF2-40B4-BE49-F238E27FC236}">
                <a16:creationId xmlns:a16="http://schemas.microsoft.com/office/drawing/2014/main" id="{51A96F5D-0319-4206-90E5-57E793EC2EAC}"/>
              </a:ext>
            </a:extLst>
          </p:cNvPr>
          <p:cNvSpPr>
            <a:spLocks noGrp="1"/>
          </p:cNvSpPr>
          <p:nvPr/>
        </p:nvSpPr>
        <p:spPr>
          <a:xfrm>
            <a:off x="491490" y="7442835"/>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01" name="line-199">
            <a:extLst>
              <a:ext uri="{FF2B5EF4-FFF2-40B4-BE49-F238E27FC236}">
                <a16:creationId xmlns:a16="http://schemas.microsoft.com/office/drawing/2014/main" id="{554EB884-608E-4159-A029-B32FAE7A28F2}"/>
              </a:ext>
            </a:extLst>
          </p:cNvPr>
          <p:cNvSpPr>
            <a:spLocks noGrp="1"/>
          </p:cNvSpPr>
          <p:nvPr/>
        </p:nvSpPr>
        <p:spPr>
          <a:xfrm>
            <a:off x="491490" y="7490841"/>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02" name="line-200">
            <a:extLst>
              <a:ext uri="{FF2B5EF4-FFF2-40B4-BE49-F238E27FC236}">
                <a16:creationId xmlns:a16="http://schemas.microsoft.com/office/drawing/2014/main" id="{BCB1910C-85FE-4D10-8641-93674DFA3B91}"/>
              </a:ext>
            </a:extLst>
          </p:cNvPr>
          <p:cNvSpPr>
            <a:spLocks noGrp="1"/>
          </p:cNvSpPr>
          <p:nvPr/>
        </p:nvSpPr>
        <p:spPr>
          <a:xfrm>
            <a:off x="491490" y="7538847"/>
            <a:ext cx="77153" cy="9525"/>
          </a:xfrm>
          <a:custGeom>
            <a:avLst/>
            <a:gdLst/>
            <a:ahLst/>
            <a:cxnLst/>
            <a:rect l="0" t="0" r="0" b="0"/>
            <a:pathLst>
              <a:path w="77153" h="9525">
                <a:moveTo>
                  <a:pt x="0" y="0"/>
                </a:moveTo>
                <a:lnTo>
                  <a:pt x="77153" y="0"/>
                </a:lnTo>
              </a:path>
            </a:pathLst>
          </a:custGeom>
          <a:noFill/>
          <a:ln w="12383">
            <a:solidFill>
              <a:srgbClr val="122C50"/>
            </a:solidFill>
            <a:prstDash val="solid"/>
          </a:ln>
        </p:spPr>
        <p:txBody>
          <a:bodyPr/>
          <a:p/>
        </p:txBody>
      </p:sp>
      <p:sp>
        <p:nvSpPr>
          <p:cNvPr id="203" name="element-201">
            <a:extLst>
              <a:ext uri="{FF2B5EF4-FFF2-40B4-BE49-F238E27FC236}">
                <a16:creationId xmlns:a16="http://schemas.microsoft.com/office/drawing/2014/main" id="{EFB3BE7E-91EC-4076-AD9C-A16205A1A8C8}"/>
              </a:ext>
            </a:extLst>
          </p:cNvPr>
          <p:cNvSpPr>
            <a:spLocks noGrp="1"/>
          </p:cNvSpPr>
          <p:nvPr/>
        </p:nvSpPr>
        <p:spPr>
          <a:xfrm>
            <a:off x="685800" y="7362825"/>
            <a:ext cx="171450" cy="266700"/>
          </a:xfrm>
          <a:prstGeom prst="roundRect">
            <a:avLst>
              <a:gd name="adj" fmla="val 16667"/>
            </a:avLst>
          </a:prstGeom>
          <a:solidFill>
            <a:srgbClr val="FFFFFF"/>
          </a:solidFill>
          <a:ln w="14288">
            <a:solidFill>
              <a:srgbClr val="122C50"/>
            </a:solidFill>
          </a:ln>
        </p:spPr>
        <p:txBody>
          <a:bodyPr/>
          <a:p/>
        </p:txBody>
      </p:sp>
      <p:sp>
        <p:nvSpPr>
          <p:cNvPr id="204" name="line-202">
            <a:extLst>
              <a:ext uri="{FF2B5EF4-FFF2-40B4-BE49-F238E27FC236}">
                <a16:creationId xmlns:a16="http://schemas.microsoft.com/office/drawing/2014/main" id="{0DFEB0AB-AF31-40EF-9D6A-0983FDA36540}"/>
              </a:ext>
            </a:extLst>
          </p:cNvPr>
          <p:cNvSpPr>
            <a:spLocks noGrp="1"/>
          </p:cNvSpPr>
          <p:nvPr/>
        </p:nvSpPr>
        <p:spPr>
          <a:xfrm>
            <a:off x="720090" y="7442835"/>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05" name="line-203">
            <a:extLst>
              <a:ext uri="{FF2B5EF4-FFF2-40B4-BE49-F238E27FC236}">
                <a16:creationId xmlns:a16="http://schemas.microsoft.com/office/drawing/2014/main" id="{64A0D7B6-45E6-445E-A217-3DBDF473BEF3}"/>
              </a:ext>
            </a:extLst>
          </p:cNvPr>
          <p:cNvSpPr>
            <a:spLocks noGrp="1"/>
          </p:cNvSpPr>
          <p:nvPr/>
        </p:nvSpPr>
        <p:spPr>
          <a:xfrm>
            <a:off x="720090" y="7490841"/>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06" name="line-204">
            <a:extLst>
              <a:ext uri="{FF2B5EF4-FFF2-40B4-BE49-F238E27FC236}">
                <a16:creationId xmlns:a16="http://schemas.microsoft.com/office/drawing/2014/main" id="{A6F41DB9-F47E-4457-B9F4-D25D66DA0EF5}"/>
              </a:ext>
            </a:extLst>
          </p:cNvPr>
          <p:cNvSpPr>
            <a:spLocks noGrp="1"/>
          </p:cNvSpPr>
          <p:nvPr/>
        </p:nvSpPr>
        <p:spPr>
          <a:xfrm>
            <a:off x="720090" y="7538847"/>
            <a:ext cx="77153" cy="9525"/>
          </a:xfrm>
          <a:custGeom>
            <a:avLst/>
            <a:gdLst/>
            <a:ahLst/>
            <a:cxnLst/>
            <a:rect l="0" t="0" r="0" b="0"/>
            <a:pathLst>
              <a:path w="77153" h="9525">
                <a:moveTo>
                  <a:pt x="0" y="0"/>
                </a:moveTo>
                <a:lnTo>
                  <a:pt x="77153" y="0"/>
                </a:lnTo>
              </a:path>
            </a:pathLst>
          </a:custGeom>
          <a:noFill/>
          <a:ln w="12383">
            <a:solidFill>
              <a:srgbClr val="122C50"/>
            </a:solidFill>
            <a:prstDash val="solid"/>
          </a:ln>
        </p:spPr>
        <p:txBody>
          <a:bodyPr/>
          <a:p/>
        </p:txBody>
      </p:sp>
      <p:sp>
        <p:nvSpPr>
          <p:cNvPr id="207" name="element-205">
            <a:extLst>
              <a:ext uri="{FF2B5EF4-FFF2-40B4-BE49-F238E27FC236}">
                <a16:creationId xmlns:a16="http://schemas.microsoft.com/office/drawing/2014/main" id="{9FEEF54C-AFFA-4601-B510-E729D7022AC5}"/>
              </a:ext>
            </a:extLst>
          </p:cNvPr>
          <p:cNvSpPr>
            <a:spLocks noGrp="1"/>
          </p:cNvSpPr>
          <p:nvPr/>
        </p:nvSpPr>
        <p:spPr>
          <a:xfrm>
            <a:off x="914400" y="7362825"/>
            <a:ext cx="171450" cy="266700"/>
          </a:xfrm>
          <a:prstGeom prst="roundRect">
            <a:avLst>
              <a:gd name="adj" fmla="val 16667"/>
            </a:avLst>
          </a:prstGeom>
          <a:solidFill>
            <a:srgbClr val="FFFFFF"/>
          </a:solidFill>
          <a:ln w="14288">
            <a:solidFill>
              <a:srgbClr val="122C50"/>
            </a:solidFill>
          </a:ln>
        </p:spPr>
        <p:txBody>
          <a:bodyPr/>
          <a:p/>
        </p:txBody>
      </p:sp>
      <p:sp>
        <p:nvSpPr>
          <p:cNvPr id="208" name="line-206">
            <a:extLst>
              <a:ext uri="{FF2B5EF4-FFF2-40B4-BE49-F238E27FC236}">
                <a16:creationId xmlns:a16="http://schemas.microsoft.com/office/drawing/2014/main" id="{133E01ED-1749-40D9-BCD5-FEC9DC1494A7}"/>
              </a:ext>
            </a:extLst>
          </p:cNvPr>
          <p:cNvSpPr>
            <a:spLocks noGrp="1"/>
          </p:cNvSpPr>
          <p:nvPr/>
        </p:nvSpPr>
        <p:spPr>
          <a:xfrm>
            <a:off x="948690" y="7442835"/>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09" name="line-207">
            <a:extLst>
              <a:ext uri="{FF2B5EF4-FFF2-40B4-BE49-F238E27FC236}">
                <a16:creationId xmlns:a16="http://schemas.microsoft.com/office/drawing/2014/main" id="{9D95131B-8DA0-438C-A75D-EA3F61E0D134}"/>
              </a:ext>
            </a:extLst>
          </p:cNvPr>
          <p:cNvSpPr>
            <a:spLocks noGrp="1"/>
          </p:cNvSpPr>
          <p:nvPr/>
        </p:nvSpPr>
        <p:spPr>
          <a:xfrm>
            <a:off x="948690" y="7490841"/>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10" name="line-208">
            <a:extLst>
              <a:ext uri="{FF2B5EF4-FFF2-40B4-BE49-F238E27FC236}">
                <a16:creationId xmlns:a16="http://schemas.microsoft.com/office/drawing/2014/main" id="{E9B755B7-787F-4381-8D0D-405A42C487FC}"/>
              </a:ext>
            </a:extLst>
          </p:cNvPr>
          <p:cNvSpPr>
            <a:spLocks noGrp="1"/>
          </p:cNvSpPr>
          <p:nvPr/>
        </p:nvSpPr>
        <p:spPr>
          <a:xfrm>
            <a:off x="948690" y="7538847"/>
            <a:ext cx="77153" cy="9525"/>
          </a:xfrm>
          <a:custGeom>
            <a:avLst/>
            <a:gdLst/>
            <a:ahLst/>
            <a:cxnLst/>
            <a:rect l="0" t="0" r="0" b="0"/>
            <a:pathLst>
              <a:path w="77153" h="9525">
                <a:moveTo>
                  <a:pt x="0" y="0"/>
                </a:moveTo>
                <a:lnTo>
                  <a:pt x="77153" y="0"/>
                </a:lnTo>
              </a:path>
            </a:pathLst>
          </a:custGeom>
          <a:noFill/>
          <a:ln w="12383">
            <a:solidFill>
              <a:srgbClr val="122C50"/>
            </a:solidFill>
            <a:prstDash val="solid"/>
          </a:ln>
        </p:spPr>
        <p:txBody>
          <a:bodyPr/>
          <a:p/>
        </p:txBody>
      </p:sp>
      <p:sp>
        <p:nvSpPr>
          <p:cNvPr id="211" name="element-209">
            <a:extLst>
              <a:ext uri="{FF2B5EF4-FFF2-40B4-BE49-F238E27FC236}">
                <a16:creationId xmlns:a16="http://schemas.microsoft.com/office/drawing/2014/main" id="{BCDAAF73-D0B1-4F82-B413-F4365AC53A7A}"/>
              </a:ext>
            </a:extLst>
          </p:cNvPr>
          <p:cNvSpPr>
            <a:spLocks noGrp="1"/>
          </p:cNvSpPr>
          <p:nvPr/>
        </p:nvSpPr>
        <p:spPr>
          <a:xfrm>
            <a:off x="457200" y="7734300"/>
            <a:ext cx="171450" cy="266700"/>
          </a:xfrm>
          <a:prstGeom prst="roundRect">
            <a:avLst>
              <a:gd name="adj" fmla="val 16667"/>
            </a:avLst>
          </a:prstGeom>
          <a:solidFill>
            <a:srgbClr val="FFFFFF"/>
          </a:solidFill>
          <a:ln w="14288">
            <a:solidFill>
              <a:srgbClr val="122C50"/>
            </a:solidFill>
          </a:ln>
        </p:spPr>
        <p:txBody>
          <a:bodyPr/>
          <a:p/>
        </p:txBody>
      </p:sp>
      <p:sp>
        <p:nvSpPr>
          <p:cNvPr id="212" name="line-210">
            <a:extLst>
              <a:ext uri="{FF2B5EF4-FFF2-40B4-BE49-F238E27FC236}">
                <a16:creationId xmlns:a16="http://schemas.microsoft.com/office/drawing/2014/main" id="{EFE1F824-4BB9-452F-81B7-A478C5355F2C}"/>
              </a:ext>
            </a:extLst>
          </p:cNvPr>
          <p:cNvSpPr>
            <a:spLocks noGrp="1"/>
          </p:cNvSpPr>
          <p:nvPr/>
        </p:nvSpPr>
        <p:spPr>
          <a:xfrm>
            <a:off x="491490" y="7814310"/>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13" name="line-211">
            <a:extLst>
              <a:ext uri="{FF2B5EF4-FFF2-40B4-BE49-F238E27FC236}">
                <a16:creationId xmlns:a16="http://schemas.microsoft.com/office/drawing/2014/main" id="{4411BB01-01AD-45DD-AFD7-BA47E1FC5940}"/>
              </a:ext>
            </a:extLst>
          </p:cNvPr>
          <p:cNvSpPr>
            <a:spLocks noGrp="1"/>
          </p:cNvSpPr>
          <p:nvPr/>
        </p:nvSpPr>
        <p:spPr>
          <a:xfrm>
            <a:off x="491490" y="7862316"/>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14" name="line-212">
            <a:extLst>
              <a:ext uri="{FF2B5EF4-FFF2-40B4-BE49-F238E27FC236}">
                <a16:creationId xmlns:a16="http://schemas.microsoft.com/office/drawing/2014/main" id="{CBBE224F-664D-42FE-8CC3-2FE864576507}"/>
              </a:ext>
            </a:extLst>
          </p:cNvPr>
          <p:cNvSpPr>
            <a:spLocks noGrp="1"/>
          </p:cNvSpPr>
          <p:nvPr/>
        </p:nvSpPr>
        <p:spPr>
          <a:xfrm>
            <a:off x="491490" y="7910322"/>
            <a:ext cx="77153" cy="9525"/>
          </a:xfrm>
          <a:custGeom>
            <a:avLst/>
            <a:gdLst/>
            <a:ahLst/>
            <a:cxnLst/>
            <a:rect l="0" t="0" r="0" b="0"/>
            <a:pathLst>
              <a:path w="77153" h="9525">
                <a:moveTo>
                  <a:pt x="0" y="0"/>
                </a:moveTo>
                <a:lnTo>
                  <a:pt x="77153" y="0"/>
                </a:lnTo>
              </a:path>
            </a:pathLst>
          </a:custGeom>
          <a:noFill/>
          <a:ln w="12383">
            <a:solidFill>
              <a:srgbClr val="122C50"/>
            </a:solidFill>
            <a:prstDash val="solid"/>
          </a:ln>
        </p:spPr>
        <p:txBody>
          <a:bodyPr/>
          <a:p/>
        </p:txBody>
      </p:sp>
      <p:sp>
        <p:nvSpPr>
          <p:cNvPr id="215" name="element-213">
            <a:extLst>
              <a:ext uri="{FF2B5EF4-FFF2-40B4-BE49-F238E27FC236}">
                <a16:creationId xmlns:a16="http://schemas.microsoft.com/office/drawing/2014/main" id="{D50E1E1D-44D0-473E-9809-8407D63D5B8F}"/>
              </a:ext>
            </a:extLst>
          </p:cNvPr>
          <p:cNvSpPr>
            <a:spLocks noGrp="1"/>
          </p:cNvSpPr>
          <p:nvPr/>
        </p:nvSpPr>
        <p:spPr>
          <a:xfrm>
            <a:off x="685800" y="7734300"/>
            <a:ext cx="171450" cy="266700"/>
          </a:xfrm>
          <a:prstGeom prst="roundRect">
            <a:avLst>
              <a:gd name="adj" fmla="val 16667"/>
            </a:avLst>
          </a:prstGeom>
          <a:solidFill>
            <a:srgbClr val="FFFFFF"/>
          </a:solidFill>
          <a:ln w="14288">
            <a:solidFill>
              <a:srgbClr val="122C50"/>
            </a:solidFill>
          </a:ln>
        </p:spPr>
        <p:txBody>
          <a:bodyPr/>
          <a:p/>
        </p:txBody>
      </p:sp>
      <p:sp>
        <p:nvSpPr>
          <p:cNvPr id="216" name="line-214">
            <a:extLst>
              <a:ext uri="{FF2B5EF4-FFF2-40B4-BE49-F238E27FC236}">
                <a16:creationId xmlns:a16="http://schemas.microsoft.com/office/drawing/2014/main" id="{6E6473CF-9B0C-4500-8CC9-6BD694335CB7}"/>
              </a:ext>
            </a:extLst>
          </p:cNvPr>
          <p:cNvSpPr>
            <a:spLocks noGrp="1"/>
          </p:cNvSpPr>
          <p:nvPr/>
        </p:nvSpPr>
        <p:spPr>
          <a:xfrm>
            <a:off x="720090" y="7814310"/>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17" name="line-215">
            <a:extLst>
              <a:ext uri="{FF2B5EF4-FFF2-40B4-BE49-F238E27FC236}">
                <a16:creationId xmlns:a16="http://schemas.microsoft.com/office/drawing/2014/main" id="{1BC25E87-FE6C-44B6-AFC4-7470D7D4DB97}"/>
              </a:ext>
            </a:extLst>
          </p:cNvPr>
          <p:cNvSpPr>
            <a:spLocks noGrp="1"/>
          </p:cNvSpPr>
          <p:nvPr/>
        </p:nvSpPr>
        <p:spPr>
          <a:xfrm>
            <a:off x="720090" y="7862316"/>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18" name="line-216">
            <a:extLst>
              <a:ext uri="{FF2B5EF4-FFF2-40B4-BE49-F238E27FC236}">
                <a16:creationId xmlns:a16="http://schemas.microsoft.com/office/drawing/2014/main" id="{12943BF7-F53E-48BA-B5C6-6BE32A03A5A2}"/>
              </a:ext>
            </a:extLst>
          </p:cNvPr>
          <p:cNvSpPr>
            <a:spLocks noGrp="1"/>
          </p:cNvSpPr>
          <p:nvPr/>
        </p:nvSpPr>
        <p:spPr>
          <a:xfrm>
            <a:off x="720090" y="7910322"/>
            <a:ext cx="77153" cy="9525"/>
          </a:xfrm>
          <a:custGeom>
            <a:avLst/>
            <a:gdLst/>
            <a:ahLst/>
            <a:cxnLst/>
            <a:rect l="0" t="0" r="0" b="0"/>
            <a:pathLst>
              <a:path w="77153" h="9525">
                <a:moveTo>
                  <a:pt x="0" y="0"/>
                </a:moveTo>
                <a:lnTo>
                  <a:pt x="77153" y="0"/>
                </a:lnTo>
              </a:path>
            </a:pathLst>
          </a:custGeom>
          <a:noFill/>
          <a:ln w="12383">
            <a:solidFill>
              <a:srgbClr val="122C50"/>
            </a:solidFill>
            <a:prstDash val="solid"/>
          </a:ln>
        </p:spPr>
        <p:txBody>
          <a:bodyPr/>
          <a:p/>
        </p:txBody>
      </p:sp>
      <p:sp>
        <p:nvSpPr>
          <p:cNvPr id="219" name="element-217">
            <a:extLst>
              <a:ext uri="{FF2B5EF4-FFF2-40B4-BE49-F238E27FC236}">
                <a16:creationId xmlns:a16="http://schemas.microsoft.com/office/drawing/2014/main" id="{4521C074-4C25-4611-A1CA-2948A6757EE8}"/>
              </a:ext>
            </a:extLst>
          </p:cNvPr>
          <p:cNvSpPr>
            <a:spLocks noGrp="1"/>
          </p:cNvSpPr>
          <p:nvPr/>
        </p:nvSpPr>
        <p:spPr>
          <a:xfrm>
            <a:off x="914400" y="7734300"/>
            <a:ext cx="171450" cy="266700"/>
          </a:xfrm>
          <a:prstGeom prst="roundRect">
            <a:avLst>
              <a:gd name="adj" fmla="val 16667"/>
            </a:avLst>
          </a:prstGeom>
          <a:solidFill>
            <a:srgbClr val="FFFFFF"/>
          </a:solidFill>
          <a:ln w="14288">
            <a:solidFill>
              <a:srgbClr val="122C50"/>
            </a:solidFill>
          </a:ln>
        </p:spPr>
        <p:txBody>
          <a:bodyPr/>
          <a:p/>
        </p:txBody>
      </p:sp>
      <p:sp>
        <p:nvSpPr>
          <p:cNvPr id="220" name="line-218">
            <a:extLst>
              <a:ext uri="{FF2B5EF4-FFF2-40B4-BE49-F238E27FC236}">
                <a16:creationId xmlns:a16="http://schemas.microsoft.com/office/drawing/2014/main" id="{B5DE4F93-1079-4BCE-B143-53F6FF3E52C5}"/>
              </a:ext>
            </a:extLst>
          </p:cNvPr>
          <p:cNvSpPr>
            <a:spLocks noGrp="1"/>
          </p:cNvSpPr>
          <p:nvPr/>
        </p:nvSpPr>
        <p:spPr>
          <a:xfrm>
            <a:off x="948690" y="7814310"/>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21" name="line-219">
            <a:extLst>
              <a:ext uri="{FF2B5EF4-FFF2-40B4-BE49-F238E27FC236}">
                <a16:creationId xmlns:a16="http://schemas.microsoft.com/office/drawing/2014/main" id="{7DCF9F22-E0C0-4C23-9CA2-B59AC3B044E7}"/>
              </a:ext>
            </a:extLst>
          </p:cNvPr>
          <p:cNvSpPr>
            <a:spLocks noGrp="1"/>
          </p:cNvSpPr>
          <p:nvPr/>
        </p:nvSpPr>
        <p:spPr>
          <a:xfrm>
            <a:off x="948690" y="7862316"/>
            <a:ext cx="102870" cy="9525"/>
          </a:xfrm>
          <a:custGeom>
            <a:avLst/>
            <a:gdLst/>
            <a:ahLst/>
            <a:cxnLst/>
            <a:rect l="0" t="0" r="0" b="0"/>
            <a:pathLst>
              <a:path w="102870" h="9525">
                <a:moveTo>
                  <a:pt x="0" y="0"/>
                </a:moveTo>
                <a:lnTo>
                  <a:pt x="102870" y="0"/>
                </a:lnTo>
              </a:path>
            </a:pathLst>
          </a:custGeom>
          <a:noFill/>
          <a:ln w="12383">
            <a:solidFill>
              <a:srgbClr val="122C50"/>
            </a:solidFill>
            <a:prstDash val="solid"/>
          </a:ln>
        </p:spPr>
        <p:txBody>
          <a:bodyPr/>
          <a:p/>
        </p:txBody>
      </p:sp>
      <p:sp>
        <p:nvSpPr>
          <p:cNvPr id="222" name="line-220">
            <a:extLst>
              <a:ext uri="{FF2B5EF4-FFF2-40B4-BE49-F238E27FC236}">
                <a16:creationId xmlns:a16="http://schemas.microsoft.com/office/drawing/2014/main" id="{45D8EF86-3AAC-401F-BB75-48F0FA586D83}"/>
              </a:ext>
            </a:extLst>
          </p:cNvPr>
          <p:cNvSpPr>
            <a:spLocks noGrp="1"/>
          </p:cNvSpPr>
          <p:nvPr/>
        </p:nvSpPr>
        <p:spPr>
          <a:xfrm>
            <a:off x="948690" y="7910322"/>
            <a:ext cx="77153" cy="9525"/>
          </a:xfrm>
          <a:custGeom>
            <a:avLst/>
            <a:gdLst/>
            <a:ahLst/>
            <a:cxnLst/>
            <a:rect l="0" t="0" r="0" b="0"/>
            <a:pathLst>
              <a:path w="77153" h="9525">
                <a:moveTo>
                  <a:pt x="0" y="0"/>
                </a:moveTo>
                <a:lnTo>
                  <a:pt x="77153" y="0"/>
                </a:lnTo>
              </a:path>
            </a:pathLst>
          </a:custGeom>
          <a:noFill/>
          <a:ln w="12383">
            <a:solidFill>
              <a:srgbClr val="122C50"/>
            </a:solidFill>
            <a:prstDash val="solid"/>
          </a:ln>
        </p:spPr>
        <p:txBody>
          <a:bodyPr/>
          <a:p/>
        </p:txBody>
      </p:sp>
      <p:sp>
        <p:nvSpPr>
          <p:cNvPr id="223" name="element-221">
            <a:extLst>
              <a:ext uri="{FF2B5EF4-FFF2-40B4-BE49-F238E27FC236}">
                <a16:creationId xmlns:a16="http://schemas.microsoft.com/office/drawing/2014/main" id="{0B1C1BFD-2EAA-4B96-B853-C0B1B14AC26C}"/>
              </a:ext>
            </a:extLst>
          </p:cNvPr>
          <p:cNvSpPr>
            <a:spLocks noGrp="1"/>
          </p:cNvSpPr>
          <p:nvPr/>
        </p:nvSpPr>
        <p:spPr>
          <a:xfrm>
            <a:off x="381000" y="8172450"/>
            <a:ext cx="933450" cy="419100"/>
          </a:xfrm>
          <a:prstGeom prst="rect">
            <a:avLst/>
          </a:prstGeom>
          <a:noFill/>
          <a:ln w="0">
            <a:noFill/>
          </a:ln>
        </p:spPr>
        <p:txBody>
          <a:bodyPr lIns="0" tIns="0" rIns="0" bIns="0" anchor="ctr">
            <a:noAutofit/>
          </a:bodyPr>
          <a:lstStyle/>
          <a:p>
            <a:pPr algn="ctr">
              <a:defRPr sz="1275" b="0">
                <a:solidFill>
                  <a:srgbClr val="122C50"/>
                </a:solidFill>
                <a:latin typeface="Arial"/>
                <a:ea typeface="Arial"/>
                <a:cs typeface="Arial"/>
              </a:defRPr>
            </a:pPr>
            <a:r>
              <a:rPr sz="1275" b="0">
                <a:solidFill>
                  <a:srgbClr val="122C50"/>
                </a:solidFill>
                <a:latin typeface="Arial"/>
                <a:ea typeface="Arial"/>
                <a:cs typeface="Arial"/>
              </a:rPr>
              <a:t>Original root</a:t>
            </a:r>
          </a:p>
          <a:p>
            <a:pPr algn="ctr">
              <a:defRPr sz="1275" b="0">
                <a:solidFill>
                  <a:srgbClr val="122C50"/>
                </a:solidFill>
                <a:latin typeface="Arial"/>
                <a:ea typeface="Arial"/>
                <a:cs typeface="Arial"/>
              </a:defRPr>
            </a:pPr>
            <a:r>
              <a:rPr sz="1275" b="0">
                <a:solidFill>
                  <a:srgbClr val="122C50"/>
                </a:solidFill>
                <a:latin typeface="Arial"/>
                <a:ea typeface="Arial"/>
                <a:cs typeface="Arial"/>
              </a:rPr>
              <a:t>errors</a:t>
            </a:r>
          </a:p>
        </p:txBody>
      </p:sp>
      <p:sp>
        <p:nvSpPr>
          <p:cNvPr id="224" name="line-222">
            <a:extLst>
              <a:ext uri="{FF2B5EF4-FFF2-40B4-BE49-F238E27FC236}">
                <a16:creationId xmlns:a16="http://schemas.microsoft.com/office/drawing/2014/main" id="{D8262514-890E-49BC-812C-A93E88474CB2}"/>
              </a:ext>
            </a:extLst>
          </p:cNvPr>
          <p:cNvSpPr>
            <a:spLocks noGrp="1"/>
          </p:cNvSpPr>
          <p:nvPr/>
        </p:nvSpPr>
        <p:spPr>
          <a:xfrm>
            <a:off x="1171575" y="7667625"/>
            <a:ext cx="266700" cy="9525"/>
          </a:xfrm>
          <a:custGeom>
            <a:avLst/>
            <a:gdLst/>
            <a:ahLst/>
            <a:cxnLst/>
            <a:rect l="0" t="0" r="0" b="0"/>
            <a:pathLst>
              <a:path w="266700" h="9525">
                <a:moveTo>
                  <a:pt x="0" y="0"/>
                </a:moveTo>
                <a:lnTo>
                  <a:pt x="266700" y="0"/>
                </a:lnTo>
              </a:path>
            </a:pathLst>
          </a:custGeom>
          <a:noFill/>
          <a:ln w="19050">
            <a:solidFill>
              <a:srgbClr val="122C50"/>
            </a:solidFill>
            <a:prstDash val="solid"/>
          </a:ln>
        </p:spPr>
        <p:txBody>
          <a:bodyPr/>
          <a:p/>
        </p:txBody>
      </p:sp>
      <p:sp>
        <p:nvSpPr>
          <p:cNvPr id="225" name="arrow-223">
            <a:extLst>
              <a:ext uri="{FF2B5EF4-FFF2-40B4-BE49-F238E27FC236}">
                <a16:creationId xmlns:a16="http://schemas.microsoft.com/office/drawing/2014/main" id="{24156453-186F-4AEC-B9C7-9FFAB5C6E050}"/>
              </a:ext>
            </a:extLst>
          </p:cNvPr>
          <p:cNvSpPr>
            <a:spLocks noGrp="1"/>
          </p:cNvSpPr>
          <p:nvPr/>
        </p:nvSpPr>
        <p:spPr>
          <a:xfrm>
            <a:off x="1352550" y="7624763"/>
            <a:ext cx="85725" cy="85725"/>
          </a:xfrm>
          <a:custGeom>
            <a:avLst/>
            <a:gdLst/>
            <a:ahLst/>
            <a:cxnLst/>
            <a:rect l="0" t="0" r="0" b="0"/>
            <a:pathLst>
              <a:path w="85725" h="85725">
                <a:moveTo>
                  <a:pt x="85725" y="42863"/>
                </a:moveTo>
                <a:lnTo>
                  <a:pt x="0" y="0"/>
                </a:lnTo>
                <a:lnTo>
                  <a:pt x="0" y="85725"/>
                </a:lnTo>
                <a:lnTo>
                  <a:pt x="85725" y="42863"/>
                </a:lnTo>
              </a:path>
            </a:pathLst>
          </a:custGeom>
          <a:solidFill>
            <a:srgbClr val="122C50"/>
          </a:solidFill>
          <a:ln w="2858">
            <a:solidFill>
              <a:srgbClr val="122C50"/>
            </a:solidFill>
          </a:ln>
        </p:spPr>
        <p:txBody>
          <a:bodyPr/>
          <a:p/>
        </p:txBody>
      </p:sp>
      <p:sp>
        <p:nvSpPr>
          <p:cNvPr id="226" name="element-224">
            <a:extLst>
              <a:ext uri="{FF2B5EF4-FFF2-40B4-BE49-F238E27FC236}">
                <a16:creationId xmlns:a16="http://schemas.microsoft.com/office/drawing/2014/main" id="{F1E6FCA4-CC13-4672-B9FC-5F4ED07E339E}"/>
              </a:ext>
            </a:extLst>
          </p:cNvPr>
          <p:cNvSpPr>
            <a:spLocks noGrp="1"/>
          </p:cNvSpPr>
          <p:nvPr/>
        </p:nvSpPr>
        <p:spPr>
          <a:xfrm>
            <a:off x="1514475" y="7362825"/>
            <a:ext cx="171450" cy="266700"/>
          </a:xfrm>
          <a:prstGeom prst="roundRect">
            <a:avLst>
              <a:gd name="adj" fmla="val 16667"/>
            </a:avLst>
          </a:prstGeom>
          <a:solidFill>
            <a:srgbClr val="FFFFFF"/>
          </a:solidFill>
          <a:ln w="14288">
            <a:solidFill>
              <a:srgbClr val="357FC0"/>
            </a:solidFill>
          </a:ln>
        </p:spPr>
        <p:txBody>
          <a:bodyPr/>
          <a:p/>
        </p:txBody>
      </p:sp>
      <p:sp>
        <p:nvSpPr>
          <p:cNvPr id="227" name="line-225">
            <a:extLst>
              <a:ext uri="{FF2B5EF4-FFF2-40B4-BE49-F238E27FC236}">
                <a16:creationId xmlns:a16="http://schemas.microsoft.com/office/drawing/2014/main" id="{B70A2B67-4738-4D6D-9B58-228BA4E79942}"/>
              </a:ext>
            </a:extLst>
          </p:cNvPr>
          <p:cNvSpPr>
            <a:spLocks noGrp="1"/>
          </p:cNvSpPr>
          <p:nvPr/>
        </p:nvSpPr>
        <p:spPr>
          <a:xfrm>
            <a:off x="1548765" y="7442835"/>
            <a:ext cx="102870" cy="9525"/>
          </a:xfrm>
          <a:custGeom>
            <a:avLst/>
            <a:gdLst/>
            <a:ahLst/>
            <a:cxnLst/>
            <a:rect l="0" t="0" r="0" b="0"/>
            <a:pathLst>
              <a:path w="102870" h="9525">
                <a:moveTo>
                  <a:pt x="0" y="0"/>
                </a:moveTo>
                <a:lnTo>
                  <a:pt x="102870" y="0"/>
                </a:lnTo>
              </a:path>
            </a:pathLst>
          </a:custGeom>
          <a:noFill/>
          <a:ln w="12383">
            <a:solidFill>
              <a:srgbClr val="357FC0"/>
            </a:solidFill>
            <a:prstDash val="solid"/>
          </a:ln>
        </p:spPr>
        <p:txBody>
          <a:bodyPr/>
          <a:p/>
        </p:txBody>
      </p:sp>
      <p:sp>
        <p:nvSpPr>
          <p:cNvPr id="228" name="line-226">
            <a:extLst>
              <a:ext uri="{FF2B5EF4-FFF2-40B4-BE49-F238E27FC236}">
                <a16:creationId xmlns:a16="http://schemas.microsoft.com/office/drawing/2014/main" id="{488EF242-D311-4659-8FF6-CE2FD276CF7E}"/>
              </a:ext>
            </a:extLst>
          </p:cNvPr>
          <p:cNvSpPr>
            <a:spLocks noGrp="1"/>
          </p:cNvSpPr>
          <p:nvPr/>
        </p:nvSpPr>
        <p:spPr>
          <a:xfrm>
            <a:off x="1548765" y="7490841"/>
            <a:ext cx="102870" cy="9525"/>
          </a:xfrm>
          <a:custGeom>
            <a:avLst/>
            <a:gdLst/>
            <a:ahLst/>
            <a:cxnLst/>
            <a:rect l="0" t="0" r="0" b="0"/>
            <a:pathLst>
              <a:path w="102870" h="9525">
                <a:moveTo>
                  <a:pt x="0" y="0"/>
                </a:moveTo>
                <a:lnTo>
                  <a:pt x="102870" y="0"/>
                </a:lnTo>
              </a:path>
            </a:pathLst>
          </a:custGeom>
          <a:noFill/>
          <a:ln w="12383">
            <a:solidFill>
              <a:srgbClr val="357FC0"/>
            </a:solidFill>
            <a:prstDash val="solid"/>
          </a:ln>
        </p:spPr>
        <p:txBody>
          <a:bodyPr/>
          <a:p/>
        </p:txBody>
      </p:sp>
      <p:sp>
        <p:nvSpPr>
          <p:cNvPr id="229" name="line-227">
            <a:extLst>
              <a:ext uri="{FF2B5EF4-FFF2-40B4-BE49-F238E27FC236}">
                <a16:creationId xmlns:a16="http://schemas.microsoft.com/office/drawing/2014/main" id="{731C6531-1FCE-4C5B-B71A-B804AF041299}"/>
              </a:ext>
            </a:extLst>
          </p:cNvPr>
          <p:cNvSpPr>
            <a:spLocks noGrp="1"/>
          </p:cNvSpPr>
          <p:nvPr/>
        </p:nvSpPr>
        <p:spPr>
          <a:xfrm>
            <a:off x="1548765" y="7538847"/>
            <a:ext cx="77152" cy="9525"/>
          </a:xfrm>
          <a:custGeom>
            <a:avLst/>
            <a:gdLst/>
            <a:ahLst/>
            <a:cxnLst/>
            <a:rect l="0" t="0" r="0" b="0"/>
            <a:pathLst>
              <a:path w="77152" h="9525">
                <a:moveTo>
                  <a:pt x="0" y="0"/>
                </a:moveTo>
                <a:lnTo>
                  <a:pt x="77152" y="0"/>
                </a:lnTo>
              </a:path>
            </a:pathLst>
          </a:custGeom>
          <a:noFill/>
          <a:ln w="12383">
            <a:solidFill>
              <a:srgbClr val="357FC0"/>
            </a:solidFill>
            <a:prstDash val="solid"/>
          </a:ln>
        </p:spPr>
        <p:txBody>
          <a:bodyPr/>
          <a:p/>
        </p:txBody>
      </p:sp>
      <p:sp>
        <p:nvSpPr>
          <p:cNvPr id="230" name="element-228">
            <a:extLst>
              <a:ext uri="{FF2B5EF4-FFF2-40B4-BE49-F238E27FC236}">
                <a16:creationId xmlns:a16="http://schemas.microsoft.com/office/drawing/2014/main" id="{CA2B0EA9-DFCF-4D43-B197-8EAE14ADC74B}"/>
              </a:ext>
            </a:extLst>
          </p:cNvPr>
          <p:cNvSpPr>
            <a:spLocks noGrp="1"/>
          </p:cNvSpPr>
          <p:nvPr/>
        </p:nvSpPr>
        <p:spPr>
          <a:xfrm>
            <a:off x="1743075" y="7362825"/>
            <a:ext cx="171450" cy="266700"/>
          </a:xfrm>
          <a:prstGeom prst="roundRect">
            <a:avLst>
              <a:gd name="adj" fmla="val 16667"/>
            </a:avLst>
          </a:prstGeom>
          <a:solidFill>
            <a:srgbClr val="FFFFFF"/>
          </a:solidFill>
          <a:ln w="14288">
            <a:solidFill>
              <a:srgbClr val="168D86"/>
            </a:solidFill>
          </a:ln>
        </p:spPr>
        <p:txBody>
          <a:bodyPr/>
          <a:p/>
        </p:txBody>
      </p:sp>
      <p:sp>
        <p:nvSpPr>
          <p:cNvPr id="231" name="line-229">
            <a:extLst>
              <a:ext uri="{FF2B5EF4-FFF2-40B4-BE49-F238E27FC236}">
                <a16:creationId xmlns:a16="http://schemas.microsoft.com/office/drawing/2014/main" id="{1E277BEC-497F-4A73-B170-F77457A71652}"/>
              </a:ext>
            </a:extLst>
          </p:cNvPr>
          <p:cNvSpPr>
            <a:spLocks noGrp="1"/>
          </p:cNvSpPr>
          <p:nvPr/>
        </p:nvSpPr>
        <p:spPr>
          <a:xfrm>
            <a:off x="1777365" y="7442835"/>
            <a:ext cx="102870" cy="9525"/>
          </a:xfrm>
          <a:custGeom>
            <a:avLst/>
            <a:gdLst/>
            <a:ahLst/>
            <a:cxnLst/>
            <a:rect l="0" t="0" r="0" b="0"/>
            <a:pathLst>
              <a:path w="102870" h="9525">
                <a:moveTo>
                  <a:pt x="0" y="0"/>
                </a:moveTo>
                <a:lnTo>
                  <a:pt x="102870" y="0"/>
                </a:lnTo>
              </a:path>
            </a:pathLst>
          </a:custGeom>
          <a:noFill/>
          <a:ln w="12383">
            <a:solidFill>
              <a:srgbClr val="168D86"/>
            </a:solidFill>
            <a:prstDash val="solid"/>
          </a:ln>
        </p:spPr>
        <p:txBody>
          <a:bodyPr/>
          <a:p/>
        </p:txBody>
      </p:sp>
      <p:sp>
        <p:nvSpPr>
          <p:cNvPr id="232" name="line-230">
            <a:extLst>
              <a:ext uri="{FF2B5EF4-FFF2-40B4-BE49-F238E27FC236}">
                <a16:creationId xmlns:a16="http://schemas.microsoft.com/office/drawing/2014/main" id="{200237C7-E3C1-4D45-B9AB-A01861B234A8}"/>
              </a:ext>
            </a:extLst>
          </p:cNvPr>
          <p:cNvSpPr>
            <a:spLocks noGrp="1"/>
          </p:cNvSpPr>
          <p:nvPr/>
        </p:nvSpPr>
        <p:spPr>
          <a:xfrm>
            <a:off x="1777365" y="7490841"/>
            <a:ext cx="102870" cy="9525"/>
          </a:xfrm>
          <a:custGeom>
            <a:avLst/>
            <a:gdLst/>
            <a:ahLst/>
            <a:cxnLst/>
            <a:rect l="0" t="0" r="0" b="0"/>
            <a:pathLst>
              <a:path w="102870" h="9525">
                <a:moveTo>
                  <a:pt x="0" y="0"/>
                </a:moveTo>
                <a:lnTo>
                  <a:pt x="102870" y="0"/>
                </a:lnTo>
              </a:path>
            </a:pathLst>
          </a:custGeom>
          <a:noFill/>
          <a:ln w="12383">
            <a:solidFill>
              <a:srgbClr val="168D86"/>
            </a:solidFill>
            <a:prstDash val="solid"/>
          </a:ln>
        </p:spPr>
        <p:txBody>
          <a:bodyPr/>
          <a:p/>
        </p:txBody>
      </p:sp>
      <p:sp>
        <p:nvSpPr>
          <p:cNvPr id="233" name="line-231">
            <a:extLst>
              <a:ext uri="{FF2B5EF4-FFF2-40B4-BE49-F238E27FC236}">
                <a16:creationId xmlns:a16="http://schemas.microsoft.com/office/drawing/2014/main" id="{6FA2EE03-5273-4389-AD82-EA00CE563CA4}"/>
              </a:ext>
            </a:extLst>
          </p:cNvPr>
          <p:cNvSpPr>
            <a:spLocks noGrp="1"/>
          </p:cNvSpPr>
          <p:nvPr/>
        </p:nvSpPr>
        <p:spPr>
          <a:xfrm>
            <a:off x="1777365" y="7538847"/>
            <a:ext cx="77152" cy="9525"/>
          </a:xfrm>
          <a:custGeom>
            <a:avLst/>
            <a:gdLst/>
            <a:ahLst/>
            <a:cxnLst/>
            <a:rect l="0" t="0" r="0" b="0"/>
            <a:pathLst>
              <a:path w="77152" h="9525">
                <a:moveTo>
                  <a:pt x="0" y="0"/>
                </a:moveTo>
                <a:lnTo>
                  <a:pt x="77152" y="0"/>
                </a:lnTo>
              </a:path>
            </a:pathLst>
          </a:custGeom>
          <a:noFill/>
          <a:ln w="12383">
            <a:solidFill>
              <a:srgbClr val="168D86"/>
            </a:solidFill>
            <a:prstDash val="solid"/>
          </a:ln>
        </p:spPr>
        <p:txBody>
          <a:bodyPr/>
          <a:p/>
        </p:txBody>
      </p:sp>
      <p:sp>
        <p:nvSpPr>
          <p:cNvPr id="234" name="element-232">
            <a:extLst>
              <a:ext uri="{FF2B5EF4-FFF2-40B4-BE49-F238E27FC236}">
                <a16:creationId xmlns:a16="http://schemas.microsoft.com/office/drawing/2014/main" id="{087CF6D8-2B7B-4C51-B9C4-F33751BF5AB4}"/>
              </a:ext>
            </a:extLst>
          </p:cNvPr>
          <p:cNvSpPr>
            <a:spLocks noGrp="1"/>
          </p:cNvSpPr>
          <p:nvPr/>
        </p:nvSpPr>
        <p:spPr>
          <a:xfrm>
            <a:off x="1971675" y="7362825"/>
            <a:ext cx="171450" cy="266700"/>
          </a:xfrm>
          <a:prstGeom prst="roundRect">
            <a:avLst>
              <a:gd name="adj" fmla="val 16667"/>
            </a:avLst>
          </a:prstGeom>
          <a:solidFill>
            <a:srgbClr val="FFFFFF"/>
          </a:solidFill>
          <a:ln w="14288">
            <a:solidFill>
              <a:srgbClr val="CD7939"/>
            </a:solidFill>
          </a:ln>
        </p:spPr>
        <p:txBody>
          <a:bodyPr/>
          <a:p/>
        </p:txBody>
      </p:sp>
      <p:sp>
        <p:nvSpPr>
          <p:cNvPr id="235" name="line-233">
            <a:extLst>
              <a:ext uri="{FF2B5EF4-FFF2-40B4-BE49-F238E27FC236}">
                <a16:creationId xmlns:a16="http://schemas.microsoft.com/office/drawing/2014/main" id="{C39C9DCC-5453-41E6-85FD-6117C9824039}"/>
              </a:ext>
            </a:extLst>
          </p:cNvPr>
          <p:cNvSpPr>
            <a:spLocks noGrp="1"/>
          </p:cNvSpPr>
          <p:nvPr/>
        </p:nvSpPr>
        <p:spPr>
          <a:xfrm>
            <a:off x="2005965" y="7442835"/>
            <a:ext cx="102870" cy="9525"/>
          </a:xfrm>
          <a:custGeom>
            <a:avLst/>
            <a:gdLst/>
            <a:ahLst/>
            <a:cxnLst/>
            <a:rect l="0" t="0" r="0" b="0"/>
            <a:pathLst>
              <a:path w="102870" h="9525">
                <a:moveTo>
                  <a:pt x="0" y="0"/>
                </a:moveTo>
                <a:lnTo>
                  <a:pt x="102870" y="0"/>
                </a:lnTo>
              </a:path>
            </a:pathLst>
          </a:custGeom>
          <a:noFill/>
          <a:ln w="12383">
            <a:solidFill>
              <a:srgbClr val="CD7939"/>
            </a:solidFill>
            <a:prstDash val="solid"/>
          </a:ln>
        </p:spPr>
        <p:txBody>
          <a:bodyPr/>
          <a:p/>
        </p:txBody>
      </p:sp>
      <p:sp>
        <p:nvSpPr>
          <p:cNvPr id="236" name="line-234">
            <a:extLst>
              <a:ext uri="{FF2B5EF4-FFF2-40B4-BE49-F238E27FC236}">
                <a16:creationId xmlns:a16="http://schemas.microsoft.com/office/drawing/2014/main" id="{9A473E18-3249-45B0-9828-D2CE4C655C74}"/>
              </a:ext>
            </a:extLst>
          </p:cNvPr>
          <p:cNvSpPr>
            <a:spLocks noGrp="1"/>
          </p:cNvSpPr>
          <p:nvPr/>
        </p:nvSpPr>
        <p:spPr>
          <a:xfrm>
            <a:off x="2005965" y="7490841"/>
            <a:ext cx="102870" cy="9525"/>
          </a:xfrm>
          <a:custGeom>
            <a:avLst/>
            <a:gdLst/>
            <a:ahLst/>
            <a:cxnLst/>
            <a:rect l="0" t="0" r="0" b="0"/>
            <a:pathLst>
              <a:path w="102870" h="9525">
                <a:moveTo>
                  <a:pt x="0" y="0"/>
                </a:moveTo>
                <a:lnTo>
                  <a:pt x="102870" y="0"/>
                </a:lnTo>
              </a:path>
            </a:pathLst>
          </a:custGeom>
          <a:noFill/>
          <a:ln w="12383">
            <a:solidFill>
              <a:srgbClr val="CD7939"/>
            </a:solidFill>
            <a:prstDash val="solid"/>
          </a:ln>
        </p:spPr>
        <p:txBody>
          <a:bodyPr/>
          <a:p/>
        </p:txBody>
      </p:sp>
      <p:sp>
        <p:nvSpPr>
          <p:cNvPr id="237" name="line-235">
            <a:extLst>
              <a:ext uri="{FF2B5EF4-FFF2-40B4-BE49-F238E27FC236}">
                <a16:creationId xmlns:a16="http://schemas.microsoft.com/office/drawing/2014/main" id="{6D1E0E60-7130-4501-A83B-D67CB1A922BA}"/>
              </a:ext>
            </a:extLst>
          </p:cNvPr>
          <p:cNvSpPr>
            <a:spLocks noGrp="1"/>
          </p:cNvSpPr>
          <p:nvPr/>
        </p:nvSpPr>
        <p:spPr>
          <a:xfrm>
            <a:off x="2005965" y="7538847"/>
            <a:ext cx="77152" cy="9525"/>
          </a:xfrm>
          <a:custGeom>
            <a:avLst/>
            <a:gdLst/>
            <a:ahLst/>
            <a:cxnLst/>
            <a:rect l="0" t="0" r="0" b="0"/>
            <a:pathLst>
              <a:path w="77152" h="9525">
                <a:moveTo>
                  <a:pt x="0" y="0"/>
                </a:moveTo>
                <a:lnTo>
                  <a:pt x="77152" y="0"/>
                </a:lnTo>
              </a:path>
            </a:pathLst>
          </a:custGeom>
          <a:noFill/>
          <a:ln w="12383">
            <a:solidFill>
              <a:srgbClr val="CD7939"/>
            </a:solidFill>
            <a:prstDash val="solid"/>
          </a:ln>
        </p:spPr>
        <p:txBody>
          <a:bodyPr/>
          <a:p/>
        </p:txBody>
      </p:sp>
      <p:sp>
        <p:nvSpPr>
          <p:cNvPr id="238" name="element-236">
            <a:extLst>
              <a:ext uri="{FF2B5EF4-FFF2-40B4-BE49-F238E27FC236}">
                <a16:creationId xmlns:a16="http://schemas.microsoft.com/office/drawing/2014/main" id="{73E1DF34-4AF5-4B34-9BEF-66953CA91C76}"/>
              </a:ext>
            </a:extLst>
          </p:cNvPr>
          <p:cNvSpPr>
            <a:spLocks noGrp="1"/>
          </p:cNvSpPr>
          <p:nvPr/>
        </p:nvSpPr>
        <p:spPr>
          <a:xfrm>
            <a:off x="1514475" y="7734300"/>
            <a:ext cx="171450" cy="266700"/>
          </a:xfrm>
          <a:prstGeom prst="roundRect">
            <a:avLst>
              <a:gd name="adj" fmla="val 16667"/>
            </a:avLst>
          </a:prstGeom>
          <a:solidFill>
            <a:srgbClr val="FFFFFF"/>
          </a:solidFill>
          <a:ln w="14288">
            <a:solidFill>
              <a:srgbClr val="357FC0"/>
            </a:solidFill>
          </a:ln>
        </p:spPr>
        <p:txBody>
          <a:bodyPr/>
          <a:p/>
        </p:txBody>
      </p:sp>
      <p:sp>
        <p:nvSpPr>
          <p:cNvPr id="239" name="line-237">
            <a:extLst>
              <a:ext uri="{FF2B5EF4-FFF2-40B4-BE49-F238E27FC236}">
                <a16:creationId xmlns:a16="http://schemas.microsoft.com/office/drawing/2014/main" id="{4F48593D-507E-4660-809D-C7C80702C023}"/>
              </a:ext>
            </a:extLst>
          </p:cNvPr>
          <p:cNvSpPr>
            <a:spLocks noGrp="1"/>
          </p:cNvSpPr>
          <p:nvPr/>
        </p:nvSpPr>
        <p:spPr>
          <a:xfrm>
            <a:off x="1548765" y="7814310"/>
            <a:ext cx="102870" cy="9525"/>
          </a:xfrm>
          <a:custGeom>
            <a:avLst/>
            <a:gdLst/>
            <a:ahLst/>
            <a:cxnLst/>
            <a:rect l="0" t="0" r="0" b="0"/>
            <a:pathLst>
              <a:path w="102870" h="9525">
                <a:moveTo>
                  <a:pt x="0" y="0"/>
                </a:moveTo>
                <a:lnTo>
                  <a:pt x="102870" y="0"/>
                </a:lnTo>
              </a:path>
            </a:pathLst>
          </a:custGeom>
          <a:noFill/>
          <a:ln w="12383">
            <a:solidFill>
              <a:srgbClr val="357FC0"/>
            </a:solidFill>
            <a:prstDash val="solid"/>
          </a:ln>
        </p:spPr>
        <p:txBody>
          <a:bodyPr/>
          <a:p/>
        </p:txBody>
      </p:sp>
      <p:sp>
        <p:nvSpPr>
          <p:cNvPr id="240" name="line-238">
            <a:extLst>
              <a:ext uri="{FF2B5EF4-FFF2-40B4-BE49-F238E27FC236}">
                <a16:creationId xmlns:a16="http://schemas.microsoft.com/office/drawing/2014/main" id="{6FE417BE-0784-4DA2-927C-19B95410445E}"/>
              </a:ext>
            </a:extLst>
          </p:cNvPr>
          <p:cNvSpPr>
            <a:spLocks noGrp="1"/>
          </p:cNvSpPr>
          <p:nvPr/>
        </p:nvSpPr>
        <p:spPr>
          <a:xfrm>
            <a:off x="1548765" y="7862316"/>
            <a:ext cx="102870" cy="9525"/>
          </a:xfrm>
          <a:custGeom>
            <a:avLst/>
            <a:gdLst/>
            <a:ahLst/>
            <a:cxnLst/>
            <a:rect l="0" t="0" r="0" b="0"/>
            <a:pathLst>
              <a:path w="102870" h="9525">
                <a:moveTo>
                  <a:pt x="0" y="0"/>
                </a:moveTo>
                <a:lnTo>
                  <a:pt x="102870" y="0"/>
                </a:lnTo>
              </a:path>
            </a:pathLst>
          </a:custGeom>
          <a:noFill/>
          <a:ln w="12383">
            <a:solidFill>
              <a:srgbClr val="357FC0"/>
            </a:solidFill>
            <a:prstDash val="solid"/>
          </a:ln>
        </p:spPr>
        <p:txBody>
          <a:bodyPr/>
          <a:p/>
        </p:txBody>
      </p:sp>
      <p:sp>
        <p:nvSpPr>
          <p:cNvPr id="241" name="line-239">
            <a:extLst>
              <a:ext uri="{FF2B5EF4-FFF2-40B4-BE49-F238E27FC236}">
                <a16:creationId xmlns:a16="http://schemas.microsoft.com/office/drawing/2014/main" id="{FE7734B8-2545-4FAD-BEDC-E36E0888D758}"/>
              </a:ext>
            </a:extLst>
          </p:cNvPr>
          <p:cNvSpPr>
            <a:spLocks noGrp="1"/>
          </p:cNvSpPr>
          <p:nvPr/>
        </p:nvSpPr>
        <p:spPr>
          <a:xfrm>
            <a:off x="1548765" y="7910322"/>
            <a:ext cx="77152" cy="9525"/>
          </a:xfrm>
          <a:custGeom>
            <a:avLst/>
            <a:gdLst/>
            <a:ahLst/>
            <a:cxnLst/>
            <a:rect l="0" t="0" r="0" b="0"/>
            <a:pathLst>
              <a:path w="77152" h="9525">
                <a:moveTo>
                  <a:pt x="0" y="0"/>
                </a:moveTo>
                <a:lnTo>
                  <a:pt x="77152" y="0"/>
                </a:lnTo>
              </a:path>
            </a:pathLst>
          </a:custGeom>
          <a:noFill/>
          <a:ln w="12383">
            <a:solidFill>
              <a:srgbClr val="357FC0"/>
            </a:solidFill>
            <a:prstDash val="solid"/>
          </a:ln>
        </p:spPr>
        <p:txBody>
          <a:bodyPr/>
          <a:p/>
        </p:txBody>
      </p:sp>
      <p:sp>
        <p:nvSpPr>
          <p:cNvPr id="242" name="element-240">
            <a:extLst>
              <a:ext uri="{FF2B5EF4-FFF2-40B4-BE49-F238E27FC236}">
                <a16:creationId xmlns:a16="http://schemas.microsoft.com/office/drawing/2014/main" id="{6A51AEBA-2DB4-4393-969F-E37C875019D3}"/>
              </a:ext>
            </a:extLst>
          </p:cNvPr>
          <p:cNvSpPr>
            <a:spLocks noGrp="1"/>
          </p:cNvSpPr>
          <p:nvPr/>
        </p:nvSpPr>
        <p:spPr>
          <a:xfrm>
            <a:off x="1743075" y="7734300"/>
            <a:ext cx="171450" cy="266700"/>
          </a:xfrm>
          <a:prstGeom prst="roundRect">
            <a:avLst>
              <a:gd name="adj" fmla="val 16667"/>
            </a:avLst>
          </a:prstGeom>
          <a:solidFill>
            <a:srgbClr val="FFFFFF"/>
          </a:solidFill>
          <a:ln w="14288">
            <a:solidFill>
              <a:srgbClr val="168D86"/>
            </a:solidFill>
          </a:ln>
        </p:spPr>
        <p:txBody>
          <a:bodyPr/>
          <a:p/>
        </p:txBody>
      </p:sp>
      <p:sp>
        <p:nvSpPr>
          <p:cNvPr id="243" name="line-241">
            <a:extLst>
              <a:ext uri="{FF2B5EF4-FFF2-40B4-BE49-F238E27FC236}">
                <a16:creationId xmlns:a16="http://schemas.microsoft.com/office/drawing/2014/main" id="{EA0F02D5-CC5C-4C99-AC56-2E6837543C87}"/>
              </a:ext>
            </a:extLst>
          </p:cNvPr>
          <p:cNvSpPr>
            <a:spLocks noGrp="1"/>
          </p:cNvSpPr>
          <p:nvPr/>
        </p:nvSpPr>
        <p:spPr>
          <a:xfrm>
            <a:off x="1777365" y="7814310"/>
            <a:ext cx="102870" cy="9525"/>
          </a:xfrm>
          <a:custGeom>
            <a:avLst/>
            <a:gdLst/>
            <a:ahLst/>
            <a:cxnLst/>
            <a:rect l="0" t="0" r="0" b="0"/>
            <a:pathLst>
              <a:path w="102870" h="9525">
                <a:moveTo>
                  <a:pt x="0" y="0"/>
                </a:moveTo>
                <a:lnTo>
                  <a:pt x="102870" y="0"/>
                </a:lnTo>
              </a:path>
            </a:pathLst>
          </a:custGeom>
          <a:noFill/>
          <a:ln w="12383">
            <a:solidFill>
              <a:srgbClr val="168D86"/>
            </a:solidFill>
            <a:prstDash val="solid"/>
          </a:ln>
        </p:spPr>
        <p:txBody>
          <a:bodyPr/>
          <a:p/>
        </p:txBody>
      </p:sp>
      <p:sp>
        <p:nvSpPr>
          <p:cNvPr id="244" name="line-242">
            <a:extLst>
              <a:ext uri="{FF2B5EF4-FFF2-40B4-BE49-F238E27FC236}">
                <a16:creationId xmlns:a16="http://schemas.microsoft.com/office/drawing/2014/main" id="{11351D0C-316B-4304-BEA4-47CBEBE84343}"/>
              </a:ext>
            </a:extLst>
          </p:cNvPr>
          <p:cNvSpPr>
            <a:spLocks noGrp="1"/>
          </p:cNvSpPr>
          <p:nvPr/>
        </p:nvSpPr>
        <p:spPr>
          <a:xfrm>
            <a:off x="1777365" y="7862316"/>
            <a:ext cx="102870" cy="9525"/>
          </a:xfrm>
          <a:custGeom>
            <a:avLst/>
            <a:gdLst/>
            <a:ahLst/>
            <a:cxnLst/>
            <a:rect l="0" t="0" r="0" b="0"/>
            <a:pathLst>
              <a:path w="102870" h="9525">
                <a:moveTo>
                  <a:pt x="0" y="0"/>
                </a:moveTo>
                <a:lnTo>
                  <a:pt x="102870" y="0"/>
                </a:lnTo>
              </a:path>
            </a:pathLst>
          </a:custGeom>
          <a:noFill/>
          <a:ln w="12383">
            <a:solidFill>
              <a:srgbClr val="168D86"/>
            </a:solidFill>
            <a:prstDash val="solid"/>
          </a:ln>
        </p:spPr>
        <p:txBody>
          <a:bodyPr/>
          <a:p/>
        </p:txBody>
      </p:sp>
      <p:sp>
        <p:nvSpPr>
          <p:cNvPr id="245" name="line-243">
            <a:extLst>
              <a:ext uri="{FF2B5EF4-FFF2-40B4-BE49-F238E27FC236}">
                <a16:creationId xmlns:a16="http://schemas.microsoft.com/office/drawing/2014/main" id="{446ACDE5-3004-45FF-87BB-FD3F84F39FBC}"/>
              </a:ext>
            </a:extLst>
          </p:cNvPr>
          <p:cNvSpPr>
            <a:spLocks noGrp="1"/>
          </p:cNvSpPr>
          <p:nvPr/>
        </p:nvSpPr>
        <p:spPr>
          <a:xfrm>
            <a:off x="1777365" y="7910322"/>
            <a:ext cx="77152" cy="9525"/>
          </a:xfrm>
          <a:custGeom>
            <a:avLst/>
            <a:gdLst/>
            <a:ahLst/>
            <a:cxnLst/>
            <a:rect l="0" t="0" r="0" b="0"/>
            <a:pathLst>
              <a:path w="77152" h="9525">
                <a:moveTo>
                  <a:pt x="0" y="0"/>
                </a:moveTo>
                <a:lnTo>
                  <a:pt x="77152" y="0"/>
                </a:lnTo>
              </a:path>
            </a:pathLst>
          </a:custGeom>
          <a:noFill/>
          <a:ln w="12383">
            <a:solidFill>
              <a:srgbClr val="168D86"/>
            </a:solidFill>
            <a:prstDash val="solid"/>
          </a:ln>
        </p:spPr>
        <p:txBody>
          <a:bodyPr/>
          <a:p/>
        </p:txBody>
      </p:sp>
      <p:sp>
        <p:nvSpPr>
          <p:cNvPr id="246" name="element-244">
            <a:extLst>
              <a:ext uri="{FF2B5EF4-FFF2-40B4-BE49-F238E27FC236}">
                <a16:creationId xmlns:a16="http://schemas.microsoft.com/office/drawing/2014/main" id="{5691C983-A048-4238-9971-C8EBD6279D3C}"/>
              </a:ext>
            </a:extLst>
          </p:cNvPr>
          <p:cNvSpPr>
            <a:spLocks noGrp="1"/>
          </p:cNvSpPr>
          <p:nvPr/>
        </p:nvSpPr>
        <p:spPr>
          <a:xfrm>
            <a:off x="1971675" y="7734300"/>
            <a:ext cx="171450" cy="266700"/>
          </a:xfrm>
          <a:prstGeom prst="roundRect">
            <a:avLst>
              <a:gd name="adj" fmla="val 16667"/>
            </a:avLst>
          </a:prstGeom>
          <a:solidFill>
            <a:srgbClr val="FFFFFF"/>
          </a:solidFill>
          <a:ln w="14288">
            <a:solidFill>
              <a:srgbClr val="CD7939"/>
            </a:solidFill>
          </a:ln>
        </p:spPr>
        <p:txBody>
          <a:bodyPr/>
          <a:p/>
        </p:txBody>
      </p:sp>
      <p:sp>
        <p:nvSpPr>
          <p:cNvPr id="247" name="line-245">
            <a:extLst>
              <a:ext uri="{FF2B5EF4-FFF2-40B4-BE49-F238E27FC236}">
                <a16:creationId xmlns:a16="http://schemas.microsoft.com/office/drawing/2014/main" id="{35BBE111-0326-46D0-9E2A-7DB335E485E8}"/>
              </a:ext>
            </a:extLst>
          </p:cNvPr>
          <p:cNvSpPr>
            <a:spLocks noGrp="1"/>
          </p:cNvSpPr>
          <p:nvPr/>
        </p:nvSpPr>
        <p:spPr>
          <a:xfrm>
            <a:off x="2005965" y="7814310"/>
            <a:ext cx="102870" cy="9525"/>
          </a:xfrm>
          <a:custGeom>
            <a:avLst/>
            <a:gdLst/>
            <a:ahLst/>
            <a:cxnLst/>
            <a:rect l="0" t="0" r="0" b="0"/>
            <a:pathLst>
              <a:path w="102870" h="9525">
                <a:moveTo>
                  <a:pt x="0" y="0"/>
                </a:moveTo>
                <a:lnTo>
                  <a:pt x="102870" y="0"/>
                </a:lnTo>
              </a:path>
            </a:pathLst>
          </a:custGeom>
          <a:noFill/>
          <a:ln w="12383">
            <a:solidFill>
              <a:srgbClr val="CD7939"/>
            </a:solidFill>
            <a:prstDash val="solid"/>
          </a:ln>
        </p:spPr>
        <p:txBody>
          <a:bodyPr/>
          <a:p/>
        </p:txBody>
      </p:sp>
      <p:sp>
        <p:nvSpPr>
          <p:cNvPr id="248" name="line-246">
            <a:extLst>
              <a:ext uri="{FF2B5EF4-FFF2-40B4-BE49-F238E27FC236}">
                <a16:creationId xmlns:a16="http://schemas.microsoft.com/office/drawing/2014/main" id="{9902350D-9D0D-4817-B2E9-49F1DD7D8EF6}"/>
              </a:ext>
            </a:extLst>
          </p:cNvPr>
          <p:cNvSpPr>
            <a:spLocks noGrp="1"/>
          </p:cNvSpPr>
          <p:nvPr/>
        </p:nvSpPr>
        <p:spPr>
          <a:xfrm>
            <a:off x="2005965" y="7862316"/>
            <a:ext cx="102870" cy="9525"/>
          </a:xfrm>
          <a:custGeom>
            <a:avLst/>
            <a:gdLst/>
            <a:ahLst/>
            <a:cxnLst/>
            <a:rect l="0" t="0" r="0" b="0"/>
            <a:pathLst>
              <a:path w="102870" h="9525">
                <a:moveTo>
                  <a:pt x="0" y="0"/>
                </a:moveTo>
                <a:lnTo>
                  <a:pt x="102870" y="0"/>
                </a:lnTo>
              </a:path>
            </a:pathLst>
          </a:custGeom>
          <a:noFill/>
          <a:ln w="12383">
            <a:solidFill>
              <a:srgbClr val="CD7939"/>
            </a:solidFill>
            <a:prstDash val="solid"/>
          </a:ln>
        </p:spPr>
        <p:txBody>
          <a:bodyPr/>
          <a:p/>
        </p:txBody>
      </p:sp>
      <p:sp>
        <p:nvSpPr>
          <p:cNvPr id="249" name="line-247">
            <a:extLst>
              <a:ext uri="{FF2B5EF4-FFF2-40B4-BE49-F238E27FC236}">
                <a16:creationId xmlns:a16="http://schemas.microsoft.com/office/drawing/2014/main" id="{786D1783-FDA2-4FB7-B77D-7D23E227E32A}"/>
              </a:ext>
            </a:extLst>
          </p:cNvPr>
          <p:cNvSpPr>
            <a:spLocks noGrp="1"/>
          </p:cNvSpPr>
          <p:nvPr/>
        </p:nvSpPr>
        <p:spPr>
          <a:xfrm>
            <a:off x="2005965" y="7910322"/>
            <a:ext cx="77152" cy="9525"/>
          </a:xfrm>
          <a:custGeom>
            <a:avLst/>
            <a:gdLst/>
            <a:ahLst/>
            <a:cxnLst/>
            <a:rect l="0" t="0" r="0" b="0"/>
            <a:pathLst>
              <a:path w="77152" h="9525">
                <a:moveTo>
                  <a:pt x="0" y="0"/>
                </a:moveTo>
                <a:lnTo>
                  <a:pt x="77152" y="0"/>
                </a:lnTo>
              </a:path>
            </a:pathLst>
          </a:custGeom>
          <a:noFill/>
          <a:ln w="12383">
            <a:solidFill>
              <a:srgbClr val="CD7939"/>
            </a:solidFill>
            <a:prstDash val="solid"/>
          </a:ln>
        </p:spPr>
        <p:txBody>
          <a:bodyPr/>
          <a:p/>
        </p:txBody>
      </p:sp>
      <p:sp>
        <p:nvSpPr>
          <p:cNvPr id="250" name="element-248">
            <a:extLst>
              <a:ext uri="{FF2B5EF4-FFF2-40B4-BE49-F238E27FC236}">
                <a16:creationId xmlns:a16="http://schemas.microsoft.com/office/drawing/2014/main" id="{AFFFE477-6AEE-41E2-8BF3-7059D09AD6C5}"/>
              </a:ext>
            </a:extLst>
          </p:cNvPr>
          <p:cNvSpPr>
            <a:spLocks noGrp="1"/>
          </p:cNvSpPr>
          <p:nvPr/>
        </p:nvSpPr>
        <p:spPr>
          <a:xfrm>
            <a:off x="1381125" y="8172450"/>
            <a:ext cx="904875" cy="419100"/>
          </a:xfrm>
          <a:prstGeom prst="rect">
            <a:avLst/>
          </a:prstGeom>
          <a:noFill/>
          <a:ln w="0">
            <a:noFill/>
          </a:ln>
        </p:spPr>
        <p:txBody>
          <a:bodyPr lIns="0" tIns="0" rIns="0" bIns="0" anchor="ctr">
            <a:noAutofit/>
          </a:bodyPr>
          <a:lstStyle/>
          <a:p>
            <a:pPr algn="ctr">
              <a:defRPr sz="1275" b="0">
                <a:solidFill>
                  <a:srgbClr val="122C50"/>
                </a:solidFill>
                <a:latin typeface="Arial"/>
                <a:ea typeface="Arial"/>
                <a:cs typeface="Arial"/>
              </a:defRPr>
            </a:pPr>
            <a:r>
              <a:rPr sz="1275" b="0">
                <a:solidFill>
                  <a:srgbClr val="122C50"/>
                </a:solidFill>
                <a:latin typeface="Arial"/>
                <a:ea typeface="Arial"/>
                <a:cs typeface="Arial"/>
              </a:rPr>
              <a:t>Textual</a:t>
            </a:r>
          </a:p>
          <a:p>
            <a:pPr algn="ctr">
              <a:defRPr sz="1275" b="0">
                <a:solidFill>
                  <a:srgbClr val="122C50"/>
                </a:solidFill>
                <a:latin typeface="Arial"/>
                <a:ea typeface="Arial"/>
                <a:cs typeface="Arial"/>
              </a:defRPr>
            </a:pPr>
            <a:r>
              <a:rPr sz="1275" b="0">
                <a:solidFill>
                  <a:srgbClr val="122C50"/>
                </a:solidFill>
                <a:latin typeface="Arial"/>
                <a:ea typeface="Arial"/>
                <a:cs typeface="Arial"/>
              </a:rPr>
              <a:t>signatures</a:t>
            </a:r>
          </a:p>
        </p:txBody>
      </p:sp>
      <p:sp>
        <p:nvSpPr>
          <p:cNvPr id="251" name="line-249">
            <a:extLst>
              <a:ext uri="{FF2B5EF4-FFF2-40B4-BE49-F238E27FC236}">
                <a16:creationId xmlns:a16="http://schemas.microsoft.com/office/drawing/2014/main" id="{BADE40F9-18FD-4673-975C-67FD3579568F}"/>
              </a:ext>
            </a:extLst>
          </p:cNvPr>
          <p:cNvSpPr>
            <a:spLocks noGrp="1"/>
          </p:cNvSpPr>
          <p:nvPr/>
        </p:nvSpPr>
        <p:spPr>
          <a:xfrm>
            <a:off x="2133600" y="7667625"/>
            <a:ext cx="266700" cy="9525"/>
          </a:xfrm>
          <a:custGeom>
            <a:avLst/>
            <a:gdLst/>
            <a:ahLst/>
            <a:cxnLst/>
            <a:rect l="0" t="0" r="0" b="0"/>
            <a:pathLst>
              <a:path w="266700" h="9525">
                <a:moveTo>
                  <a:pt x="0" y="0"/>
                </a:moveTo>
                <a:lnTo>
                  <a:pt x="266700" y="0"/>
                </a:lnTo>
              </a:path>
            </a:pathLst>
          </a:custGeom>
          <a:noFill/>
          <a:ln w="19050">
            <a:solidFill>
              <a:srgbClr val="122C50"/>
            </a:solidFill>
            <a:prstDash val="solid"/>
          </a:ln>
        </p:spPr>
        <p:txBody>
          <a:bodyPr/>
          <a:p/>
        </p:txBody>
      </p:sp>
      <p:sp>
        <p:nvSpPr>
          <p:cNvPr id="252" name="arrow-250">
            <a:extLst>
              <a:ext uri="{FF2B5EF4-FFF2-40B4-BE49-F238E27FC236}">
                <a16:creationId xmlns:a16="http://schemas.microsoft.com/office/drawing/2014/main" id="{1323266D-BB96-45FF-A9AD-3474C05B11AA}"/>
              </a:ext>
            </a:extLst>
          </p:cNvPr>
          <p:cNvSpPr>
            <a:spLocks noGrp="1"/>
          </p:cNvSpPr>
          <p:nvPr/>
        </p:nvSpPr>
        <p:spPr>
          <a:xfrm>
            <a:off x="2314575" y="7624763"/>
            <a:ext cx="85725" cy="85725"/>
          </a:xfrm>
          <a:custGeom>
            <a:avLst/>
            <a:gdLst/>
            <a:ahLst/>
            <a:cxnLst/>
            <a:rect l="0" t="0" r="0" b="0"/>
            <a:pathLst>
              <a:path w="85725" h="85725">
                <a:moveTo>
                  <a:pt x="85725" y="42863"/>
                </a:moveTo>
                <a:lnTo>
                  <a:pt x="0" y="0"/>
                </a:lnTo>
                <a:lnTo>
                  <a:pt x="0" y="85725"/>
                </a:lnTo>
                <a:lnTo>
                  <a:pt x="85725" y="42863"/>
                </a:lnTo>
              </a:path>
            </a:pathLst>
          </a:custGeom>
          <a:solidFill>
            <a:srgbClr val="122C50"/>
          </a:solidFill>
          <a:ln w="2858">
            <a:solidFill>
              <a:srgbClr val="122C50"/>
            </a:solidFill>
          </a:ln>
        </p:spPr>
        <p:txBody>
          <a:bodyPr/>
          <a:p/>
        </p:txBody>
      </p:sp>
      <p:sp>
        <p:nvSpPr>
          <p:cNvPr id="253" name="node-251">
            <a:extLst>
              <a:ext uri="{FF2B5EF4-FFF2-40B4-BE49-F238E27FC236}">
                <a16:creationId xmlns:a16="http://schemas.microsoft.com/office/drawing/2014/main" id="{2B60F49C-A868-499C-AD05-E35FCD1571AC}"/>
              </a:ext>
            </a:extLst>
          </p:cNvPr>
          <p:cNvSpPr>
            <a:spLocks noGrp="1"/>
          </p:cNvSpPr>
          <p:nvPr/>
        </p:nvSpPr>
        <p:spPr>
          <a:xfrm>
            <a:off x="2528887" y="7351953"/>
            <a:ext cx="314325" cy="314325"/>
          </a:xfrm>
          <a:prstGeom prst="ellipse">
            <a:avLst/>
          </a:prstGeom>
          <a:noFill/>
          <a:ln w="16193">
            <a:solidFill>
              <a:srgbClr val="357FC0"/>
            </a:solidFill>
          </a:ln>
        </p:spPr>
        <p:txBody>
          <a:bodyPr/>
          <a:p/>
        </p:txBody>
      </p:sp>
      <p:sp>
        <p:nvSpPr>
          <p:cNvPr id="254" name="node-252">
            <a:extLst>
              <a:ext uri="{FF2B5EF4-FFF2-40B4-BE49-F238E27FC236}">
                <a16:creationId xmlns:a16="http://schemas.microsoft.com/office/drawing/2014/main" id="{3AF72299-B6AB-4973-900A-66A4F38828D5}"/>
              </a:ext>
            </a:extLst>
          </p:cNvPr>
          <p:cNvSpPr>
            <a:spLocks noGrp="1"/>
          </p:cNvSpPr>
          <p:nvPr/>
        </p:nvSpPr>
        <p:spPr>
          <a:xfrm>
            <a:off x="2595562" y="7475778"/>
            <a:ext cx="57150" cy="57150"/>
          </a:xfrm>
          <a:prstGeom prst="ellipse">
            <a:avLst/>
          </a:prstGeom>
          <a:solidFill>
            <a:srgbClr val="357FC0"/>
          </a:solidFill>
          <a:ln w="16193">
            <a:solidFill>
              <a:srgbClr val="357FC0"/>
            </a:solidFill>
          </a:ln>
        </p:spPr>
        <p:txBody>
          <a:bodyPr/>
          <a:p/>
        </p:txBody>
      </p:sp>
      <p:sp>
        <p:nvSpPr>
          <p:cNvPr id="255" name="node-253">
            <a:extLst>
              <a:ext uri="{FF2B5EF4-FFF2-40B4-BE49-F238E27FC236}">
                <a16:creationId xmlns:a16="http://schemas.microsoft.com/office/drawing/2014/main" id="{80517F52-E456-4D3A-89FC-6EEE7BE73FC0}"/>
              </a:ext>
            </a:extLst>
          </p:cNvPr>
          <p:cNvSpPr>
            <a:spLocks noGrp="1"/>
          </p:cNvSpPr>
          <p:nvPr/>
        </p:nvSpPr>
        <p:spPr>
          <a:xfrm>
            <a:off x="2719387" y="7475778"/>
            <a:ext cx="57150" cy="57150"/>
          </a:xfrm>
          <a:prstGeom prst="ellipse">
            <a:avLst/>
          </a:prstGeom>
          <a:solidFill>
            <a:srgbClr val="357FC0"/>
          </a:solidFill>
          <a:ln w="16193">
            <a:solidFill>
              <a:srgbClr val="357FC0"/>
            </a:solidFill>
          </a:ln>
        </p:spPr>
        <p:txBody>
          <a:bodyPr/>
          <a:p/>
        </p:txBody>
      </p:sp>
      <p:sp>
        <p:nvSpPr>
          <p:cNvPr id="256" name="node-254">
            <a:extLst>
              <a:ext uri="{FF2B5EF4-FFF2-40B4-BE49-F238E27FC236}">
                <a16:creationId xmlns:a16="http://schemas.microsoft.com/office/drawing/2014/main" id="{39256B56-A26B-44F1-AF25-A34EF49905B3}"/>
              </a:ext>
            </a:extLst>
          </p:cNvPr>
          <p:cNvSpPr>
            <a:spLocks noGrp="1"/>
          </p:cNvSpPr>
          <p:nvPr/>
        </p:nvSpPr>
        <p:spPr>
          <a:xfrm>
            <a:off x="2900363" y="7458705"/>
            <a:ext cx="314325" cy="314325"/>
          </a:xfrm>
          <a:prstGeom prst="ellipse">
            <a:avLst/>
          </a:prstGeom>
          <a:noFill/>
          <a:ln w="16193">
            <a:solidFill>
              <a:srgbClr val="168D86"/>
            </a:solidFill>
          </a:ln>
        </p:spPr>
        <p:txBody>
          <a:bodyPr/>
          <a:p/>
        </p:txBody>
      </p:sp>
      <p:sp>
        <p:nvSpPr>
          <p:cNvPr id="257" name="node-255">
            <a:extLst>
              <a:ext uri="{FF2B5EF4-FFF2-40B4-BE49-F238E27FC236}">
                <a16:creationId xmlns:a16="http://schemas.microsoft.com/office/drawing/2014/main" id="{B1B0E8DC-9C59-4067-BE56-8B64784D86C1}"/>
              </a:ext>
            </a:extLst>
          </p:cNvPr>
          <p:cNvSpPr>
            <a:spLocks noGrp="1"/>
          </p:cNvSpPr>
          <p:nvPr/>
        </p:nvSpPr>
        <p:spPr>
          <a:xfrm>
            <a:off x="2967038" y="7582530"/>
            <a:ext cx="57150" cy="57150"/>
          </a:xfrm>
          <a:prstGeom prst="ellipse">
            <a:avLst/>
          </a:prstGeom>
          <a:solidFill>
            <a:srgbClr val="168D86"/>
          </a:solidFill>
          <a:ln w="16193">
            <a:solidFill>
              <a:srgbClr val="168D86"/>
            </a:solidFill>
          </a:ln>
        </p:spPr>
        <p:txBody>
          <a:bodyPr/>
          <a:p/>
        </p:txBody>
      </p:sp>
      <p:sp>
        <p:nvSpPr>
          <p:cNvPr id="258" name="node-256">
            <a:extLst>
              <a:ext uri="{FF2B5EF4-FFF2-40B4-BE49-F238E27FC236}">
                <a16:creationId xmlns:a16="http://schemas.microsoft.com/office/drawing/2014/main" id="{CA6AC010-2575-4C28-9038-A92A3775A8D4}"/>
              </a:ext>
            </a:extLst>
          </p:cNvPr>
          <p:cNvSpPr>
            <a:spLocks noGrp="1"/>
          </p:cNvSpPr>
          <p:nvPr/>
        </p:nvSpPr>
        <p:spPr>
          <a:xfrm>
            <a:off x="3090863" y="7582530"/>
            <a:ext cx="57150" cy="57150"/>
          </a:xfrm>
          <a:prstGeom prst="ellipse">
            <a:avLst/>
          </a:prstGeom>
          <a:solidFill>
            <a:srgbClr val="168D86"/>
          </a:solidFill>
          <a:ln w="16193">
            <a:solidFill>
              <a:srgbClr val="168D86"/>
            </a:solidFill>
          </a:ln>
        </p:spPr>
        <p:txBody>
          <a:bodyPr/>
          <a:p/>
        </p:txBody>
      </p:sp>
      <p:sp>
        <p:nvSpPr>
          <p:cNvPr id="259" name="node-257">
            <a:extLst>
              <a:ext uri="{FF2B5EF4-FFF2-40B4-BE49-F238E27FC236}">
                <a16:creationId xmlns:a16="http://schemas.microsoft.com/office/drawing/2014/main" id="{5D6134B9-8812-45E9-9EF3-948EBB6C8A34}"/>
              </a:ext>
            </a:extLst>
          </p:cNvPr>
          <p:cNvSpPr>
            <a:spLocks noGrp="1"/>
          </p:cNvSpPr>
          <p:nvPr/>
        </p:nvSpPr>
        <p:spPr>
          <a:xfrm>
            <a:off x="2605555" y="7742478"/>
            <a:ext cx="314325" cy="314325"/>
          </a:xfrm>
          <a:prstGeom prst="ellipse">
            <a:avLst/>
          </a:prstGeom>
          <a:noFill/>
          <a:ln w="16193">
            <a:solidFill>
              <a:srgbClr val="CD7939"/>
            </a:solidFill>
          </a:ln>
        </p:spPr>
        <p:txBody>
          <a:bodyPr/>
          <a:p/>
        </p:txBody>
      </p:sp>
      <p:sp>
        <p:nvSpPr>
          <p:cNvPr id="260" name="node-258">
            <a:extLst>
              <a:ext uri="{FF2B5EF4-FFF2-40B4-BE49-F238E27FC236}">
                <a16:creationId xmlns:a16="http://schemas.microsoft.com/office/drawing/2014/main" id="{70797C7C-D10D-4932-A503-50177484F144}"/>
              </a:ext>
            </a:extLst>
          </p:cNvPr>
          <p:cNvSpPr>
            <a:spLocks noGrp="1"/>
          </p:cNvSpPr>
          <p:nvPr/>
        </p:nvSpPr>
        <p:spPr>
          <a:xfrm>
            <a:off x="2672230" y="7866303"/>
            <a:ext cx="57150" cy="57150"/>
          </a:xfrm>
          <a:prstGeom prst="ellipse">
            <a:avLst/>
          </a:prstGeom>
          <a:solidFill>
            <a:srgbClr val="CD7939"/>
          </a:solidFill>
          <a:ln w="16193">
            <a:solidFill>
              <a:srgbClr val="CD7939"/>
            </a:solidFill>
          </a:ln>
        </p:spPr>
        <p:txBody>
          <a:bodyPr/>
          <a:p/>
        </p:txBody>
      </p:sp>
      <p:sp>
        <p:nvSpPr>
          <p:cNvPr id="261" name="node-259">
            <a:extLst>
              <a:ext uri="{FF2B5EF4-FFF2-40B4-BE49-F238E27FC236}">
                <a16:creationId xmlns:a16="http://schemas.microsoft.com/office/drawing/2014/main" id="{DDE4EC84-1179-4EFE-931C-37B851327D73}"/>
              </a:ext>
            </a:extLst>
          </p:cNvPr>
          <p:cNvSpPr>
            <a:spLocks noGrp="1"/>
          </p:cNvSpPr>
          <p:nvPr/>
        </p:nvSpPr>
        <p:spPr>
          <a:xfrm>
            <a:off x="2796055" y="7866303"/>
            <a:ext cx="57150" cy="57150"/>
          </a:xfrm>
          <a:prstGeom prst="ellipse">
            <a:avLst/>
          </a:prstGeom>
          <a:solidFill>
            <a:srgbClr val="CD7939"/>
          </a:solidFill>
          <a:ln w="16193">
            <a:solidFill>
              <a:srgbClr val="CD7939"/>
            </a:solidFill>
          </a:ln>
        </p:spPr>
        <p:txBody>
          <a:bodyPr/>
          <a:p/>
        </p:txBody>
      </p:sp>
      <p:sp>
        <p:nvSpPr>
          <p:cNvPr id="262" name="element-260">
            <a:extLst>
              <a:ext uri="{FF2B5EF4-FFF2-40B4-BE49-F238E27FC236}">
                <a16:creationId xmlns:a16="http://schemas.microsoft.com/office/drawing/2014/main" id="{865131C7-B39B-4A82-891D-F20F2F13FA26}"/>
              </a:ext>
            </a:extLst>
          </p:cNvPr>
          <p:cNvSpPr>
            <a:spLocks noGrp="1"/>
          </p:cNvSpPr>
          <p:nvPr/>
        </p:nvSpPr>
        <p:spPr>
          <a:xfrm>
            <a:off x="2400300" y="8172450"/>
            <a:ext cx="876300" cy="419100"/>
          </a:xfrm>
          <a:prstGeom prst="rect">
            <a:avLst/>
          </a:prstGeom>
          <a:noFill/>
          <a:ln w="0">
            <a:noFill/>
          </a:ln>
        </p:spPr>
        <p:txBody>
          <a:bodyPr lIns="0" tIns="0" rIns="0" bIns="0" anchor="ctr">
            <a:noAutofit/>
          </a:bodyPr>
          <a:lstStyle/>
          <a:p>
            <a:pPr algn="ctr">
              <a:defRPr sz="1275" b="0">
                <a:solidFill>
                  <a:srgbClr val="122C50"/>
                </a:solidFill>
                <a:latin typeface="Arial"/>
                <a:ea typeface="Arial"/>
                <a:cs typeface="Arial"/>
              </a:defRPr>
            </a:pPr>
            <a:r>
              <a:rPr sz="1275" b="0">
                <a:solidFill>
                  <a:srgbClr val="122C50"/>
                </a:solidFill>
                <a:latin typeface="Arial"/>
                <a:ea typeface="Arial"/>
                <a:cs typeface="Arial"/>
              </a:rPr>
              <a:t>Semantic</a:t>
            </a:r>
          </a:p>
          <a:p>
            <a:pPr algn="ctr">
              <a:defRPr sz="1275" b="0">
                <a:solidFill>
                  <a:srgbClr val="122C50"/>
                </a:solidFill>
                <a:latin typeface="Arial"/>
                <a:ea typeface="Arial"/>
                <a:cs typeface="Arial"/>
              </a:defRPr>
            </a:pPr>
            <a:r>
              <a:rPr sz="1275" b="0">
                <a:solidFill>
                  <a:srgbClr val="122C50"/>
                </a:solidFill>
                <a:latin typeface="Arial"/>
                <a:ea typeface="Arial"/>
                <a:cs typeface="Arial"/>
              </a:rPr>
              <a:t>clusters</a:t>
            </a:r>
          </a:p>
        </p:txBody>
      </p:sp>
      <p:sp>
        <p:nvSpPr>
          <p:cNvPr id="263" name="line-261">
            <a:extLst>
              <a:ext uri="{FF2B5EF4-FFF2-40B4-BE49-F238E27FC236}">
                <a16:creationId xmlns:a16="http://schemas.microsoft.com/office/drawing/2014/main" id="{7FED5C60-D3D2-46E6-A08B-C6F58A2D8DB1}"/>
              </a:ext>
            </a:extLst>
          </p:cNvPr>
          <p:cNvSpPr>
            <a:spLocks noGrp="1"/>
          </p:cNvSpPr>
          <p:nvPr/>
        </p:nvSpPr>
        <p:spPr>
          <a:xfrm>
            <a:off x="3276600" y="7667625"/>
            <a:ext cx="276225" cy="9525"/>
          </a:xfrm>
          <a:custGeom>
            <a:avLst/>
            <a:gdLst/>
            <a:ahLst/>
            <a:cxnLst/>
            <a:rect l="0" t="0" r="0" b="0"/>
            <a:pathLst>
              <a:path w="276225" h="9525">
                <a:moveTo>
                  <a:pt x="0" y="0"/>
                </a:moveTo>
                <a:lnTo>
                  <a:pt x="276225" y="0"/>
                </a:lnTo>
              </a:path>
            </a:pathLst>
          </a:custGeom>
          <a:noFill/>
          <a:ln w="19050">
            <a:solidFill>
              <a:srgbClr val="122C50"/>
            </a:solidFill>
            <a:prstDash val="solid"/>
          </a:ln>
        </p:spPr>
        <p:txBody>
          <a:bodyPr/>
          <a:p/>
        </p:txBody>
      </p:sp>
      <p:sp>
        <p:nvSpPr>
          <p:cNvPr id="264" name="arrow-262">
            <a:extLst>
              <a:ext uri="{FF2B5EF4-FFF2-40B4-BE49-F238E27FC236}">
                <a16:creationId xmlns:a16="http://schemas.microsoft.com/office/drawing/2014/main" id="{2D4B7F17-675E-4976-94AB-BCC363F01AE4}"/>
              </a:ext>
            </a:extLst>
          </p:cNvPr>
          <p:cNvSpPr>
            <a:spLocks noGrp="1"/>
          </p:cNvSpPr>
          <p:nvPr/>
        </p:nvSpPr>
        <p:spPr>
          <a:xfrm>
            <a:off x="3467100" y="7624763"/>
            <a:ext cx="85725" cy="85725"/>
          </a:xfrm>
          <a:custGeom>
            <a:avLst/>
            <a:gdLst/>
            <a:ahLst/>
            <a:cxnLst/>
            <a:rect l="0" t="0" r="0" b="0"/>
            <a:pathLst>
              <a:path w="85725" h="85725">
                <a:moveTo>
                  <a:pt x="85725" y="42863"/>
                </a:moveTo>
                <a:lnTo>
                  <a:pt x="0" y="0"/>
                </a:lnTo>
                <a:lnTo>
                  <a:pt x="0" y="85725"/>
                </a:lnTo>
                <a:lnTo>
                  <a:pt x="85725" y="42863"/>
                </a:lnTo>
              </a:path>
            </a:pathLst>
          </a:custGeom>
          <a:solidFill>
            <a:srgbClr val="122C50"/>
          </a:solidFill>
          <a:ln w="2858">
            <a:solidFill>
              <a:srgbClr val="122C50"/>
            </a:solidFill>
          </a:ln>
        </p:spPr>
        <p:txBody>
          <a:bodyPr/>
          <a:p/>
        </p:txBody>
      </p:sp>
      <p:sp>
        <p:nvSpPr>
          <p:cNvPr id="265" name="element-263">
            <a:extLst>
              <a:ext uri="{FF2B5EF4-FFF2-40B4-BE49-F238E27FC236}">
                <a16:creationId xmlns:a16="http://schemas.microsoft.com/office/drawing/2014/main" id="{AC10BBF0-3D3D-4DB2-AE31-2A3F49AF56A0}"/>
              </a:ext>
            </a:extLst>
          </p:cNvPr>
          <p:cNvSpPr>
            <a:spLocks noGrp="1"/>
          </p:cNvSpPr>
          <p:nvPr/>
        </p:nvSpPr>
        <p:spPr>
          <a:xfrm>
            <a:off x="3648075" y="7391400"/>
            <a:ext cx="1028700" cy="619125"/>
          </a:xfrm>
          <a:prstGeom prst="roundRect">
            <a:avLst>
              <a:gd name="adj" fmla="val 12308"/>
            </a:avLst>
          </a:prstGeom>
          <a:solidFill>
            <a:srgbClr val="FFFFFF"/>
          </a:solidFill>
          <a:ln w="12383">
            <a:solidFill>
              <a:srgbClr val="9CB2C8"/>
            </a:solidFill>
            <a:prstDash val="dash"/>
          </a:ln>
        </p:spPr>
        <p:txBody>
          <a:bodyPr/>
          <a:p/>
        </p:txBody>
      </p:sp>
      <p:sp>
        <p:nvSpPr>
          <p:cNvPr id="266" name="node-264">
            <a:extLst>
              <a:ext uri="{FF2B5EF4-FFF2-40B4-BE49-F238E27FC236}">
                <a16:creationId xmlns:a16="http://schemas.microsoft.com/office/drawing/2014/main" id="{5AE2CC57-377B-4ECD-B179-AB46D50E84BA}"/>
              </a:ext>
            </a:extLst>
          </p:cNvPr>
          <p:cNvSpPr>
            <a:spLocks noGrp="1"/>
          </p:cNvSpPr>
          <p:nvPr/>
        </p:nvSpPr>
        <p:spPr>
          <a:xfrm>
            <a:off x="3752850" y="7591425"/>
            <a:ext cx="209550" cy="209550"/>
          </a:xfrm>
          <a:prstGeom prst="ellipse">
            <a:avLst/>
          </a:prstGeom>
          <a:solidFill>
            <a:srgbClr val="EEF5FC"/>
          </a:solidFill>
          <a:ln w="16193">
            <a:solidFill>
              <a:srgbClr val="357FC0"/>
            </a:solidFill>
          </a:ln>
        </p:spPr>
        <p:txBody>
          <a:bodyPr/>
          <a:p/>
        </p:txBody>
      </p:sp>
      <p:sp>
        <p:nvSpPr>
          <p:cNvPr id="267" name="node-265">
            <a:extLst>
              <a:ext uri="{FF2B5EF4-FFF2-40B4-BE49-F238E27FC236}">
                <a16:creationId xmlns:a16="http://schemas.microsoft.com/office/drawing/2014/main" id="{7F9FC6B7-93C4-4A5D-980A-3B3D8009CDF2}"/>
              </a:ext>
            </a:extLst>
          </p:cNvPr>
          <p:cNvSpPr>
            <a:spLocks noGrp="1"/>
          </p:cNvSpPr>
          <p:nvPr/>
        </p:nvSpPr>
        <p:spPr>
          <a:xfrm>
            <a:off x="4057650" y="7591425"/>
            <a:ext cx="209550" cy="209550"/>
          </a:xfrm>
          <a:prstGeom prst="ellipse">
            <a:avLst/>
          </a:prstGeom>
          <a:solidFill>
            <a:srgbClr val="ECF8F5"/>
          </a:solidFill>
          <a:ln w="16193">
            <a:solidFill>
              <a:srgbClr val="168D86"/>
            </a:solidFill>
          </a:ln>
        </p:spPr>
        <p:txBody>
          <a:bodyPr/>
          <a:p/>
        </p:txBody>
      </p:sp>
      <p:sp>
        <p:nvSpPr>
          <p:cNvPr id="268" name="node-266">
            <a:extLst>
              <a:ext uri="{FF2B5EF4-FFF2-40B4-BE49-F238E27FC236}">
                <a16:creationId xmlns:a16="http://schemas.microsoft.com/office/drawing/2014/main" id="{9CBAA5AD-4877-4E7E-A2C8-B5494B8C7FC0}"/>
              </a:ext>
            </a:extLst>
          </p:cNvPr>
          <p:cNvSpPr>
            <a:spLocks noGrp="1"/>
          </p:cNvSpPr>
          <p:nvPr/>
        </p:nvSpPr>
        <p:spPr>
          <a:xfrm>
            <a:off x="4362450" y="7591425"/>
            <a:ext cx="209550" cy="209550"/>
          </a:xfrm>
          <a:prstGeom prst="ellipse">
            <a:avLst/>
          </a:prstGeom>
          <a:solidFill>
            <a:srgbClr val="FFF5EB"/>
          </a:solidFill>
          <a:ln w="16193">
            <a:solidFill>
              <a:srgbClr val="CD7939"/>
            </a:solidFill>
          </a:ln>
        </p:spPr>
        <p:txBody>
          <a:bodyPr/>
          <a:p/>
        </p:txBody>
      </p:sp>
      <p:sp>
        <p:nvSpPr>
          <p:cNvPr id="269" name="element-267">
            <a:extLst>
              <a:ext uri="{FF2B5EF4-FFF2-40B4-BE49-F238E27FC236}">
                <a16:creationId xmlns:a16="http://schemas.microsoft.com/office/drawing/2014/main" id="{886965D2-872A-45CA-8BD7-D0C096858529}"/>
              </a:ext>
            </a:extLst>
          </p:cNvPr>
          <p:cNvSpPr>
            <a:spLocks noGrp="1"/>
          </p:cNvSpPr>
          <p:nvPr/>
        </p:nvSpPr>
        <p:spPr>
          <a:xfrm>
            <a:off x="3590925" y="8172450"/>
            <a:ext cx="1133475" cy="419100"/>
          </a:xfrm>
          <a:prstGeom prst="rect">
            <a:avLst/>
          </a:prstGeom>
          <a:noFill/>
          <a:ln w="0">
            <a:noFill/>
          </a:ln>
        </p:spPr>
        <p:txBody>
          <a:bodyPr lIns="0" tIns="0" rIns="0" bIns="0" anchor="ctr">
            <a:noAutofit/>
          </a:bodyPr>
          <a:lstStyle/>
          <a:p>
            <a:pPr algn="ctr">
              <a:defRPr sz="1275" b="0">
                <a:solidFill>
                  <a:srgbClr val="122C50"/>
                </a:solidFill>
                <a:latin typeface="Arial"/>
                <a:ea typeface="Arial"/>
                <a:cs typeface="Arial"/>
              </a:defRPr>
            </a:pPr>
            <a:r>
              <a:rPr sz="1275" b="0">
                <a:solidFill>
                  <a:srgbClr val="122C50"/>
                </a:solidFill>
                <a:latin typeface="Arial"/>
                <a:ea typeface="Arial"/>
                <a:cs typeface="Arial"/>
              </a:rPr>
              <a:t>New child</a:t>
            </a:r>
          </a:p>
          <a:p>
            <a:pPr algn="ctr">
              <a:defRPr sz="1275" b="0">
                <a:solidFill>
                  <a:srgbClr val="122C50"/>
                </a:solidFill>
                <a:latin typeface="Arial"/>
                <a:ea typeface="Arial"/>
                <a:cs typeface="Arial"/>
              </a:defRPr>
            </a:pPr>
            <a:r>
              <a:rPr sz="1275" b="0">
                <a:solidFill>
                  <a:srgbClr val="122C50"/>
                </a:solidFill>
                <a:latin typeface="Arial"/>
                <a:ea typeface="Arial"/>
                <a:cs typeface="Arial"/>
              </a:rPr>
              <a:t>group</a:t>
            </a:r>
          </a:p>
        </p:txBody>
      </p:sp>
      <p:sp>
        <p:nvSpPr>
          <p:cNvPr id="270" name="line-268">
            <a:extLst>
              <a:ext uri="{FF2B5EF4-FFF2-40B4-BE49-F238E27FC236}">
                <a16:creationId xmlns:a16="http://schemas.microsoft.com/office/drawing/2014/main" id="{19A263F1-CB8F-4E4A-889C-773160CB5CCA}"/>
              </a:ext>
            </a:extLst>
          </p:cNvPr>
          <p:cNvSpPr>
            <a:spLocks noGrp="1"/>
          </p:cNvSpPr>
          <p:nvPr/>
        </p:nvSpPr>
        <p:spPr>
          <a:xfrm>
            <a:off x="3114675" y="2847975"/>
            <a:ext cx="1485900" cy="3848100"/>
          </a:xfrm>
          <a:custGeom>
            <a:avLst/>
            <a:gdLst/>
            <a:ahLst/>
            <a:cxnLst/>
            <a:rect l="0" t="0" r="0" b="0"/>
            <a:pathLst>
              <a:path w="1485900" h="3848100">
                <a:moveTo>
                  <a:pt x="1485900" y="3848100"/>
                </a:moveTo>
                <a:lnTo>
                  <a:pt x="1485900" y="3438525"/>
                </a:lnTo>
                <a:lnTo>
                  <a:pt x="0" y="3438525"/>
                </a:lnTo>
                <a:lnTo>
                  <a:pt x="0" y="0"/>
                </a:lnTo>
                <a:lnTo>
                  <a:pt x="447675" y="0"/>
                </a:lnTo>
              </a:path>
            </a:pathLst>
          </a:custGeom>
          <a:noFill/>
          <a:ln w="22860">
            <a:solidFill>
              <a:srgbClr val="D96933"/>
            </a:solidFill>
            <a:prstDash val="dash"/>
          </a:ln>
        </p:spPr>
        <p:txBody>
          <a:bodyPr/>
          <a:p/>
        </p:txBody>
      </p:sp>
      <p:sp>
        <p:nvSpPr>
          <p:cNvPr id="271" name="arrow-269">
            <a:extLst>
              <a:ext uri="{FF2B5EF4-FFF2-40B4-BE49-F238E27FC236}">
                <a16:creationId xmlns:a16="http://schemas.microsoft.com/office/drawing/2014/main" id="{0692CF2D-0672-499C-9033-61C9ED17EA95}"/>
              </a:ext>
            </a:extLst>
          </p:cNvPr>
          <p:cNvSpPr>
            <a:spLocks noGrp="1"/>
          </p:cNvSpPr>
          <p:nvPr/>
        </p:nvSpPr>
        <p:spPr>
          <a:xfrm>
            <a:off x="3476625" y="2805113"/>
            <a:ext cx="85725" cy="85725"/>
          </a:xfrm>
          <a:custGeom>
            <a:avLst/>
            <a:gdLst/>
            <a:ahLst/>
            <a:cxnLst/>
            <a:rect l="0" t="0" r="0" b="0"/>
            <a:pathLst>
              <a:path w="85725" h="85725">
                <a:moveTo>
                  <a:pt x="85725" y="42863"/>
                </a:moveTo>
                <a:lnTo>
                  <a:pt x="0" y="0"/>
                </a:lnTo>
                <a:lnTo>
                  <a:pt x="0" y="85725"/>
                </a:lnTo>
                <a:lnTo>
                  <a:pt x="85725" y="42863"/>
                </a:lnTo>
              </a:path>
            </a:pathLst>
          </a:custGeom>
          <a:solidFill>
            <a:srgbClr val="D96933"/>
          </a:solidFill>
          <a:ln w="2858">
            <a:solidFill>
              <a:srgbClr val="D96933"/>
            </a:solidFill>
          </a:ln>
        </p:spPr>
        <p:txBody>
          <a:bodyPr/>
          <a:p/>
        </p:txBody>
      </p:sp>
      <p:sp>
        <p:nvSpPr>
          <p:cNvPr id="272" name="element-270">
            <a:extLst>
              <a:ext uri="{FF2B5EF4-FFF2-40B4-BE49-F238E27FC236}">
                <a16:creationId xmlns:a16="http://schemas.microsoft.com/office/drawing/2014/main" id="{15883D82-09E3-4973-BBDC-1CA646A43FE3}"/>
              </a:ext>
            </a:extLst>
          </p:cNvPr>
          <p:cNvSpPr>
            <a:spLocks noGrp="1"/>
          </p:cNvSpPr>
          <p:nvPr/>
        </p:nvSpPr>
        <p:spPr>
          <a:xfrm>
            <a:off x="3162300" y="6324600"/>
            <a:ext cx="1905000" cy="342900"/>
          </a:xfrm>
          <a:prstGeom prst="rect">
            <a:avLst/>
          </a:prstGeom>
          <a:noFill/>
          <a:ln w="0">
            <a:noFill/>
          </a:ln>
        </p:spPr>
        <p:txBody>
          <a:bodyPr lIns="0" tIns="0" rIns="0" bIns="0" anchor="ctr">
            <a:noAutofit/>
          </a:bodyPr>
          <a:lstStyle/>
          <a:p>
            <a:pPr algn="l">
              <a:defRPr sz="1200" b="0">
                <a:solidFill>
                  <a:srgbClr val="D96933"/>
                </a:solidFill>
                <a:latin typeface="Arial"/>
                <a:ea typeface="Arial"/>
                <a:cs typeface="Arial"/>
              </a:defRPr>
            </a:pPr>
            <a:r>
              <a:rPr sz="1200" b="0" dirty="0">
                <a:solidFill>
                  <a:srgbClr val="D96933"/>
                </a:solidFill>
                <a:latin typeface="Arial"/>
                <a:ea typeface="Arial"/>
                <a:cs typeface="Arial"/>
              </a:rPr>
              <a:t>Revise child groups</a:t>
            </a:r>
          </a:p>
          <a:p>
            <a:pPr algn="l">
              <a:defRPr sz="1200" b="0">
                <a:solidFill>
                  <a:srgbClr val="D96933"/>
                </a:solidFill>
                <a:latin typeface="Arial"/>
                <a:ea typeface="Arial"/>
                <a:cs typeface="Arial"/>
              </a:defRPr>
            </a:pPr>
            <a:r>
              <a:rPr sz="1200" b="0" dirty="0">
                <a:solidFill>
                  <a:srgbClr val="D96933"/>
                </a:solidFill>
                <a:latin typeface="Arial"/>
                <a:ea typeface="Arial"/>
                <a:cs typeface="Arial"/>
              </a:rPr>
              <a:t>for each root</a:t>
            </a:r>
          </a:p>
        </p:txBody>
      </p:sp>
      <p:sp>
        <p:nvSpPr>
          <p:cNvPr id="273" name="element-271">
            <a:extLst>
              <a:ext uri="{FF2B5EF4-FFF2-40B4-BE49-F238E27FC236}">
                <a16:creationId xmlns:a16="http://schemas.microsoft.com/office/drawing/2014/main" id="{40492BBB-6AD5-4581-8FE6-7D4EE86612AA}"/>
              </a:ext>
            </a:extLst>
          </p:cNvPr>
          <p:cNvSpPr>
            <a:spLocks noGrp="1"/>
          </p:cNvSpPr>
          <p:nvPr/>
        </p:nvSpPr>
        <p:spPr>
          <a:xfrm>
            <a:off x="5219700" y="6696075"/>
            <a:ext cx="5429250" cy="1990725"/>
          </a:xfrm>
          <a:prstGeom prst="roundRect">
            <a:avLst>
              <a:gd name="adj" fmla="val 3828"/>
            </a:avLst>
          </a:prstGeom>
          <a:solidFill>
            <a:srgbClr val="FFFCF9"/>
          </a:solidFill>
          <a:ln w="14288">
            <a:solidFill>
              <a:srgbClr val="E3A27C"/>
            </a:solidFill>
          </a:ln>
        </p:spPr>
        <p:txBody>
          <a:bodyPr/>
          <a:p/>
        </p:txBody>
      </p:sp>
      <p:sp>
        <p:nvSpPr>
          <p:cNvPr id="274" name="element-272">
            <a:extLst>
              <a:ext uri="{FF2B5EF4-FFF2-40B4-BE49-F238E27FC236}">
                <a16:creationId xmlns:a16="http://schemas.microsoft.com/office/drawing/2014/main" id="{C35030CF-C874-44AA-B575-53A5622D1392}"/>
              </a:ext>
            </a:extLst>
          </p:cNvPr>
          <p:cNvSpPr>
            <a:spLocks noGrp="1"/>
          </p:cNvSpPr>
          <p:nvPr/>
        </p:nvSpPr>
        <p:spPr>
          <a:xfrm>
            <a:off x="5381625" y="6800850"/>
            <a:ext cx="5057775" cy="295275"/>
          </a:xfrm>
          <a:prstGeom prst="rect">
            <a:avLst/>
          </a:prstGeom>
          <a:noFill/>
          <a:ln w="0">
            <a:noFill/>
          </a:ln>
        </p:spPr>
        <p:txBody>
          <a:bodyPr lIns="0" tIns="0" rIns="0" bIns="0" anchor="ctr">
            <a:noAutofit/>
          </a:bodyPr>
          <a:lstStyle/>
          <a:p>
            <a:pPr algn="ctr">
              <a:defRPr sz="1875" b="1">
                <a:solidFill>
                  <a:srgbClr val="122C50"/>
                </a:solidFill>
                <a:latin typeface="Arial"/>
                <a:ea typeface="Arial"/>
                <a:cs typeface="Arial"/>
              </a:defRPr>
            </a:pPr>
            <a:r>
              <a:rPr sz="1875" b="1" dirty="0">
                <a:solidFill>
                  <a:srgbClr val="122C50"/>
                </a:solidFill>
                <a:latin typeface="Arial"/>
                <a:ea typeface="Arial"/>
                <a:cs typeface="Arial"/>
              </a:rPr>
              <a:t>Subtree-level reflection</a:t>
            </a:r>
          </a:p>
        </p:txBody>
      </p:sp>
      <p:sp>
        <p:nvSpPr>
          <p:cNvPr id="275" name="element-273">
            <a:extLst>
              <a:ext uri="{FF2B5EF4-FFF2-40B4-BE49-F238E27FC236}">
                <a16:creationId xmlns:a16="http://schemas.microsoft.com/office/drawing/2014/main" id="{2ACEBD07-9939-4B4D-A304-1743019463DD}"/>
              </a:ext>
            </a:extLst>
          </p:cNvPr>
          <p:cNvSpPr>
            <a:spLocks noGrp="1"/>
          </p:cNvSpPr>
          <p:nvPr/>
        </p:nvSpPr>
        <p:spPr>
          <a:xfrm>
            <a:off x="5381625" y="7219950"/>
            <a:ext cx="923925" cy="1095375"/>
          </a:xfrm>
          <a:prstGeom prst="roundRect">
            <a:avLst>
              <a:gd name="adj" fmla="val 6186"/>
            </a:avLst>
          </a:prstGeom>
          <a:solidFill>
            <a:srgbClr val="EEF5FC"/>
          </a:solidFill>
          <a:ln w="14288">
            <a:solidFill>
              <a:srgbClr val="357FC0"/>
            </a:solidFill>
          </a:ln>
        </p:spPr>
        <p:txBody>
          <a:bodyPr/>
          <a:p/>
        </p:txBody>
      </p:sp>
      <p:sp>
        <p:nvSpPr>
          <p:cNvPr id="276" name="node-274">
            <a:extLst>
              <a:ext uri="{FF2B5EF4-FFF2-40B4-BE49-F238E27FC236}">
                <a16:creationId xmlns:a16="http://schemas.microsoft.com/office/drawing/2014/main" id="{DD641A78-7FDF-47F4-B526-07E18C0231E9}"/>
              </a:ext>
            </a:extLst>
          </p:cNvPr>
          <p:cNvSpPr>
            <a:spLocks noGrp="1"/>
          </p:cNvSpPr>
          <p:nvPr/>
        </p:nvSpPr>
        <p:spPr>
          <a:xfrm>
            <a:off x="5476875" y="7305675"/>
            <a:ext cx="152400" cy="152400"/>
          </a:xfrm>
          <a:prstGeom prst="ellipse">
            <a:avLst/>
          </a:prstGeom>
          <a:solidFill>
            <a:srgbClr val="FFFFFF"/>
          </a:solidFill>
          <a:ln w="22860">
            <a:solidFill>
              <a:srgbClr val="357FC0"/>
            </a:solidFill>
          </a:ln>
        </p:spPr>
        <p:txBody>
          <a:bodyPr/>
          <a:p/>
        </p:txBody>
      </p:sp>
      <p:sp>
        <p:nvSpPr>
          <p:cNvPr id="277" name="line-275">
            <a:extLst>
              <a:ext uri="{FF2B5EF4-FFF2-40B4-BE49-F238E27FC236}">
                <a16:creationId xmlns:a16="http://schemas.microsoft.com/office/drawing/2014/main" id="{5080BF80-D76D-4080-81E3-F6F29782D988}"/>
              </a:ext>
            </a:extLst>
          </p:cNvPr>
          <p:cNvSpPr>
            <a:spLocks noGrp="1"/>
          </p:cNvSpPr>
          <p:nvPr/>
        </p:nvSpPr>
        <p:spPr>
          <a:xfrm>
            <a:off x="5610225" y="7439025"/>
            <a:ext cx="57150" cy="57150"/>
          </a:xfrm>
          <a:custGeom>
            <a:avLst/>
            <a:gdLst/>
            <a:ahLst/>
            <a:cxnLst/>
            <a:rect l="0" t="0" r="0" b="0"/>
            <a:pathLst>
              <a:path w="57150" h="57150">
                <a:moveTo>
                  <a:pt x="0" y="0"/>
                </a:moveTo>
                <a:lnTo>
                  <a:pt x="57150" y="57150"/>
                </a:lnTo>
              </a:path>
            </a:pathLst>
          </a:custGeom>
          <a:noFill/>
          <a:ln w="32385">
            <a:solidFill>
              <a:srgbClr val="357FC0"/>
            </a:solidFill>
            <a:prstDash val="solid"/>
          </a:ln>
        </p:spPr>
        <p:txBody>
          <a:bodyPr/>
          <a:p/>
        </p:txBody>
      </p:sp>
      <p:sp>
        <p:nvSpPr>
          <p:cNvPr id="278" name="node-276">
            <a:extLst>
              <a:ext uri="{FF2B5EF4-FFF2-40B4-BE49-F238E27FC236}">
                <a16:creationId xmlns:a16="http://schemas.microsoft.com/office/drawing/2014/main" id="{7B0840C3-89F0-470F-862B-7497487BF0BB}"/>
              </a:ext>
            </a:extLst>
          </p:cNvPr>
          <p:cNvSpPr>
            <a:spLocks noGrp="1"/>
          </p:cNvSpPr>
          <p:nvPr/>
        </p:nvSpPr>
        <p:spPr>
          <a:xfrm>
            <a:off x="5786438" y="7467600"/>
            <a:ext cx="114300" cy="114300"/>
          </a:xfrm>
          <a:prstGeom prst="ellipse">
            <a:avLst/>
          </a:prstGeom>
          <a:solidFill>
            <a:srgbClr val="FFFFFF"/>
          </a:solidFill>
          <a:ln w="16193">
            <a:solidFill>
              <a:srgbClr val="357FC0"/>
            </a:solidFill>
          </a:ln>
        </p:spPr>
        <p:txBody>
          <a:bodyPr/>
          <a:p/>
        </p:txBody>
      </p:sp>
      <p:sp>
        <p:nvSpPr>
          <p:cNvPr id="279" name="line-277">
            <a:extLst>
              <a:ext uri="{FF2B5EF4-FFF2-40B4-BE49-F238E27FC236}">
                <a16:creationId xmlns:a16="http://schemas.microsoft.com/office/drawing/2014/main" id="{9687637F-4B79-4DF4-AEB2-45D8798A1E4A}"/>
              </a:ext>
            </a:extLst>
          </p:cNvPr>
          <p:cNvSpPr>
            <a:spLocks noGrp="1"/>
          </p:cNvSpPr>
          <p:nvPr/>
        </p:nvSpPr>
        <p:spPr>
          <a:xfrm>
            <a:off x="5634038" y="7581900"/>
            <a:ext cx="209550" cy="247650"/>
          </a:xfrm>
          <a:custGeom>
            <a:avLst/>
            <a:gdLst/>
            <a:ahLst/>
            <a:cxnLst/>
            <a:rect l="0" t="0" r="0" b="0"/>
            <a:pathLst>
              <a:path w="209550" h="247650">
                <a:moveTo>
                  <a:pt x="209550" y="0"/>
                </a:moveTo>
                <a:lnTo>
                  <a:pt x="0" y="247650"/>
                </a:lnTo>
              </a:path>
            </a:pathLst>
          </a:custGeom>
          <a:noFill/>
          <a:ln w="16193">
            <a:solidFill>
              <a:srgbClr val="357FC0"/>
            </a:solidFill>
            <a:prstDash val="solid"/>
          </a:ln>
        </p:spPr>
        <p:txBody>
          <a:bodyPr/>
          <a:p/>
        </p:txBody>
      </p:sp>
      <p:sp>
        <p:nvSpPr>
          <p:cNvPr id="280" name="node-278">
            <a:extLst>
              <a:ext uri="{FF2B5EF4-FFF2-40B4-BE49-F238E27FC236}">
                <a16:creationId xmlns:a16="http://schemas.microsoft.com/office/drawing/2014/main" id="{42186651-421E-4DC2-A141-F2142C081049}"/>
              </a:ext>
            </a:extLst>
          </p:cNvPr>
          <p:cNvSpPr>
            <a:spLocks noGrp="1"/>
          </p:cNvSpPr>
          <p:nvPr/>
        </p:nvSpPr>
        <p:spPr>
          <a:xfrm>
            <a:off x="5586413" y="7829550"/>
            <a:ext cx="95250" cy="95250"/>
          </a:xfrm>
          <a:prstGeom prst="ellipse">
            <a:avLst/>
          </a:prstGeom>
          <a:solidFill>
            <a:srgbClr val="FFFFFF"/>
          </a:solidFill>
          <a:ln w="16193">
            <a:solidFill>
              <a:srgbClr val="357FC0"/>
            </a:solidFill>
          </a:ln>
        </p:spPr>
        <p:txBody>
          <a:bodyPr/>
          <a:p/>
        </p:txBody>
      </p:sp>
      <p:sp>
        <p:nvSpPr>
          <p:cNvPr id="281" name="line-279">
            <a:extLst>
              <a:ext uri="{FF2B5EF4-FFF2-40B4-BE49-F238E27FC236}">
                <a16:creationId xmlns:a16="http://schemas.microsoft.com/office/drawing/2014/main" id="{52AB69EF-5601-45F8-8BD7-D689AE230B1A}"/>
              </a:ext>
            </a:extLst>
          </p:cNvPr>
          <p:cNvSpPr>
            <a:spLocks noGrp="1"/>
          </p:cNvSpPr>
          <p:nvPr/>
        </p:nvSpPr>
        <p:spPr>
          <a:xfrm>
            <a:off x="5843588" y="7581900"/>
            <a:ext cx="9525" cy="247650"/>
          </a:xfrm>
          <a:custGeom>
            <a:avLst/>
            <a:gdLst/>
            <a:ahLst/>
            <a:cxnLst/>
            <a:rect l="0" t="0" r="0" b="0"/>
            <a:pathLst>
              <a:path w="9525" h="247650">
                <a:moveTo>
                  <a:pt x="0" y="0"/>
                </a:moveTo>
                <a:lnTo>
                  <a:pt x="0" y="247650"/>
                </a:lnTo>
              </a:path>
            </a:pathLst>
          </a:custGeom>
          <a:noFill/>
          <a:ln w="16193">
            <a:solidFill>
              <a:srgbClr val="357FC0"/>
            </a:solidFill>
            <a:prstDash val="solid"/>
          </a:ln>
        </p:spPr>
        <p:txBody>
          <a:bodyPr/>
          <a:p/>
        </p:txBody>
      </p:sp>
      <p:sp>
        <p:nvSpPr>
          <p:cNvPr id="282" name="node-280">
            <a:extLst>
              <a:ext uri="{FF2B5EF4-FFF2-40B4-BE49-F238E27FC236}">
                <a16:creationId xmlns:a16="http://schemas.microsoft.com/office/drawing/2014/main" id="{6CF9BC50-E815-4A21-ADD6-02F89E63DAC7}"/>
              </a:ext>
            </a:extLst>
          </p:cNvPr>
          <p:cNvSpPr>
            <a:spLocks noGrp="1"/>
          </p:cNvSpPr>
          <p:nvPr/>
        </p:nvSpPr>
        <p:spPr>
          <a:xfrm>
            <a:off x="5795963" y="7829550"/>
            <a:ext cx="95250" cy="95250"/>
          </a:xfrm>
          <a:prstGeom prst="ellipse">
            <a:avLst/>
          </a:prstGeom>
          <a:solidFill>
            <a:srgbClr val="FFFFFF"/>
          </a:solidFill>
          <a:ln w="16193">
            <a:solidFill>
              <a:srgbClr val="357FC0"/>
            </a:solidFill>
          </a:ln>
        </p:spPr>
        <p:txBody>
          <a:bodyPr/>
          <a:p/>
        </p:txBody>
      </p:sp>
      <p:sp>
        <p:nvSpPr>
          <p:cNvPr id="283" name="line-281">
            <a:extLst>
              <a:ext uri="{FF2B5EF4-FFF2-40B4-BE49-F238E27FC236}">
                <a16:creationId xmlns:a16="http://schemas.microsoft.com/office/drawing/2014/main" id="{46643D6A-5488-488F-9351-A68BA796CF6D}"/>
              </a:ext>
            </a:extLst>
          </p:cNvPr>
          <p:cNvSpPr>
            <a:spLocks noGrp="1"/>
          </p:cNvSpPr>
          <p:nvPr/>
        </p:nvSpPr>
        <p:spPr>
          <a:xfrm>
            <a:off x="5843588" y="7581900"/>
            <a:ext cx="209550" cy="247650"/>
          </a:xfrm>
          <a:custGeom>
            <a:avLst/>
            <a:gdLst/>
            <a:ahLst/>
            <a:cxnLst/>
            <a:rect l="0" t="0" r="0" b="0"/>
            <a:pathLst>
              <a:path w="209550" h="247650">
                <a:moveTo>
                  <a:pt x="0" y="0"/>
                </a:moveTo>
                <a:lnTo>
                  <a:pt x="209550" y="247650"/>
                </a:lnTo>
              </a:path>
            </a:pathLst>
          </a:custGeom>
          <a:noFill/>
          <a:ln w="16193">
            <a:solidFill>
              <a:srgbClr val="357FC0"/>
            </a:solidFill>
            <a:prstDash val="solid"/>
          </a:ln>
        </p:spPr>
        <p:txBody>
          <a:bodyPr/>
          <a:p/>
        </p:txBody>
      </p:sp>
      <p:sp>
        <p:nvSpPr>
          <p:cNvPr id="284" name="node-282">
            <a:extLst>
              <a:ext uri="{FF2B5EF4-FFF2-40B4-BE49-F238E27FC236}">
                <a16:creationId xmlns:a16="http://schemas.microsoft.com/office/drawing/2014/main" id="{0CA5596D-9269-485E-AC07-514D1401A34F}"/>
              </a:ext>
            </a:extLst>
          </p:cNvPr>
          <p:cNvSpPr>
            <a:spLocks noGrp="1"/>
          </p:cNvSpPr>
          <p:nvPr/>
        </p:nvSpPr>
        <p:spPr>
          <a:xfrm>
            <a:off x="6005513" y="7829550"/>
            <a:ext cx="95250" cy="95250"/>
          </a:xfrm>
          <a:prstGeom prst="ellipse">
            <a:avLst/>
          </a:prstGeom>
          <a:solidFill>
            <a:srgbClr val="FFFFFF"/>
          </a:solidFill>
          <a:ln w="16193">
            <a:solidFill>
              <a:srgbClr val="357FC0"/>
            </a:solidFill>
          </a:ln>
        </p:spPr>
        <p:txBody>
          <a:bodyPr/>
          <a:p/>
        </p:txBody>
      </p:sp>
      <p:sp>
        <p:nvSpPr>
          <p:cNvPr id="285" name="element-283">
            <a:extLst>
              <a:ext uri="{FF2B5EF4-FFF2-40B4-BE49-F238E27FC236}">
                <a16:creationId xmlns:a16="http://schemas.microsoft.com/office/drawing/2014/main" id="{0F09D400-6885-4DC0-90E1-CEE159A911A0}"/>
              </a:ext>
            </a:extLst>
          </p:cNvPr>
          <p:cNvSpPr>
            <a:spLocks noGrp="1"/>
          </p:cNvSpPr>
          <p:nvPr/>
        </p:nvSpPr>
        <p:spPr>
          <a:xfrm>
            <a:off x="5419725" y="7972425"/>
            <a:ext cx="847725" cy="285750"/>
          </a:xfrm>
          <a:prstGeom prst="rect">
            <a:avLst/>
          </a:prstGeom>
          <a:noFill/>
          <a:ln w="0">
            <a:noFill/>
          </a:ln>
        </p:spPr>
        <p:txBody>
          <a:bodyPr lIns="0" tIns="0" rIns="0" bIns="0" anchor="ctr">
            <a:noAutofit/>
          </a:bodyPr>
          <a:lstStyle/>
          <a:p>
            <a:pPr algn="ctr">
              <a:defRPr sz="1050" b="1">
                <a:solidFill>
                  <a:srgbClr val="122C50"/>
                </a:solidFill>
                <a:latin typeface="Arial"/>
                <a:ea typeface="Arial"/>
                <a:cs typeface="Arial"/>
              </a:defRPr>
            </a:pPr>
            <a:r>
              <a:rPr sz="1050" b="1">
                <a:solidFill>
                  <a:srgbClr val="122C50"/>
                </a:solidFill>
                <a:latin typeface="Arial"/>
                <a:ea typeface="Arial"/>
                <a:cs typeface="Arial"/>
              </a:rPr>
              <a:t>Revise /</a:t>
            </a:r>
          </a:p>
          <a:p>
            <a:pPr algn="ctr">
              <a:defRPr sz="1050" b="1">
                <a:solidFill>
                  <a:srgbClr val="122C50"/>
                </a:solidFill>
                <a:latin typeface="Arial"/>
                <a:ea typeface="Arial"/>
                <a:cs typeface="Arial"/>
              </a:defRPr>
            </a:pPr>
            <a:r>
              <a:rPr sz="1050" b="1">
                <a:solidFill>
                  <a:srgbClr val="122C50"/>
                </a:solidFill>
                <a:latin typeface="Arial"/>
                <a:ea typeface="Arial"/>
                <a:cs typeface="Arial"/>
              </a:rPr>
              <a:t>Preserve</a:t>
            </a:r>
          </a:p>
        </p:txBody>
      </p:sp>
      <p:sp>
        <p:nvSpPr>
          <p:cNvPr id="286" name="element-284">
            <a:extLst>
              <a:ext uri="{FF2B5EF4-FFF2-40B4-BE49-F238E27FC236}">
                <a16:creationId xmlns:a16="http://schemas.microsoft.com/office/drawing/2014/main" id="{988E7BD3-C4F6-4E91-A3C0-573D68625434}"/>
              </a:ext>
            </a:extLst>
          </p:cNvPr>
          <p:cNvSpPr>
            <a:spLocks noGrp="1"/>
          </p:cNvSpPr>
          <p:nvPr/>
        </p:nvSpPr>
        <p:spPr>
          <a:xfrm>
            <a:off x="6410325" y="7219950"/>
            <a:ext cx="923925" cy="1095375"/>
          </a:xfrm>
          <a:prstGeom prst="roundRect">
            <a:avLst>
              <a:gd name="adj" fmla="val 6186"/>
            </a:avLst>
          </a:prstGeom>
          <a:solidFill>
            <a:srgbClr val="ECF8F5"/>
          </a:solidFill>
          <a:ln w="14288">
            <a:solidFill>
              <a:srgbClr val="168D86"/>
            </a:solidFill>
          </a:ln>
        </p:spPr>
        <p:txBody>
          <a:bodyPr/>
          <a:p/>
        </p:txBody>
      </p:sp>
      <p:sp>
        <p:nvSpPr>
          <p:cNvPr id="287" name="node-285">
            <a:extLst>
              <a:ext uri="{FF2B5EF4-FFF2-40B4-BE49-F238E27FC236}">
                <a16:creationId xmlns:a16="http://schemas.microsoft.com/office/drawing/2014/main" id="{B87E5EFE-EB55-41E5-AAC9-01A2DE8D163C}"/>
              </a:ext>
            </a:extLst>
          </p:cNvPr>
          <p:cNvSpPr>
            <a:spLocks noGrp="1"/>
          </p:cNvSpPr>
          <p:nvPr/>
        </p:nvSpPr>
        <p:spPr>
          <a:xfrm>
            <a:off x="6505575" y="7305675"/>
            <a:ext cx="152400" cy="152400"/>
          </a:xfrm>
          <a:prstGeom prst="ellipse">
            <a:avLst/>
          </a:prstGeom>
          <a:solidFill>
            <a:srgbClr val="FFFFFF"/>
          </a:solidFill>
          <a:ln w="22860">
            <a:solidFill>
              <a:srgbClr val="168D86"/>
            </a:solidFill>
          </a:ln>
        </p:spPr>
        <p:txBody>
          <a:bodyPr/>
          <a:p/>
        </p:txBody>
      </p:sp>
      <p:sp>
        <p:nvSpPr>
          <p:cNvPr id="288" name="line-286">
            <a:extLst>
              <a:ext uri="{FF2B5EF4-FFF2-40B4-BE49-F238E27FC236}">
                <a16:creationId xmlns:a16="http://schemas.microsoft.com/office/drawing/2014/main" id="{6FC55DD0-8FB8-4B1F-A5B2-AC48F2689F98}"/>
              </a:ext>
            </a:extLst>
          </p:cNvPr>
          <p:cNvSpPr>
            <a:spLocks noGrp="1"/>
          </p:cNvSpPr>
          <p:nvPr/>
        </p:nvSpPr>
        <p:spPr>
          <a:xfrm>
            <a:off x="6638925" y="7439025"/>
            <a:ext cx="57150" cy="57150"/>
          </a:xfrm>
          <a:custGeom>
            <a:avLst/>
            <a:gdLst/>
            <a:ahLst/>
            <a:cxnLst/>
            <a:rect l="0" t="0" r="0" b="0"/>
            <a:pathLst>
              <a:path w="57150" h="57150">
                <a:moveTo>
                  <a:pt x="0" y="0"/>
                </a:moveTo>
                <a:lnTo>
                  <a:pt x="57150" y="57150"/>
                </a:lnTo>
              </a:path>
            </a:pathLst>
          </a:custGeom>
          <a:noFill/>
          <a:ln w="32385">
            <a:solidFill>
              <a:srgbClr val="168D86"/>
            </a:solidFill>
            <a:prstDash val="solid"/>
          </a:ln>
        </p:spPr>
        <p:txBody>
          <a:bodyPr/>
          <a:p/>
        </p:txBody>
      </p:sp>
      <p:sp>
        <p:nvSpPr>
          <p:cNvPr id="289" name="node-287">
            <a:extLst>
              <a:ext uri="{FF2B5EF4-FFF2-40B4-BE49-F238E27FC236}">
                <a16:creationId xmlns:a16="http://schemas.microsoft.com/office/drawing/2014/main" id="{6AA0A370-C1C4-490E-8E0B-5839233B8AEF}"/>
              </a:ext>
            </a:extLst>
          </p:cNvPr>
          <p:cNvSpPr>
            <a:spLocks noGrp="1"/>
          </p:cNvSpPr>
          <p:nvPr/>
        </p:nvSpPr>
        <p:spPr>
          <a:xfrm>
            <a:off x="6815138" y="7467600"/>
            <a:ext cx="114300" cy="114300"/>
          </a:xfrm>
          <a:prstGeom prst="ellipse">
            <a:avLst/>
          </a:prstGeom>
          <a:solidFill>
            <a:srgbClr val="FFFFFF"/>
          </a:solidFill>
          <a:ln w="16193">
            <a:solidFill>
              <a:srgbClr val="168D86"/>
            </a:solidFill>
          </a:ln>
        </p:spPr>
        <p:txBody>
          <a:bodyPr/>
          <a:p/>
        </p:txBody>
      </p:sp>
      <p:sp>
        <p:nvSpPr>
          <p:cNvPr id="290" name="line-288">
            <a:extLst>
              <a:ext uri="{FF2B5EF4-FFF2-40B4-BE49-F238E27FC236}">
                <a16:creationId xmlns:a16="http://schemas.microsoft.com/office/drawing/2014/main" id="{C58348F4-D2CA-4074-8BA2-FBA974EB42EA}"/>
              </a:ext>
            </a:extLst>
          </p:cNvPr>
          <p:cNvSpPr>
            <a:spLocks noGrp="1"/>
          </p:cNvSpPr>
          <p:nvPr/>
        </p:nvSpPr>
        <p:spPr>
          <a:xfrm>
            <a:off x="6662738" y="7581900"/>
            <a:ext cx="209550" cy="247650"/>
          </a:xfrm>
          <a:custGeom>
            <a:avLst/>
            <a:gdLst/>
            <a:ahLst/>
            <a:cxnLst/>
            <a:rect l="0" t="0" r="0" b="0"/>
            <a:pathLst>
              <a:path w="209550" h="247650">
                <a:moveTo>
                  <a:pt x="209550" y="0"/>
                </a:moveTo>
                <a:lnTo>
                  <a:pt x="0" y="247650"/>
                </a:lnTo>
              </a:path>
            </a:pathLst>
          </a:custGeom>
          <a:noFill/>
          <a:ln w="16193">
            <a:solidFill>
              <a:srgbClr val="168D86"/>
            </a:solidFill>
            <a:prstDash val="solid"/>
          </a:ln>
        </p:spPr>
        <p:txBody>
          <a:bodyPr/>
          <a:p/>
        </p:txBody>
      </p:sp>
      <p:sp>
        <p:nvSpPr>
          <p:cNvPr id="291" name="node-289">
            <a:extLst>
              <a:ext uri="{FF2B5EF4-FFF2-40B4-BE49-F238E27FC236}">
                <a16:creationId xmlns:a16="http://schemas.microsoft.com/office/drawing/2014/main" id="{E196E3F3-4FFE-452F-AFAF-497C5122914F}"/>
              </a:ext>
            </a:extLst>
          </p:cNvPr>
          <p:cNvSpPr>
            <a:spLocks noGrp="1"/>
          </p:cNvSpPr>
          <p:nvPr/>
        </p:nvSpPr>
        <p:spPr>
          <a:xfrm>
            <a:off x="6615113" y="7829550"/>
            <a:ext cx="95250" cy="95250"/>
          </a:xfrm>
          <a:prstGeom prst="ellipse">
            <a:avLst/>
          </a:prstGeom>
          <a:solidFill>
            <a:srgbClr val="FFFFFF"/>
          </a:solidFill>
          <a:ln w="16193">
            <a:solidFill>
              <a:srgbClr val="168D86"/>
            </a:solidFill>
          </a:ln>
        </p:spPr>
        <p:txBody>
          <a:bodyPr/>
          <a:p/>
        </p:txBody>
      </p:sp>
      <p:sp>
        <p:nvSpPr>
          <p:cNvPr id="292" name="line-290">
            <a:extLst>
              <a:ext uri="{FF2B5EF4-FFF2-40B4-BE49-F238E27FC236}">
                <a16:creationId xmlns:a16="http://schemas.microsoft.com/office/drawing/2014/main" id="{FFB60852-DD82-46AD-8AE7-C116155C7196}"/>
              </a:ext>
            </a:extLst>
          </p:cNvPr>
          <p:cNvSpPr>
            <a:spLocks noGrp="1"/>
          </p:cNvSpPr>
          <p:nvPr/>
        </p:nvSpPr>
        <p:spPr>
          <a:xfrm>
            <a:off x="6872288" y="7581900"/>
            <a:ext cx="9525" cy="247650"/>
          </a:xfrm>
          <a:custGeom>
            <a:avLst/>
            <a:gdLst/>
            <a:ahLst/>
            <a:cxnLst/>
            <a:rect l="0" t="0" r="0" b="0"/>
            <a:pathLst>
              <a:path w="9525" h="247650">
                <a:moveTo>
                  <a:pt x="0" y="0"/>
                </a:moveTo>
                <a:lnTo>
                  <a:pt x="0" y="247650"/>
                </a:lnTo>
              </a:path>
            </a:pathLst>
          </a:custGeom>
          <a:noFill/>
          <a:ln w="16193">
            <a:solidFill>
              <a:srgbClr val="168D86"/>
            </a:solidFill>
            <a:prstDash val="solid"/>
          </a:ln>
        </p:spPr>
        <p:txBody>
          <a:bodyPr/>
          <a:p/>
        </p:txBody>
      </p:sp>
      <p:sp>
        <p:nvSpPr>
          <p:cNvPr id="293" name="node-291">
            <a:extLst>
              <a:ext uri="{FF2B5EF4-FFF2-40B4-BE49-F238E27FC236}">
                <a16:creationId xmlns:a16="http://schemas.microsoft.com/office/drawing/2014/main" id="{E9DADF06-0DC9-4DB3-9907-4120A143CFA0}"/>
              </a:ext>
            </a:extLst>
          </p:cNvPr>
          <p:cNvSpPr>
            <a:spLocks noGrp="1"/>
          </p:cNvSpPr>
          <p:nvPr/>
        </p:nvSpPr>
        <p:spPr>
          <a:xfrm>
            <a:off x="6824663" y="7829550"/>
            <a:ext cx="95250" cy="95250"/>
          </a:xfrm>
          <a:prstGeom prst="ellipse">
            <a:avLst/>
          </a:prstGeom>
          <a:solidFill>
            <a:srgbClr val="FFFFFF"/>
          </a:solidFill>
          <a:ln w="16193">
            <a:solidFill>
              <a:srgbClr val="168D86"/>
            </a:solidFill>
          </a:ln>
        </p:spPr>
        <p:txBody>
          <a:bodyPr/>
          <a:p/>
        </p:txBody>
      </p:sp>
      <p:sp>
        <p:nvSpPr>
          <p:cNvPr id="294" name="line-292">
            <a:extLst>
              <a:ext uri="{FF2B5EF4-FFF2-40B4-BE49-F238E27FC236}">
                <a16:creationId xmlns:a16="http://schemas.microsoft.com/office/drawing/2014/main" id="{BA7BB14D-B608-4991-BC87-E9D42CAF7A4F}"/>
              </a:ext>
            </a:extLst>
          </p:cNvPr>
          <p:cNvSpPr>
            <a:spLocks noGrp="1"/>
          </p:cNvSpPr>
          <p:nvPr/>
        </p:nvSpPr>
        <p:spPr>
          <a:xfrm>
            <a:off x="6872288" y="7581900"/>
            <a:ext cx="209550" cy="247650"/>
          </a:xfrm>
          <a:custGeom>
            <a:avLst/>
            <a:gdLst/>
            <a:ahLst/>
            <a:cxnLst/>
            <a:rect l="0" t="0" r="0" b="0"/>
            <a:pathLst>
              <a:path w="209550" h="247650">
                <a:moveTo>
                  <a:pt x="0" y="0"/>
                </a:moveTo>
                <a:lnTo>
                  <a:pt x="209550" y="247650"/>
                </a:lnTo>
              </a:path>
            </a:pathLst>
          </a:custGeom>
          <a:noFill/>
          <a:ln w="16193">
            <a:solidFill>
              <a:srgbClr val="168D86"/>
            </a:solidFill>
            <a:prstDash val="solid"/>
          </a:ln>
        </p:spPr>
        <p:txBody>
          <a:bodyPr/>
          <a:p/>
        </p:txBody>
      </p:sp>
      <p:sp>
        <p:nvSpPr>
          <p:cNvPr id="295" name="node-293">
            <a:extLst>
              <a:ext uri="{FF2B5EF4-FFF2-40B4-BE49-F238E27FC236}">
                <a16:creationId xmlns:a16="http://schemas.microsoft.com/office/drawing/2014/main" id="{7A8C6E29-E77F-4294-B132-B2BC8409BBC1}"/>
              </a:ext>
            </a:extLst>
          </p:cNvPr>
          <p:cNvSpPr>
            <a:spLocks noGrp="1"/>
          </p:cNvSpPr>
          <p:nvPr/>
        </p:nvSpPr>
        <p:spPr>
          <a:xfrm>
            <a:off x="7034213" y="7829550"/>
            <a:ext cx="95250" cy="95250"/>
          </a:xfrm>
          <a:prstGeom prst="ellipse">
            <a:avLst/>
          </a:prstGeom>
          <a:solidFill>
            <a:srgbClr val="FFFFFF"/>
          </a:solidFill>
          <a:ln w="16193">
            <a:solidFill>
              <a:srgbClr val="168D86"/>
            </a:solidFill>
          </a:ln>
        </p:spPr>
        <p:txBody>
          <a:bodyPr/>
          <a:p/>
        </p:txBody>
      </p:sp>
      <p:sp>
        <p:nvSpPr>
          <p:cNvPr id="296" name="element-294">
            <a:extLst>
              <a:ext uri="{FF2B5EF4-FFF2-40B4-BE49-F238E27FC236}">
                <a16:creationId xmlns:a16="http://schemas.microsoft.com/office/drawing/2014/main" id="{630E7025-6DF2-4717-A01A-0713948C6A94}"/>
              </a:ext>
            </a:extLst>
          </p:cNvPr>
          <p:cNvSpPr>
            <a:spLocks noGrp="1"/>
          </p:cNvSpPr>
          <p:nvPr/>
        </p:nvSpPr>
        <p:spPr>
          <a:xfrm>
            <a:off x="6448425" y="7972425"/>
            <a:ext cx="847725" cy="285750"/>
          </a:xfrm>
          <a:prstGeom prst="rect">
            <a:avLst/>
          </a:prstGeom>
          <a:noFill/>
          <a:ln w="0">
            <a:noFill/>
          </a:ln>
        </p:spPr>
        <p:txBody>
          <a:bodyPr lIns="0" tIns="0" rIns="0" bIns="0" anchor="ctr">
            <a:noAutofit/>
          </a:bodyPr>
          <a:lstStyle/>
          <a:p>
            <a:pPr algn="ctr">
              <a:defRPr sz="1050" b="1">
                <a:solidFill>
                  <a:srgbClr val="122C50"/>
                </a:solidFill>
                <a:latin typeface="Arial"/>
                <a:ea typeface="Arial"/>
                <a:cs typeface="Arial"/>
              </a:defRPr>
            </a:pPr>
            <a:r>
              <a:rPr sz="1050" b="1">
                <a:solidFill>
                  <a:srgbClr val="122C50"/>
                </a:solidFill>
                <a:latin typeface="Arial"/>
                <a:ea typeface="Arial"/>
                <a:cs typeface="Arial"/>
              </a:rPr>
              <a:t>Revise /</a:t>
            </a:r>
          </a:p>
          <a:p>
            <a:pPr algn="ctr">
              <a:defRPr sz="1050" b="1">
                <a:solidFill>
                  <a:srgbClr val="122C50"/>
                </a:solidFill>
                <a:latin typeface="Arial"/>
                <a:ea typeface="Arial"/>
                <a:cs typeface="Arial"/>
              </a:defRPr>
            </a:pPr>
            <a:r>
              <a:rPr sz="1050" b="1">
                <a:solidFill>
                  <a:srgbClr val="122C50"/>
                </a:solidFill>
                <a:latin typeface="Arial"/>
                <a:ea typeface="Arial"/>
                <a:cs typeface="Arial"/>
              </a:rPr>
              <a:t>Preserve</a:t>
            </a:r>
          </a:p>
        </p:txBody>
      </p:sp>
      <p:sp>
        <p:nvSpPr>
          <p:cNvPr id="297" name="element-295">
            <a:extLst>
              <a:ext uri="{FF2B5EF4-FFF2-40B4-BE49-F238E27FC236}">
                <a16:creationId xmlns:a16="http://schemas.microsoft.com/office/drawing/2014/main" id="{EF26CE06-C61D-4BD3-961F-8ABD931B58AB}"/>
              </a:ext>
            </a:extLst>
          </p:cNvPr>
          <p:cNvSpPr>
            <a:spLocks noGrp="1"/>
          </p:cNvSpPr>
          <p:nvPr/>
        </p:nvSpPr>
        <p:spPr>
          <a:xfrm>
            <a:off x="7439025" y="7219950"/>
            <a:ext cx="923925" cy="1095375"/>
          </a:xfrm>
          <a:prstGeom prst="roundRect">
            <a:avLst>
              <a:gd name="adj" fmla="val 6186"/>
            </a:avLst>
          </a:prstGeom>
          <a:solidFill>
            <a:srgbClr val="FFF5EB"/>
          </a:solidFill>
          <a:ln w="14288">
            <a:solidFill>
              <a:srgbClr val="CD7939"/>
            </a:solidFill>
          </a:ln>
        </p:spPr>
        <p:txBody>
          <a:bodyPr/>
          <a:p/>
        </p:txBody>
      </p:sp>
      <p:sp>
        <p:nvSpPr>
          <p:cNvPr id="298" name="node-296">
            <a:extLst>
              <a:ext uri="{FF2B5EF4-FFF2-40B4-BE49-F238E27FC236}">
                <a16:creationId xmlns:a16="http://schemas.microsoft.com/office/drawing/2014/main" id="{1491B2B3-6032-43C6-B0FA-B4F080AC8BEF}"/>
              </a:ext>
            </a:extLst>
          </p:cNvPr>
          <p:cNvSpPr>
            <a:spLocks noGrp="1"/>
          </p:cNvSpPr>
          <p:nvPr/>
        </p:nvSpPr>
        <p:spPr>
          <a:xfrm>
            <a:off x="7534275" y="7305675"/>
            <a:ext cx="152400" cy="152400"/>
          </a:xfrm>
          <a:prstGeom prst="ellipse">
            <a:avLst/>
          </a:prstGeom>
          <a:solidFill>
            <a:srgbClr val="FFFFFF"/>
          </a:solidFill>
          <a:ln w="22860">
            <a:solidFill>
              <a:srgbClr val="CD7939"/>
            </a:solidFill>
          </a:ln>
        </p:spPr>
        <p:txBody>
          <a:bodyPr/>
          <a:p/>
        </p:txBody>
      </p:sp>
      <p:sp>
        <p:nvSpPr>
          <p:cNvPr id="299" name="line-297">
            <a:extLst>
              <a:ext uri="{FF2B5EF4-FFF2-40B4-BE49-F238E27FC236}">
                <a16:creationId xmlns:a16="http://schemas.microsoft.com/office/drawing/2014/main" id="{BFB01A8D-3DB1-4735-835E-09567C19516E}"/>
              </a:ext>
            </a:extLst>
          </p:cNvPr>
          <p:cNvSpPr>
            <a:spLocks noGrp="1"/>
          </p:cNvSpPr>
          <p:nvPr/>
        </p:nvSpPr>
        <p:spPr>
          <a:xfrm>
            <a:off x="7667625" y="7439025"/>
            <a:ext cx="57150" cy="57150"/>
          </a:xfrm>
          <a:custGeom>
            <a:avLst/>
            <a:gdLst/>
            <a:ahLst/>
            <a:cxnLst/>
            <a:rect l="0" t="0" r="0" b="0"/>
            <a:pathLst>
              <a:path w="57150" h="57150">
                <a:moveTo>
                  <a:pt x="0" y="0"/>
                </a:moveTo>
                <a:lnTo>
                  <a:pt x="57150" y="57150"/>
                </a:lnTo>
              </a:path>
            </a:pathLst>
          </a:custGeom>
          <a:noFill/>
          <a:ln w="32385">
            <a:solidFill>
              <a:srgbClr val="CD7939"/>
            </a:solidFill>
            <a:prstDash val="solid"/>
          </a:ln>
        </p:spPr>
        <p:txBody>
          <a:bodyPr/>
          <a:p/>
        </p:txBody>
      </p:sp>
      <p:sp>
        <p:nvSpPr>
          <p:cNvPr id="300" name="node-298">
            <a:extLst>
              <a:ext uri="{FF2B5EF4-FFF2-40B4-BE49-F238E27FC236}">
                <a16:creationId xmlns:a16="http://schemas.microsoft.com/office/drawing/2014/main" id="{B0B408BB-FF10-4F22-A8ED-6EFDDD2D3ACF}"/>
              </a:ext>
            </a:extLst>
          </p:cNvPr>
          <p:cNvSpPr>
            <a:spLocks noGrp="1"/>
          </p:cNvSpPr>
          <p:nvPr/>
        </p:nvSpPr>
        <p:spPr>
          <a:xfrm>
            <a:off x="7843838" y="7467600"/>
            <a:ext cx="114300" cy="114300"/>
          </a:xfrm>
          <a:prstGeom prst="ellipse">
            <a:avLst/>
          </a:prstGeom>
          <a:solidFill>
            <a:srgbClr val="FFFFFF"/>
          </a:solidFill>
          <a:ln w="16193">
            <a:solidFill>
              <a:srgbClr val="CD7939"/>
            </a:solidFill>
          </a:ln>
        </p:spPr>
        <p:txBody>
          <a:bodyPr/>
          <a:p/>
        </p:txBody>
      </p:sp>
      <p:sp>
        <p:nvSpPr>
          <p:cNvPr id="301" name="line-299">
            <a:extLst>
              <a:ext uri="{FF2B5EF4-FFF2-40B4-BE49-F238E27FC236}">
                <a16:creationId xmlns:a16="http://schemas.microsoft.com/office/drawing/2014/main" id="{E21626F7-B867-423B-9526-8FA5D4777ACF}"/>
              </a:ext>
            </a:extLst>
          </p:cNvPr>
          <p:cNvSpPr>
            <a:spLocks noGrp="1"/>
          </p:cNvSpPr>
          <p:nvPr/>
        </p:nvSpPr>
        <p:spPr>
          <a:xfrm>
            <a:off x="7691438" y="7581900"/>
            <a:ext cx="209550" cy="247650"/>
          </a:xfrm>
          <a:custGeom>
            <a:avLst/>
            <a:gdLst/>
            <a:ahLst/>
            <a:cxnLst/>
            <a:rect l="0" t="0" r="0" b="0"/>
            <a:pathLst>
              <a:path w="209550" h="247650">
                <a:moveTo>
                  <a:pt x="209550" y="0"/>
                </a:moveTo>
                <a:lnTo>
                  <a:pt x="0" y="247650"/>
                </a:lnTo>
              </a:path>
            </a:pathLst>
          </a:custGeom>
          <a:noFill/>
          <a:ln w="16193">
            <a:solidFill>
              <a:srgbClr val="CD7939"/>
            </a:solidFill>
            <a:prstDash val="solid"/>
          </a:ln>
        </p:spPr>
        <p:txBody>
          <a:bodyPr/>
          <a:p/>
        </p:txBody>
      </p:sp>
      <p:sp>
        <p:nvSpPr>
          <p:cNvPr id="302" name="node-300">
            <a:extLst>
              <a:ext uri="{FF2B5EF4-FFF2-40B4-BE49-F238E27FC236}">
                <a16:creationId xmlns:a16="http://schemas.microsoft.com/office/drawing/2014/main" id="{9F9F2C78-E655-4E7A-A77F-BD19D44405A1}"/>
              </a:ext>
            </a:extLst>
          </p:cNvPr>
          <p:cNvSpPr>
            <a:spLocks noGrp="1"/>
          </p:cNvSpPr>
          <p:nvPr/>
        </p:nvSpPr>
        <p:spPr>
          <a:xfrm>
            <a:off x="7643813" y="7829550"/>
            <a:ext cx="95250" cy="95250"/>
          </a:xfrm>
          <a:prstGeom prst="ellipse">
            <a:avLst/>
          </a:prstGeom>
          <a:solidFill>
            <a:srgbClr val="FFFFFF"/>
          </a:solidFill>
          <a:ln w="16193">
            <a:solidFill>
              <a:srgbClr val="CD7939"/>
            </a:solidFill>
          </a:ln>
        </p:spPr>
        <p:txBody>
          <a:bodyPr/>
          <a:p/>
        </p:txBody>
      </p:sp>
      <p:sp>
        <p:nvSpPr>
          <p:cNvPr id="303" name="line-301">
            <a:extLst>
              <a:ext uri="{FF2B5EF4-FFF2-40B4-BE49-F238E27FC236}">
                <a16:creationId xmlns:a16="http://schemas.microsoft.com/office/drawing/2014/main" id="{0C016DD6-8BD6-4F3F-A89F-B0D036D8A991}"/>
              </a:ext>
            </a:extLst>
          </p:cNvPr>
          <p:cNvSpPr>
            <a:spLocks noGrp="1"/>
          </p:cNvSpPr>
          <p:nvPr/>
        </p:nvSpPr>
        <p:spPr>
          <a:xfrm>
            <a:off x="7900988" y="7581900"/>
            <a:ext cx="9525" cy="247650"/>
          </a:xfrm>
          <a:custGeom>
            <a:avLst/>
            <a:gdLst/>
            <a:ahLst/>
            <a:cxnLst/>
            <a:rect l="0" t="0" r="0" b="0"/>
            <a:pathLst>
              <a:path w="9525" h="247650">
                <a:moveTo>
                  <a:pt x="0" y="0"/>
                </a:moveTo>
                <a:lnTo>
                  <a:pt x="0" y="247650"/>
                </a:lnTo>
              </a:path>
            </a:pathLst>
          </a:custGeom>
          <a:noFill/>
          <a:ln w="16193">
            <a:solidFill>
              <a:srgbClr val="CD7939"/>
            </a:solidFill>
            <a:prstDash val="solid"/>
          </a:ln>
        </p:spPr>
        <p:txBody>
          <a:bodyPr/>
          <a:p/>
        </p:txBody>
      </p:sp>
      <p:sp>
        <p:nvSpPr>
          <p:cNvPr id="304" name="node-302">
            <a:extLst>
              <a:ext uri="{FF2B5EF4-FFF2-40B4-BE49-F238E27FC236}">
                <a16:creationId xmlns:a16="http://schemas.microsoft.com/office/drawing/2014/main" id="{F4B5EDBB-BCD6-41FF-8BB3-27137CFC9546}"/>
              </a:ext>
            </a:extLst>
          </p:cNvPr>
          <p:cNvSpPr>
            <a:spLocks noGrp="1"/>
          </p:cNvSpPr>
          <p:nvPr/>
        </p:nvSpPr>
        <p:spPr>
          <a:xfrm>
            <a:off x="7853363" y="7829550"/>
            <a:ext cx="95250" cy="95250"/>
          </a:xfrm>
          <a:prstGeom prst="ellipse">
            <a:avLst/>
          </a:prstGeom>
          <a:solidFill>
            <a:srgbClr val="FFFFFF"/>
          </a:solidFill>
          <a:ln w="16193">
            <a:solidFill>
              <a:srgbClr val="CD7939"/>
            </a:solidFill>
          </a:ln>
        </p:spPr>
        <p:txBody>
          <a:bodyPr/>
          <a:p/>
        </p:txBody>
      </p:sp>
      <p:sp>
        <p:nvSpPr>
          <p:cNvPr id="305" name="line-303">
            <a:extLst>
              <a:ext uri="{FF2B5EF4-FFF2-40B4-BE49-F238E27FC236}">
                <a16:creationId xmlns:a16="http://schemas.microsoft.com/office/drawing/2014/main" id="{0A6CF607-9849-4BAD-95FB-23AB31C4F0DF}"/>
              </a:ext>
            </a:extLst>
          </p:cNvPr>
          <p:cNvSpPr>
            <a:spLocks noGrp="1"/>
          </p:cNvSpPr>
          <p:nvPr/>
        </p:nvSpPr>
        <p:spPr>
          <a:xfrm>
            <a:off x="7900988" y="7581900"/>
            <a:ext cx="209550" cy="247650"/>
          </a:xfrm>
          <a:custGeom>
            <a:avLst/>
            <a:gdLst/>
            <a:ahLst/>
            <a:cxnLst/>
            <a:rect l="0" t="0" r="0" b="0"/>
            <a:pathLst>
              <a:path w="209550" h="247650">
                <a:moveTo>
                  <a:pt x="0" y="0"/>
                </a:moveTo>
                <a:lnTo>
                  <a:pt x="209550" y="247650"/>
                </a:lnTo>
              </a:path>
            </a:pathLst>
          </a:custGeom>
          <a:noFill/>
          <a:ln w="16193">
            <a:solidFill>
              <a:srgbClr val="CD7939"/>
            </a:solidFill>
            <a:prstDash val="solid"/>
          </a:ln>
        </p:spPr>
        <p:txBody>
          <a:bodyPr/>
          <a:p/>
        </p:txBody>
      </p:sp>
      <p:sp>
        <p:nvSpPr>
          <p:cNvPr id="306" name="node-304">
            <a:extLst>
              <a:ext uri="{FF2B5EF4-FFF2-40B4-BE49-F238E27FC236}">
                <a16:creationId xmlns:a16="http://schemas.microsoft.com/office/drawing/2014/main" id="{2D625888-A745-4286-A355-095563704053}"/>
              </a:ext>
            </a:extLst>
          </p:cNvPr>
          <p:cNvSpPr>
            <a:spLocks noGrp="1"/>
          </p:cNvSpPr>
          <p:nvPr/>
        </p:nvSpPr>
        <p:spPr>
          <a:xfrm>
            <a:off x="8062913" y="7829550"/>
            <a:ext cx="95250" cy="95250"/>
          </a:xfrm>
          <a:prstGeom prst="ellipse">
            <a:avLst/>
          </a:prstGeom>
          <a:solidFill>
            <a:srgbClr val="FFFFFF"/>
          </a:solidFill>
          <a:ln w="16193">
            <a:solidFill>
              <a:srgbClr val="CD7939"/>
            </a:solidFill>
          </a:ln>
        </p:spPr>
        <p:txBody>
          <a:bodyPr/>
          <a:p/>
        </p:txBody>
      </p:sp>
      <p:sp>
        <p:nvSpPr>
          <p:cNvPr id="307" name="element-305">
            <a:extLst>
              <a:ext uri="{FF2B5EF4-FFF2-40B4-BE49-F238E27FC236}">
                <a16:creationId xmlns:a16="http://schemas.microsoft.com/office/drawing/2014/main" id="{4D4F3931-92D5-4B3C-98F3-DBFEFF76B7B4}"/>
              </a:ext>
            </a:extLst>
          </p:cNvPr>
          <p:cNvSpPr>
            <a:spLocks noGrp="1"/>
          </p:cNvSpPr>
          <p:nvPr/>
        </p:nvSpPr>
        <p:spPr>
          <a:xfrm>
            <a:off x="7477125" y="7972425"/>
            <a:ext cx="847725" cy="285750"/>
          </a:xfrm>
          <a:prstGeom prst="rect">
            <a:avLst/>
          </a:prstGeom>
          <a:noFill/>
          <a:ln w="0">
            <a:noFill/>
          </a:ln>
        </p:spPr>
        <p:txBody>
          <a:bodyPr lIns="0" tIns="0" rIns="0" bIns="0" anchor="ctr">
            <a:noAutofit/>
          </a:bodyPr>
          <a:lstStyle/>
          <a:p>
            <a:pPr algn="ctr">
              <a:defRPr sz="1050" b="1">
                <a:solidFill>
                  <a:srgbClr val="122C50"/>
                </a:solidFill>
                <a:latin typeface="Arial"/>
                <a:ea typeface="Arial"/>
                <a:cs typeface="Arial"/>
              </a:defRPr>
            </a:pPr>
            <a:r>
              <a:rPr sz="1050" b="1">
                <a:solidFill>
                  <a:srgbClr val="122C50"/>
                </a:solidFill>
                <a:latin typeface="Arial"/>
                <a:ea typeface="Arial"/>
                <a:cs typeface="Arial"/>
              </a:rPr>
              <a:t>Revise /</a:t>
            </a:r>
          </a:p>
          <a:p>
            <a:pPr algn="ctr">
              <a:defRPr sz="1050" b="1">
                <a:solidFill>
                  <a:srgbClr val="122C50"/>
                </a:solidFill>
                <a:latin typeface="Arial"/>
                <a:ea typeface="Arial"/>
                <a:cs typeface="Arial"/>
              </a:defRPr>
            </a:pPr>
            <a:r>
              <a:rPr sz="1050" b="1">
                <a:solidFill>
                  <a:srgbClr val="122C50"/>
                </a:solidFill>
                <a:latin typeface="Arial"/>
                <a:ea typeface="Arial"/>
                <a:cs typeface="Arial"/>
              </a:rPr>
              <a:t>Preserve</a:t>
            </a:r>
          </a:p>
        </p:txBody>
      </p:sp>
      <p:sp>
        <p:nvSpPr>
          <p:cNvPr id="308" name="element-306">
            <a:extLst>
              <a:ext uri="{FF2B5EF4-FFF2-40B4-BE49-F238E27FC236}">
                <a16:creationId xmlns:a16="http://schemas.microsoft.com/office/drawing/2014/main" id="{C509D1AF-DDA1-4CB4-BDD5-A2634E81AB3E}"/>
              </a:ext>
            </a:extLst>
          </p:cNvPr>
          <p:cNvSpPr>
            <a:spLocks noGrp="1"/>
          </p:cNvSpPr>
          <p:nvPr/>
        </p:nvSpPr>
        <p:spPr>
          <a:xfrm>
            <a:off x="8467725" y="7219950"/>
            <a:ext cx="923925" cy="1095375"/>
          </a:xfrm>
          <a:prstGeom prst="roundRect">
            <a:avLst>
              <a:gd name="adj" fmla="val 6186"/>
            </a:avLst>
          </a:prstGeom>
          <a:solidFill>
            <a:srgbClr val="F5EFFB"/>
          </a:solidFill>
          <a:ln w="14288">
            <a:solidFill>
              <a:srgbClr val="8662B5"/>
            </a:solidFill>
          </a:ln>
        </p:spPr>
        <p:txBody>
          <a:bodyPr/>
          <a:p/>
        </p:txBody>
      </p:sp>
      <p:sp>
        <p:nvSpPr>
          <p:cNvPr id="309" name="node-307">
            <a:extLst>
              <a:ext uri="{FF2B5EF4-FFF2-40B4-BE49-F238E27FC236}">
                <a16:creationId xmlns:a16="http://schemas.microsoft.com/office/drawing/2014/main" id="{CE2248EC-8F65-49FE-954D-239DADBB0F81}"/>
              </a:ext>
            </a:extLst>
          </p:cNvPr>
          <p:cNvSpPr>
            <a:spLocks noGrp="1"/>
          </p:cNvSpPr>
          <p:nvPr/>
        </p:nvSpPr>
        <p:spPr>
          <a:xfrm>
            <a:off x="8562975" y="7305675"/>
            <a:ext cx="152400" cy="152400"/>
          </a:xfrm>
          <a:prstGeom prst="ellipse">
            <a:avLst/>
          </a:prstGeom>
          <a:solidFill>
            <a:srgbClr val="FFFFFF"/>
          </a:solidFill>
          <a:ln w="22860">
            <a:solidFill>
              <a:srgbClr val="8662B5"/>
            </a:solidFill>
          </a:ln>
        </p:spPr>
        <p:txBody>
          <a:bodyPr/>
          <a:p/>
        </p:txBody>
      </p:sp>
      <p:sp>
        <p:nvSpPr>
          <p:cNvPr id="310" name="line-308">
            <a:extLst>
              <a:ext uri="{FF2B5EF4-FFF2-40B4-BE49-F238E27FC236}">
                <a16:creationId xmlns:a16="http://schemas.microsoft.com/office/drawing/2014/main" id="{3B37BA5D-C2D0-42E5-B3C7-A420FA819D65}"/>
              </a:ext>
            </a:extLst>
          </p:cNvPr>
          <p:cNvSpPr>
            <a:spLocks noGrp="1"/>
          </p:cNvSpPr>
          <p:nvPr/>
        </p:nvSpPr>
        <p:spPr>
          <a:xfrm>
            <a:off x="8696325" y="7439025"/>
            <a:ext cx="57150" cy="57150"/>
          </a:xfrm>
          <a:custGeom>
            <a:avLst/>
            <a:gdLst/>
            <a:ahLst/>
            <a:cxnLst/>
            <a:rect l="0" t="0" r="0" b="0"/>
            <a:pathLst>
              <a:path w="57150" h="57150">
                <a:moveTo>
                  <a:pt x="0" y="0"/>
                </a:moveTo>
                <a:lnTo>
                  <a:pt x="57150" y="57150"/>
                </a:lnTo>
              </a:path>
            </a:pathLst>
          </a:custGeom>
          <a:noFill/>
          <a:ln w="32385">
            <a:solidFill>
              <a:srgbClr val="8662B5"/>
            </a:solidFill>
            <a:prstDash val="solid"/>
          </a:ln>
        </p:spPr>
        <p:txBody>
          <a:bodyPr/>
          <a:p/>
        </p:txBody>
      </p:sp>
      <p:sp>
        <p:nvSpPr>
          <p:cNvPr id="311" name="node-309">
            <a:extLst>
              <a:ext uri="{FF2B5EF4-FFF2-40B4-BE49-F238E27FC236}">
                <a16:creationId xmlns:a16="http://schemas.microsoft.com/office/drawing/2014/main" id="{FC3C0AB5-8A66-4D66-B8E9-ED16EFE69F63}"/>
              </a:ext>
            </a:extLst>
          </p:cNvPr>
          <p:cNvSpPr>
            <a:spLocks noGrp="1"/>
          </p:cNvSpPr>
          <p:nvPr/>
        </p:nvSpPr>
        <p:spPr>
          <a:xfrm>
            <a:off x="8872538" y="7467600"/>
            <a:ext cx="114300" cy="114300"/>
          </a:xfrm>
          <a:prstGeom prst="ellipse">
            <a:avLst/>
          </a:prstGeom>
          <a:solidFill>
            <a:srgbClr val="FFFFFF"/>
          </a:solidFill>
          <a:ln w="16193">
            <a:solidFill>
              <a:srgbClr val="8662B5"/>
            </a:solidFill>
          </a:ln>
        </p:spPr>
        <p:txBody>
          <a:bodyPr/>
          <a:p/>
        </p:txBody>
      </p:sp>
      <p:sp>
        <p:nvSpPr>
          <p:cNvPr id="312" name="line-310">
            <a:extLst>
              <a:ext uri="{FF2B5EF4-FFF2-40B4-BE49-F238E27FC236}">
                <a16:creationId xmlns:a16="http://schemas.microsoft.com/office/drawing/2014/main" id="{E101B710-E154-4C8B-874F-0D234141E1A8}"/>
              </a:ext>
            </a:extLst>
          </p:cNvPr>
          <p:cNvSpPr>
            <a:spLocks noGrp="1"/>
          </p:cNvSpPr>
          <p:nvPr/>
        </p:nvSpPr>
        <p:spPr>
          <a:xfrm>
            <a:off x="8720138" y="7581900"/>
            <a:ext cx="209550" cy="247650"/>
          </a:xfrm>
          <a:custGeom>
            <a:avLst/>
            <a:gdLst/>
            <a:ahLst/>
            <a:cxnLst/>
            <a:rect l="0" t="0" r="0" b="0"/>
            <a:pathLst>
              <a:path w="209550" h="247650">
                <a:moveTo>
                  <a:pt x="209550" y="0"/>
                </a:moveTo>
                <a:lnTo>
                  <a:pt x="0" y="247650"/>
                </a:lnTo>
              </a:path>
            </a:pathLst>
          </a:custGeom>
          <a:noFill/>
          <a:ln w="16193">
            <a:solidFill>
              <a:srgbClr val="8662B5"/>
            </a:solidFill>
            <a:prstDash val="solid"/>
          </a:ln>
        </p:spPr>
        <p:txBody>
          <a:bodyPr/>
          <a:p/>
        </p:txBody>
      </p:sp>
      <p:sp>
        <p:nvSpPr>
          <p:cNvPr id="313" name="node-311">
            <a:extLst>
              <a:ext uri="{FF2B5EF4-FFF2-40B4-BE49-F238E27FC236}">
                <a16:creationId xmlns:a16="http://schemas.microsoft.com/office/drawing/2014/main" id="{08735807-9F74-41F2-B00E-2055838340BF}"/>
              </a:ext>
            </a:extLst>
          </p:cNvPr>
          <p:cNvSpPr>
            <a:spLocks noGrp="1"/>
          </p:cNvSpPr>
          <p:nvPr/>
        </p:nvSpPr>
        <p:spPr>
          <a:xfrm>
            <a:off x="8672513" y="7829550"/>
            <a:ext cx="95250" cy="95250"/>
          </a:xfrm>
          <a:prstGeom prst="ellipse">
            <a:avLst/>
          </a:prstGeom>
          <a:solidFill>
            <a:srgbClr val="FFFFFF"/>
          </a:solidFill>
          <a:ln w="16193">
            <a:solidFill>
              <a:srgbClr val="8662B5"/>
            </a:solidFill>
          </a:ln>
        </p:spPr>
        <p:txBody>
          <a:bodyPr/>
          <a:p/>
        </p:txBody>
      </p:sp>
      <p:sp>
        <p:nvSpPr>
          <p:cNvPr id="314" name="line-312">
            <a:extLst>
              <a:ext uri="{FF2B5EF4-FFF2-40B4-BE49-F238E27FC236}">
                <a16:creationId xmlns:a16="http://schemas.microsoft.com/office/drawing/2014/main" id="{D93302A9-2940-4454-BFCA-1BD63E3FEE29}"/>
              </a:ext>
            </a:extLst>
          </p:cNvPr>
          <p:cNvSpPr>
            <a:spLocks noGrp="1"/>
          </p:cNvSpPr>
          <p:nvPr/>
        </p:nvSpPr>
        <p:spPr>
          <a:xfrm>
            <a:off x="8929688" y="7581900"/>
            <a:ext cx="9525" cy="247650"/>
          </a:xfrm>
          <a:custGeom>
            <a:avLst/>
            <a:gdLst/>
            <a:ahLst/>
            <a:cxnLst/>
            <a:rect l="0" t="0" r="0" b="0"/>
            <a:pathLst>
              <a:path w="9525" h="247650">
                <a:moveTo>
                  <a:pt x="0" y="0"/>
                </a:moveTo>
                <a:lnTo>
                  <a:pt x="0" y="247650"/>
                </a:lnTo>
              </a:path>
            </a:pathLst>
          </a:custGeom>
          <a:noFill/>
          <a:ln w="16193">
            <a:solidFill>
              <a:srgbClr val="8662B5"/>
            </a:solidFill>
            <a:prstDash val="solid"/>
          </a:ln>
        </p:spPr>
        <p:txBody>
          <a:bodyPr/>
          <a:p/>
        </p:txBody>
      </p:sp>
      <p:sp>
        <p:nvSpPr>
          <p:cNvPr id="315" name="node-313">
            <a:extLst>
              <a:ext uri="{FF2B5EF4-FFF2-40B4-BE49-F238E27FC236}">
                <a16:creationId xmlns:a16="http://schemas.microsoft.com/office/drawing/2014/main" id="{AE66FD9C-A145-4385-A19A-CF314D55E251}"/>
              </a:ext>
            </a:extLst>
          </p:cNvPr>
          <p:cNvSpPr>
            <a:spLocks noGrp="1"/>
          </p:cNvSpPr>
          <p:nvPr/>
        </p:nvSpPr>
        <p:spPr>
          <a:xfrm>
            <a:off x="8882063" y="7829550"/>
            <a:ext cx="95250" cy="95250"/>
          </a:xfrm>
          <a:prstGeom prst="ellipse">
            <a:avLst/>
          </a:prstGeom>
          <a:solidFill>
            <a:srgbClr val="FFFFFF"/>
          </a:solidFill>
          <a:ln w="16193">
            <a:solidFill>
              <a:srgbClr val="8662B5"/>
            </a:solidFill>
          </a:ln>
        </p:spPr>
        <p:txBody>
          <a:bodyPr/>
          <a:p/>
        </p:txBody>
      </p:sp>
      <p:sp>
        <p:nvSpPr>
          <p:cNvPr id="316" name="line-314">
            <a:extLst>
              <a:ext uri="{FF2B5EF4-FFF2-40B4-BE49-F238E27FC236}">
                <a16:creationId xmlns:a16="http://schemas.microsoft.com/office/drawing/2014/main" id="{2E95030C-42E8-4677-9958-8C239D21BF2C}"/>
              </a:ext>
            </a:extLst>
          </p:cNvPr>
          <p:cNvSpPr>
            <a:spLocks noGrp="1"/>
          </p:cNvSpPr>
          <p:nvPr/>
        </p:nvSpPr>
        <p:spPr>
          <a:xfrm>
            <a:off x="8929688" y="7581900"/>
            <a:ext cx="209550" cy="247650"/>
          </a:xfrm>
          <a:custGeom>
            <a:avLst/>
            <a:gdLst/>
            <a:ahLst/>
            <a:cxnLst/>
            <a:rect l="0" t="0" r="0" b="0"/>
            <a:pathLst>
              <a:path w="209550" h="247650">
                <a:moveTo>
                  <a:pt x="0" y="0"/>
                </a:moveTo>
                <a:lnTo>
                  <a:pt x="209550" y="247650"/>
                </a:lnTo>
              </a:path>
            </a:pathLst>
          </a:custGeom>
          <a:noFill/>
          <a:ln w="16193">
            <a:solidFill>
              <a:srgbClr val="8662B5"/>
            </a:solidFill>
            <a:prstDash val="solid"/>
          </a:ln>
        </p:spPr>
        <p:txBody>
          <a:bodyPr/>
          <a:p/>
        </p:txBody>
      </p:sp>
      <p:sp>
        <p:nvSpPr>
          <p:cNvPr id="317" name="node-315">
            <a:extLst>
              <a:ext uri="{FF2B5EF4-FFF2-40B4-BE49-F238E27FC236}">
                <a16:creationId xmlns:a16="http://schemas.microsoft.com/office/drawing/2014/main" id="{6777F6FC-EF21-4349-813B-57DA7F058D4E}"/>
              </a:ext>
            </a:extLst>
          </p:cNvPr>
          <p:cNvSpPr>
            <a:spLocks noGrp="1"/>
          </p:cNvSpPr>
          <p:nvPr/>
        </p:nvSpPr>
        <p:spPr>
          <a:xfrm>
            <a:off x="9091613" y="7829550"/>
            <a:ext cx="95250" cy="95250"/>
          </a:xfrm>
          <a:prstGeom prst="ellipse">
            <a:avLst/>
          </a:prstGeom>
          <a:solidFill>
            <a:srgbClr val="FFFFFF"/>
          </a:solidFill>
          <a:ln w="16193">
            <a:solidFill>
              <a:srgbClr val="8662B5"/>
            </a:solidFill>
          </a:ln>
        </p:spPr>
        <p:txBody>
          <a:bodyPr/>
          <a:p/>
        </p:txBody>
      </p:sp>
      <p:sp>
        <p:nvSpPr>
          <p:cNvPr id="318" name="element-316">
            <a:extLst>
              <a:ext uri="{FF2B5EF4-FFF2-40B4-BE49-F238E27FC236}">
                <a16:creationId xmlns:a16="http://schemas.microsoft.com/office/drawing/2014/main" id="{170E17D5-9290-4791-8010-906472FD386A}"/>
              </a:ext>
            </a:extLst>
          </p:cNvPr>
          <p:cNvSpPr>
            <a:spLocks noGrp="1"/>
          </p:cNvSpPr>
          <p:nvPr/>
        </p:nvSpPr>
        <p:spPr>
          <a:xfrm>
            <a:off x="8505825" y="7972425"/>
            <a:ext cx="847725" cy="285750"/>
          </a:xfrm>
          <a:prstGeom prst="rect">
            <a:avLst/>
          </a:prstGeom>
          <a:noFill/>
          <a:ln w="0">
            <a:noFill/>
          </a:ln>
        </p:spPr>
        <p:txBody>
          <a:bodyPr lIns="0" tIns="0" rIns="0" bIns="0" anchor="ctr">
            <a:noAutofit/>
          </a:bodyPr>
          <a:lstStyle/>
          <a:p>
            <a:pPr algn="ctr">
              <a:defRPr sz="1050" b="1">
                <a:solidFill>
                  <a:srgbClr val="122C50"/>
                </a:solidFill>
                <a:latin typeface="Arial"/>
                <a:ea typeface="Arial"/>
                <a:cs typeface="Arial"/>
              </a:defRPr>
            </a:pPr>
            <a:r>
              <a:rPr sz="1050" b="1">
                <a:solidFill>
                  <a:srgbClr val="122C50"/>
                </a:solidFill>
                <a:latin typeface="Arial"/>
                <a:ea typeface="Arial"/>
                <a:cs typeface="Arial"/>
              </a:rPr>
              <a:t>Revise /</a:t>
            </a:r>
          </a:p>
          <a:p>
            <a:pPr algn="ctr">
              <a:defRPr sz="1050" b="1">
                <a:solidFill>
                  <a:srgbClr val="122C50"/>
                </a:solidFill>
                <a:latin typeface="Arial"/>
                <a:ea typeface="Arial"/>
                <a:cs typeface="Arial"/>
              </a:defRPr>
            </a:pPr>
            <a:r>
              <a:rPr sz="1050" b="1">
                <a:solidFill>
                  <a:srgbClr val="122C50"/>
                </a:solidFill>
                <a:latin typeface="Arial"/>
                <a:ea typeface="Arial"/>
                <a:cs typeface="Arial"/>
              </a:rPr>
              <a:t>Preserve</a:t>
            </a:r>
          </a:p>
        </p:txBody>
      </p:sp>
      <p:sp>
        <p:nvSpPr>
          <p:cNvPr id="319" name="element-317">
            <a:extLst>
              <a:ext uri="{FF2B5EF4-FFF2-40B4-BE49-F238E27FC236}">
                <a16:creationId xmlns:a16="http://schemas.microsoft.com/office/drawing/2014/main" id="{29C4F043-6C6E-4142-B950-FBD71B7745D3}"/>
              </a:ext>
            </a:extLst>
          </p:cNvPr>
          <p:cNvSpPr>
            <a:spLocks noGrp="1"/>
          </p:cNvSpPr>
          <p:nvPr/>
        </p:nvSpPr>
        <p:spPr>
          <a:xfrm>
            <a:off x="9496425" y="7219950"/>
            <a:ext cx="923925" cy="1095375"/>
          </a:xfrm>
          <a:prstGeom prst="roundRect">
            <a:avLst>
              <a:gd name="adj" fmla="val 6186"/>
            </a:avLst>
          </a:prstGeom>
          <a:solidFill>
            <a:srgbClr val="EFF4FA"/>
          </a:solidFill>
          <a:ln w="14288">
            <a:solidFill>
              <a:srgbClr val="4B77AA"/>
            </a:solidFill>
          </a:ln>
        </p:spPr>
        <p:txBody>
          <a:bodyPr/>
          <a:p/>
        </p:txBody>
      </p:sp>
      <p:sp>
        <p:nvSpPr>
          <p:cNvPr id="320" name="node-318">
            <a:extLst>
              <a:ext uri="{FF2B5EF4-FFF2-40B4-BE49-F238E27FC236}">
                <a16:creationId xmlns:a16="http://schemas.microsoft.com/office/drawing/2014/main" id="{BC8D6AFE-C3FF-4B68-8D4B-1A65656E072E}"/>
              </a:ext>
            </a:extLst>
          </p:cNvPr>
          <p:cNvSpPr>
            <a:spLocks noGrp="1"/>
          </p:cNvSpPr>
          <p:nvPr/>
        </p:nvSpPr>
        <p:spPr>
          <a:xfrm>
            <a:off x="9591675" y="7305675"/>
            <a:ext cx="152400" cy="152400"/>
          </a:xfrm>
          <a:prstGeom prst="ellipse">
            <a:avLst/>
          </a:prstGeom>
          <a:solidFill>
            <a:srgbClr val="FFFFFF"/>
          </a:solidFill>
          <a:ln w="22860">
            <a:solidFill>
              <a:srgbClr val="4B77AA"/>
            </a:solidFill>
          </a:ln>
        </p:spPr>
        <p:txBody>
          <a:bodyPr/>
          <a:p/>
        </p:txBody>
      </p:sp>
      <p:sp>
        <p:nvSpPr>
          <p:cNvPr id="321" name="line-319">
            <a:extLst>
              <a:ext uri="{FF2B5EF4-FFF2-40B4-BE49-F238E27FC236}">
                <a16:creationId xmlns:a16="http://schemas.microsoft.com/office/drawing/2014/main" id="{732C37E8-5B85-4951-AFA6-C9893308217E}"/>
              </a:ext>
            </a:extLst>
          </p:cNvPr>
          <p:cNvSpPr>
            <a:spLocks noGrp="1"/>
          </p:cNvSpPr>
          <p:nvPr/>
        </p:nvSpPr>
        <p:spPr>
          <a:xfrm>
            <a:off x="9725025" y="7439025"/>
            <a:ext cx="57150" cy="57150"/>
          </a:xfrm>
          <a:custGeom>
            <a:avLst/>
            <a:gdLst/>
            <a:ahLst/>
            <a:cxnLst/>
            <a:rect l="0" t="0" r="0" b="0"/>
            <a:pathLst>
              <a:path w="57150" h="57150">
                <a:moveTo>
                  <a:pt x="0" y="0"/>
                </a:moveTo>
                <a:lnTo>
                  <a:pt x="57150" y="57150"/>
                </a:lnTo>
              </a:path>
            </a:pathLst>
          </a:custGeom>
          <a:noFill/>
          <a:ln w="32385">
            <a:solidFill>
              <a:srgbClr val="4B77AA"/>
            </a:solidFill>
            <a:prstDash val="solid"/>
          </a:ln>
        </p:spPr>
        <p:txBody>
          <a:bodyPr/>
          <a:p/>
        </p:txBody>
      </p:sp>
      <p:sp>
        <p:nvSpPr>
          <p:cNvPr id="322" name="node-320">
            <a:extLst>
              <a:ext uri="{FF2B5EF4-FFF2-40B4-BE49-F238E27FC236}">
                <a16:creationId xmlns:a16="http://schemas.microsoft.com/office/drawing/2014/main" id="{C5222919-1B5B-4A2B-8F1B-CA60B6C813C4}"/>
              </a:ext>
            </a:extLst>
          </p:cNvPr>
          <p:cNvSpPr>
            <a:spLocks noGrp="1"/>
          </p:cNvSpPr>
          <p:nvPr/>
        </p:nvSpPr>
        <p:spPr>
          <a:xfrm>
            <a:off x="9901238" y="7467600"/>
            <a:ext cx="114300" cy="114300"/>
          </a:xfrm>
          <a:prstGeom prst="ellipse">
            <a:avLst/>
          </a:prstGeom>
          <a:solidFill>
            <a:srgbClr val="FFFFFF"/>
          </a:solidFill>
          <a:ln w="16193">
            <a:solidFill>
              <a:srgbClr val="4B77AA"/>
            </a:solidFill>
          </a:ln>
        </p:spPr>
        <p:txBody>
          <a:bodyPr/>
          <a:p/>
        </p:txBody>
      </p:sp>
      <p:sp>
        <p:nvSpPr>
          <p:cNvPr id="323" name="line-321">
            <a:extLst>
              <a:ext uri="{FF2B5EF4-FFF2-40B4-BE49-F238E27FC236}">
                <a16:creationId xmlns:a16="http://schemas.microsoft.com/office/drawing/2014/main" id="{292A91F6-F4D9-436D-A2F3-C66C98393EC3}"/>
              </a:ext>
            </a:extLst>
          </p:cNvPr>
          <p:cNvSpPr>
            <a:spLocks noGrp="1"/>
          </p:cNvSpPr>
          <p:nvPr/>
        </p:nvSpPr>
        <p:spPr>
          <a:xfrm>
            <a:off x="9748838" y="7581900"/>
            <a:ext cx="209550" cy="247650"/>
          </a:xfrm>
          <a:custGeom>
            <a:avLst/>
            <a:gdLst/>
            <a:ahLst/>
            <a:cxnLst/>
            <a:rect l="0" t="0" r="0" b="0"/>
            <a:pathLst>
              <a:path w="209550" h="247650">
                <a:moveTo>
                  <a:pt x="209550" y="0"/>
                </a:moveTo>
                <a:lnTo>
                  <a:pt x="0" y="247650"/>
                </a:lnTo>
              </a:path>
            </a:pathLst>
          </a:custGeom>
          <a:noFill/>
          <a:ln w="16193">
            <a:solidFill>
              <a:srgbClr val="4B77AA"/>
            </a:solidFill>
            <a:prstDash val="solid"/>
          </a:ln>
        </p:spPr>
        <p:txBody>
          <a:bodyPr/>
          <a:p/>
        </p:txBody>
      </p:sp>
      <p:sp>
        <p:nvSpPr>
          <p:cNvPr id="324" name="node-322">
            <a:extLst>
              <a:ext uri="{FF2B5EF4-FFF2-40B4-BE49-F238E27FC236}">
                <a16:creationId xmlns:a16="http://schemas.microsoft.com/office/drawing/2014/main" id="{86999F30-8DC1-43DB-B4C8-7B198FA2A2B9}"/>
              </a:ext>
            </a:extLst>
          </p:cNvPr>
          <p:cNvSpPr>
            <a:spLocks noGrp="1"/>
          </p:cNvSpPr>
          <p:nvPr/>
        </p:nvSpPr>
        <p:spPr>
          <a:xfrm>
            <a:off x="9701213" y="7829550"/>
            <a:ext cx="95250" cy="95250"/>
          </a:xfrm>
          <a:prstGeom prst="ellipse">
            <a:avLst/>
          </a:prstGeom>
          <a:solidFill>
            <a:srgbClr val="FFFFFF"/>
          </a:solidFill>
          <a:ln w="16193">
            <a:solidFill>
              <a:srgbClr val="4B77AA"/>
            </a:solidFill>
          </a:ln>
        </p:spPr>
        <p:txBody>
          <a:bodyPr/>
          <a:p/>
        </p:txBody>
      </p:sp>
      <p:sp>
        <p:nvSpPr>
          <p:cNvPr id="325" name="line-323">
            <a:extLst>
              <a:ext uri="{FF2B5EF4-FFF2-40B4-BE49-F238E27FC236}">
                <a16:creationId xmlns:a16="http://schemas.microsoft.com/office/drawing/2014/main" id="{17CD410E-EFAF-4FD2-8763-AE5FA9BAA483}"/>
              </a:ext>
            </a:extLst>
          </p:cNvPr>
          <p:cNvSpPr>
            <a:spLocks noGrp="1"/>
          </p:cNvSpPr>
          <p:nvPr/>
        </p:nvSpPr>
        <p:spPr>
          <a:xfrm>
            <a:off x="9958388" y="7581900"/>
            <a:ext cx="9525" cy="247650"/>
          </a:xfrm>
          <a:custGeom>
            <a:avLst/>
            <a:gdLst/>
            <a:ahLst/>
            <a:cxnLst/>
            <a:rect l="0" t="0" r="0" b="0"/>
            <a:pathLst>
              <a:path w="9525" h="247650">
                <a:moveTo>
                  <a:pt x="0" y="0"/>
                </a:moveTo>
                <a:lnTo>
                  <a:pt x="0" y="247650"/>
                </a:lnTo>
              </a:path>
            </a:pathLst>
          </a:custGeom>
          <a:noFill/>
          <a:ln w="16193">
            <a:solidFill>
              <a:srgbClr val="4B77AA"/>
            </a:solidFill>
            <a:prstDash val="solid"/>
          </a:ln>
        </p:spPr>
        <p:txBody>
          <a:bodyPr/>
          <a:p/>
        </p:txBody>
      </p:sp>
      <p:sp>
        <p:nvSpPr>
          <p:cNvPr id="326" name="node-324">
            <a:extLst>
              <a:ext uri="{FF2B5EF4-FFF2-40B4-BE49-F238E27FC236}">
                <a16:creationId xmlns:a16="http://schemas.microsoft.com/office/drawing/2014/main" id="{2ED91E0E-10E8-4E48-981E-08F3558923D5}"/>
              </a:ext>
            </a:extLst>
          </p:cNvPr>
          <p:cNvSpPr>
            <a:spLocks noGrp="1"/>
          </p:cNvSpPr>
          <p:nvPr/>
        </p:nvSpPr>
        <p:spPr>
          <a:xfrm>
            <a:off x="9910763" y="7829550"/>
            <a:ext cx="95250" cy="95250"/>
          </a:xfrm>
          <a:prstGeom prst="ellipse">
            <a:avLst/>
          </a:prstGeom>
          <a:solidFill>
            <a:srgbClr val="FFFFFF"/>
          </a:solidFill>
          <a:ln w="16193">
            <a:solidFill>
              <a:srgbClr val="4B77AA"/>
            </a:solidFill>
          </a:ln>
        </p:spPr>
        <p:txBody>
          <a:bodyPr/>
          <a:p/>
        </p:txBody>
      </p:sp>
      <p:sp>
        <p:nvSpPr>
          <p:cNvPr id="327" name="line-325">
            <a:extLst>
              <a:ext uri="{FF2B5EF4-FFF2-40B4-BE49-F238E27FC236}">
                <a16:creationId xmlns:a16="http://schemas.microsoft.com/office/drawing/2014/main" id="{E8875AF9-AB3D-41EB-900A-3F930594997C}"/>
              </a:ext>
            </a:extLst>
          </p:cNvPr>
          <p:cNvSpPr>
            <a:spLocks noGrp="1"/>
          </p:cNvSpPr>
          <p:nvPr/>
        </p:nvSpPr>
        <p:spPr>
          <a:xfrm>
            <a:off x="9958388" y="7581900"/>
            <a:ext cx="209550" cy="247650"/>
          </a:xfrm>
          <a:custGeom>
            <a:avLst/>
            <a:gdLst/>
            <a:ahLst/>
            <a:cxnLst/>
            <a:rect l="0" t="0" r="0" b="0"/>
            <a:pathLst>
              <a:path w="209550" h="247650">
                <a:moveTo>
                  <a:pt x="0" y="0"/>
                </a:moveTo>
                <a:lnTo>
                  <a:pt x="209550" y="247650"/>
                </a:lnTo>
              </a:path>
            </a:pathLst>
          </a:custGeom>
          <a:noFill/>
          <a:ln w="16193">
            <a:solidFill>
              <a:srgbClr val="4B77AA"/>
            </a:solidFill>
            <a:prstDash val="solid"/>
          </a:ln>
        </p:spPr>
        <p:txBody>
          <a:bodyPr/>
          <a:p/>
        </p:txBody>
      </p:sp>
      <p:sp>
        <p:nvSpPr>
          <p:cNvPr id="328" name="node-326">
            <a:extLst>
              <a:ext uri="{FF2B5EF4-FFF2-40B4-BE49-F238E27FC236}">
                <a16:creationId xmlns:a16="http://schemas.microsoft.com/office/drawing/2014/main" id="{3E57577C-5E62-451B-B2E4-2F1DD9FE54E4}"/>
              </a:ext>
            </a:extLst>
          </p:cNvPr>
          <p:cNvSpPr>
            <a:spLocks noGrp="1"/>
          </p:cNvSpPr>
          <p:nvPr/>
        </p:nvSpPr>
        <p:spPr>
          <a:xfrm>
            <a:off x="10120313" y="7829550"/>
            <a:ext cx="95250" cy="95250"/>
          </a:xfrm>
          <a:prstGeom prst="ellipse">
            <a:avLst/>
          </a:prstGeom>
          <a:solidFill>
            <a:srgbClr val="FFFFFF"/>
          </a:solidFill>
          <a:ln w="16193">
            <a:solidFill>
              <a:srgbClr val="4B77AA"/>
            </a:solidFill>
          </a:ln>
        </p:spPr>
        <p:txBody>
          <a:bodyPr/>
          <a:p/>
        </p:txBody>
      </p:sp>
      <p:sp>
        <p:nvSpPr>
          <p:cNvPr id="329" name="element-327">
            <a:extLst>
              <a:ext uri="{FF2B5EF4-FFF2-40B4-BE49-F238E27FC236}">
                <a16:creationId xmlns:a16="http://schemas.microsoft.com/office/drawing/2014/main" id="{F6F9D909-D87C-4764-9BAA-43754167395C}"/>
              </a:ext>
            </a:extLst>
          </p:cNvPr>
          <p:cNvSpPr>
            <a:spLocks noGrp="1"/>
          </p:cNvSpPr>
          <p:nvPr/>
        </p:nvSpPr>
        <p:spPr>
          <a:xfrm>
            <a:off x="9534525" y="7972425"/>
            <a:ext cx="847725" cy="285750"/>
          </a:xfrm>
          <a:prstGeom prst="rect">
            <a:avLst/>
          </a:prstGeom>
          <a:noFill/>
          <a:ln w="0">
            <a:noFill/>
          </a:ln>
        </p:spPr>
        <p:txBody>
          <a:bodyPr lIns="0" tIns="0" rIns="0" bIns="0" anchor="ctr">
            <a:noAutofit/>
          </a:bodyPr>
          <a:lstStyle/>
          <a:p>
            <a:pPr algn="ctr">
              <a:defRPr sz="1050" b="1">
                <a:solidFill>
                  <a:srgbClr val="122C50"/>
                </a:solidFill>
                <a:latin typeface="Arial"/>
                <a:ea typeface="Arial"/>
                <a:cs typeface="Arial"/>
              </a:defRPr>
            </a:pPr>
            <a:r>
              <a:rPr sz="1050" b="1">
                <a:solidFill>
                  <a:srgbClr val="122C50"/>
                </a:solidFill>
                <a:latin typeface="Arial"/>
                <a:ea typeface="Arial"/>
                <a:cs typeface="Arial"/>
              </a:rPr>
              <a:t>Revise /</a:t>
            </a:r>
          </a:p>
          <a:p>
            <a:pPr algn="ctr">
              <a:defRPr sz="1050" b="1">
                <a:solidFill>
                  <a:srgbClr val="122C50"/>
                </a:solidFill>
                <a:latin typeface="Arial"/>
                <a:ea typeface="Arial"/>
                <a:cs typeface="Arial"/>
              </a:defRPr>
            </a:pPr>
            <a:r>
              <a:rPr sz="1050" b="1">
                <a:solidFill>
                  <a:srgbClr val="122C50"/>
                </a:solidFill>
                <a:latin typeface="Arial"/>
                <a:ea typeface="Arial"/>
                <a:cs typeface="Arial"/>
              </a:rPr>
              <a:t>Preserve</a:t>
            </a:r>
          </a:p>
        </p:txBody>
      </p:sp>
      <p:sp>
        <p:nvSpPr>
          <p:cNvPr id="330" name="element-328">
            <a:extLst>
              <a:ext uri="{FF2B5EF4-FFF2-40B4-BE49-F238E27FC236}">
                <a16:creationId xmlns:a16="http://schemas.microsoft.com/office/drawing/2014/main" id="{D170E224-46E6-46EE-89D1-F21288AE74DA}"/>
              </a:ext>
            </a:extLst>
          </p:cNvPr>
          <p:cNvSpPr>
            <a:spLocks noGrp="1"/>
          </p:cNvSpPr>
          <p:nvPr/>
        </p:nvSpPr>
        <p:spPr>
          <a:xfrm>
            <a:off x="5419725" y="8401050"/>
            <a:ext cx="5048250" cy="219075"/>
          </a:xfrm>
          <a:prstGeom prst="rect">
            <a:avLst/>
          </a:prstGeom>
          <a:noFill/>
          <a:ln w="0">
            <a:noFill/>
          </a:ln>
        </p:spPr>
        <p:txBody>
          <a:bodyPr lIns="0" tIns="0" rIns="0" bIns="0" anchor="ctr">
            <a:noAutofit/>
          </a:bodyPr>
          <a:lstStyle/>
          <a:p>
            <a:pPr algn="ctr">
              <a:defRPr sz="1350" b="0">
                <a:solidFill>
                  <a:srgbClr val="5B6C80"/>
                </a:solidFill>
                <a:latin typeface="Arial"/>
                <a:ea typeface="Arial"/>
                <a:cs typeface="Arial"/>
              </a:defRPr>
            </a:pPr>
            <a:r>
              <a:rPr sz="1350" b="0">
                <a:solidFill>
                  <a:srgbClr val="5B6C80"/>
                </a:solidFill>
                <a:latin typeface="Arial"/>
                <a:ea typeface="Arial"/>
                <a:cs typeface="Arial"/>
              </a:rPr>
              <a:t>Subtree + report + routed system feedback</a:t>
            </a:r>
          </a:p>
        </p:txBody>
      </p:sp>
      <p:sp>
        <p:nvSpPr>
          <p:cNvPr id="331" name="element-329">
            <a:extLst>
              <a:ext uri="{FF2B5EF4-FFF2-40B4-BE49-F238E27FC236}">
                <a16:creationId xmlns:a16="http://schemas.microsoft.com/office/drawing/2014/main" id="{01B3F280-200A-499D-8920-511F8D8E1A87}"/>
              </a:ext>
            </a:extLst>
          </p:cNvPr>
          <p:cNvSpPr>
            <a:spLocks noGrp="1"/>
          </p:cNvSpPr>
          <p:nvPr/>
        </p:nvSpPr>
        <p:spPr>
          <a:xfrm>
            <a:off x="11029950" y="6696075"/>
            <a:ext cx="2333625" cy="1990725"/>
          </a:xfrm>
          <a:prstGeom prst="roundRect">
            <a:avLst>
              <a:gd name="adj" fmla="val 3828"/>
            </a:avLst>
          </a:prstGeom>
          <a:solidFill>
            <a:srgbClr val="FFF7F0"/>
          </a:solidFill>
          <a:ln w="14288">
            <a:solidFill>
              <a:srgbClr val="D96933"/>
            </a:solidFill>
          </a:ln>
        </p:spPr>
        <p:txBody>
          <a:bodyPr/>
          <a:p/>
        </p:txBody>
      </p:sp>
      <p:sp>
        <p:nvSpPr>
          <p:cNvPr id="332" name="element-330">
            <a:extLst>
              <a:ext uri="{FF2B5EF4-FFF2-40B4-BE49-F238E27FC236}">
                <a16:creationId xmlns:a16="http://schemas.microsoft.com/office/drawing/2014/main" id="{2119BAD2-2BCD-4463-A951-B4FD29F0A2AF}"/>
              </a:ext>
            </a:extLst>
          </p:cNvPr>
          <p:cNvSpPr>
            <a:spLocks noGrp="1"/>
          </p:cNvSpPr>
          <p:nvPr/>
        </p:nvSpPr>
        <p:spPr>
          <a:xfrm>
            <a:off x="11715750" y="6905625"/>
            <a:ext cx="342900" cy="419100"/>
          </a:xfrm>
          <a:prstGeom prst="roundRect">
            <a:avLst>
              <a:gd name="adj" fmla="val 8333"/>
            </a:avLst>
          </a:prstGeom>
          <a:solidFill>
            <a:srgbClr val="FFFFFF"/>
          </a:solidFill>
          <a:ln w="14288">
            <a:solidFill>
              <a:srgbClr val="D96933"/>
            </a:solidFill>
          </a:ln>
        </p:spPr>
        <p:txBody>
          <a:bodyPr/>
          <a:p/>
        </p:txBody>
      </p:sp>
      <p:sp>
        <p:nvSpPr>
          <p:cNvPr id="333" name="line-331">
            <a:extLst>
              <a:ext uri="{FF2B5EF4-FFF2-40B4-BE49-F238E27FC236}">
                <a16:creationId xmlns:a16="http://schemas.microsoft.com/office/drawing/2014/main" id="{85541C8A-70F9-4850-B3B2-3E8D7AC51D29}"/>
              </a:ext>
            </a:extLst>
          </p:cNvPr>
          <p:cNvSpPr>
            <a:spLocks noGrp="1"/>
          </p:cNvSpPr>
          <p:nvPr/>
        </p:nvSpPr>
        <p:spPr>
          <a:xfrm>
            <a:off x="11784330" y="7031355"/>
            <a:ext cx="205740" cy="9525"/>
          </a:xfrm>
          <a:custGeom>
            <a:avLst/>
            <a:gdLst/>
            <a:ahLst/>
            <a:cxnLst/>
            <a:rect l="0" t="0" r="0" b="0"/>
            <a:pathLst>
              <a:path w="205740" h="9525">
                <a:moveTo>
                  <a:pt x="0" y="0"/>
                </a:moveTo>
                <a:lnTo>
                  <a:pt x="205740" y="0"/>
                </a:lnTo>
              </a:path>
            </a:pathLst>
          </a:custGeom>
          <a:noFill/>
          <a:ln w="12383">
            <a:solidFill>
              <a:srgbClr val="D96933"/>
            </a:solidFill>
            <a:prstDash val="solid"/>
          </a:ln>
        </p:spPr>
        <p:txBody>
          <a:bodyPr/>
          <a:p/>
        </p:txBody>
      </p:sp>
      <p:sp>
        <p:nvSpPr>
          <p:cNvPr id="334" name="line-332">
            <a:extLst>
              <a:ext uri="{FF2B5EF4-FFF2-40B4-BE49-F238E27FC236}">
                <a16:creationId xmlns:a16="http://schemas.microsoft.com/office/drawing/2014/main" id="{378E0FAD-7806-4E36-B1D5-25E673555264}"/>
              </a:ext>
            </a:extLst>
          </p:cNvPr>
          <p:cNvSpPr>
            <a:spLocks noGrp="1"/>
          </p:cNvSpPr>
          <p:nvPr/>
        </p:nvSpPr>
        <p:spPr>
          <a:xfrm>
            <a:off x="11784330" y="7106793"/>
            <a:ext cx="205740" cy="9525"/>
          </a:xfrm>
          <a:custGeom>
            <a:avLst/>
            <a:gdLst/>
            <a:ahLst/>
            <a:cxnLst/>
            <a:rect l="0" t="0" r="0" b="0"/>
            <a:pathLst>
              <a:path w="205740" h="9525">
                <a:moveTo>
                  <a:pt x="0" y="0"/>
                </a:moveTo>
                <a:lnTo>
                  <a:pt x="205740" y="0"/>
                </a:lnTo>
              </a:path>
            </a:pathLst>
          </a:custGeom>
          <a:noFill/>
          <a:ln w="12383">
            <a:solidFill>
              <a:srgbClr val="D96933"/>
            </a:solidFill>
            <a:prstDash val="solid"/>
          </a:ln>
        </p:spPr>
        <p:txBody>
          <a:bodyPr/>
          <a:p/>
        </p:txBody>
      </p:sp>
      <p:sp>
        <p:nvSpPr>
          <p:cNvPr id="335" name="line-333">
            <a:extLst>
              <a:ext uri="{FF2B5EF4-FFF2-40B4-BE49-F238E27FC236}">
                <a16:creationId xmlns:a16="http://schemas.microsoft.com/office/drawing/2014/main" id="{058F4447-ACF0-4EBA-9297-8EEF599E20AC}"/>
              </a:ext>
            </a:extLst>
          </p:cNvPr>
          <p:cNvSpPr>
            <a:spLocks noGrp="1"/>
          </p:cNvSpPr>
          <p:nvPr/>
        </p:nvSpPr>
        <p:spPr>
          <a:xfrm>
            <a:off x="11784330" y="7182231"/>
            <a:ext cx="154305" cy="9525"/>
          </a:xfrm>
          <a:custGeom>
            <a:avLst/>
            <a:gdLst/>
            <a:ahLst/>
            <a:cxnLst/>
            <a:rect l="0" t="0" r="0" b="0"/>
            <a:pathLst>
              <a:path w="154305" h="9525">
                <a:moveTo>
                  <a:pt x="0" y="0"/>
                </a:moveTo>
                <a:lnTo>
                  <a:pt x="154305" y="0"/>
                </a:lnTo>
              </a:path>
            </a:pathLst>
          </a:custGeom>
          <a:noFill/>
          <a:ln w="12383">
            <a:solidFill>
              <a:srgbClr val="D96933"/>
            </a:solidFill>
            <a:prstDash val="solid"/>
          </a:ln>
        </p:spPr>
        <p:txBody>
          <a:bodyPr/>
          <a:p/>
        </p:txBody>
      </p:sp>
      <p:sp>
        <p:nvSpPr>
          <p:cNvPr id="336" name="node-334">
            <a:extLst>
              <a:ext uri="{FF2B5EF4-FFF2-40B4-BE49-F238E27FC236}">
                <a16:creationId xmlns:a16="http://schemas.microsoft.com/office/drawing/2014/main" id="{C7F3CA0B-71DC-471B-93C6-5D5871A73C15}"/>
              </a:ext>
            </a:extLst>
          </p:cNvPr>
          <p:cNvSpPr>
            <a:spLocks noGrp="1"/>
          </p:cNvSpPr>
          <p:nvPr/>
        </p:nvSpPr>
        <p:spPr>
          <a:xfrm>
            <a:off x="12001500" y="7115175"/>
            <a:ext cx="247650" cy="247650"/>
          </a:xfrm>
          <a:prstGeom prst="ellipse">
            <a:avLst/>
          </a:prstGeom>
          <a:noFill/>
          <a:ln w="16193">
            <a:solidFill>
              <a:srgbClr val="D96933"/>
            </a:solidFill>
          </a:ln>
        </p:spPr>
        <p:txBody>
          <a:bodyPr/>
          <a:p/>
        </p:txBody>
      </p:sp>
      <p:sp>
        <p:nvSpPr>
          <p:cNvPr id="337" name="line-335">
            <a:extLst>
              <a:ext uri="{FF2B5EF4-FFF2-40B4-BE49-F238E27FC236}">
                <a16:creationId xmlns:a16="http://schemas.microsoft.com/office/drawing/2014/main" id="{C813F120-EC62-4E0C-8BC2-EE2BBFA0D78B}"/>
              </a:ext>
            </a:extLst>
          </p:cNvPr>
          <p:cNvSpPr>
            <a:spLocks noGrp="1"/>
          </p:cNvSpPr>
          <p:nvPr/>
        </p:nvSpPr>
        <p:spPr>
          <a:xfrm>
            <a:off x="12211050" y="7324725"/>
            <a:ext cx="114300" cy="114300"/>
          </a:xfrm>
          <a:custGeom>
            <a:avLst/>
            <a:gdLst/>
            <a:ahLst/>
            <a:cxnLst/>
            <a:rect l="0" t="0" r="0" b="0"/>
            <a:pathLst>
              <a:path w="114300" h="114300">
                <a:moveTo>
                  <a:pt x="0" y="0"/>
                </a:moveTo>
                <a:lnTo>
                  <a:pt x="114300" y="114300"/>
                </a:lnTo>
              </a:path>
            </a:pathLst>
          </a:custGeom>
          <a:noFill/>
          <a:ln w="28575">
            <a:solidFill>
              <a:srgbClr val="D96933"/>
            </a:solidFill>
            <a:prstDash val="solid"/>
          </a:ln>
        </p:spPr>
        <p:txBody>
          <a:bodyPr/>
          <a:p/>
        </p:txBody>
      </p:sp>
      <p:sp>
        <p:nvSpPr>
          <p:cNvPr id="338" name="element-336">
            <a:extLst>
              <a:ext uri="{FF2B5EF4-FFF2-40B4-BE49-F238E27FC236}">
                <a16:creationId xmlns:a16="http://schemas.microsoft.com/office/drawing/2014/main" id="{35FC7A74-FCE0-4327-9845-729BCB457176}"/>
              </a:ext>
            </a:extLst>
          </p:cNvPr>
          <p:cNvSpPr>
            <a:spLocks noGrp="1"/>
          </p:cNvSpPr>
          <p:nvPr/>
        </p:nvSpPr>
        <p:spPr>
          <a:xfrm>
            <a:off x="11144250" y="7534275"/>
            <a:ext cx="2095500" cy="523875"/>
          </a:xfrm>
          <a:prstGeom prst="rect">
            <a:avLst/>
          </a:prstGeom>
          <a:noFill/>
          <a:ln w="0">
            <a:noFill/>
          </a:ln>
        </p:spPr>
        <p:txBody>
          <a:bodyPr lIns="0" tIns="0" rIns="0" bIns="0" anchor="ctr">
            <a:noAutofit/>
          </a:bodyPr>
          <a:lstStyle/>
          <a:p>
            <a:pPr algn="ctr">
              <a:defRPr sz="1800" b="1">
                <a:solidFill>
                  <a:srgbClr val="122C50"/>
                </a:solidFill>
                <a:latin typeface="Arial"/>
                <a:ea typeface="Arial"/>
                <a:cs typeface="Arial"/>
              </a:defRPr>
            </a:pPr>
            <a:r>
              <a:rPr sz="1800" b="1">
                <a:solidFill>
                  <a:srgbClr val="122C50"/>
                </a:solidFill>
                <a:latin typeface="Arial"/>
                <a:ea typeface="Arial"/>
                <a:cs typeface="Arial"/>
              </a:rPr>
              <a:t>System-level</a:t>
            </a:r>
          </a:p>
          <a:p>
            <a:pPr algn="ctr">
              <a:defRPr sz="1800" b="1">
                <a:solidFill>
                  <a:srgbClr val="122C50"/>
                </a:solidFill>
                <a:latin typeface="Arial"/>
                <a:ea typeface="Arial"/>
                <a:cs typeface="Arial"/>
              </a:defRPr>
            </a:pPr>
            <a:r>
              <a:rPr sz="1800" b="1">
                <a:solidFill>
                  <a:srgbClr val="122C50"/>
                </a:solidFill>
                <a:latin typeface="Arial"/>
                <a:ea typeface="Arial"/>
                <a:cs typeface="Arial"/>
              </a:rPr>
              <a:t>reflection</a:t>
            </a:r>
          </a:p>
        </p:txBody>
      </p:sp>
      <p:sp>
        <p:nvSpPr>
          <p:cNvPr id="339" name="element-337">
            <a:extLst>
              <a:ext uri="{FF2B5EF4-FFF2-40B4-BE49-F238E27FC236}">
                <a16:creationId xmlns:a16="http://schemas.microsoft.com/office/drawing/2014/main" id="{DEE19EE5-F3FE-43E6-BC13-996243F56CC5}"/>
              </a:ext>
            </a:extLst>
          </p:cNvPr>
          <p:cNvSpPr>
            <a:spLocks noGrp="1"/>
          </p:cNvSpPr>
          <p:nvPr/>
        </p:nvSpPr>
        <p:spPr>
          <a:xfrm>
            <a:off x="11163300" y="8172450"/>
            <a:ext cx="2057400" cy="438150"/>
          </a:xfrm>
          <a:prstGeom prst="rect">
            <a:avLst/>
          </a:prstGeom>
          <a:noFill/>
          <a:ln w="0">
            <a:noFill/>
          </a:ln>
        </p:spPr>
        <p:txBody>
          <a:bodyPr lIns="0" tIns="0" rIns="0" bIns="0" anchor="ctr">
            <a:noAutofit/>
          </a:bodyPr>
          <a:lstStyle/>
          <a:p>
            <a:pPr algn="ctr">
              <a:defRPr sz="1350" b="0">
                <a:solidFill>
                  <a:srgbClr val="122C50"/>
                </a:solidFill>
                <a:latin typeface="Arial"/>
                <a:ea typeface="Arial"/>
                <a:cs typeface="Arial"/>
              </a:defRPr>
            </a:pPr>
            <a:r>
              <a:rPr sz="1350" b="0">
                <a:solidFill>
                  <a:srgbClr val="122C50"/>
                </a:solidFill>
                <a:latin typeface="Arial"/>
                <a:ea typeface="Arial"/>
                <a:cs typeface="Arial"/>
              </a:rPr>
              <a:t>Audit arbiter context</a:t>
            </a:r>
          </a:p>
          <a:p>
            <a:pPr algn="ctr">
              <a:defRPr sz="1350" b="0">
                <a:solidFill>
                  <a:srgbClr val="122C50"/>
                </a:solidFill>
                <a:latin typeface="Arial"/>
                <a:ea typeface="Arial"/>
                <a:cs typeface="Arial"/>
              </a:defRPr>
            </a:pPr>
            <a:r>
              <a:rPr sz="1350" b="0">
                <a:solidFill>
                  <a:srgbClr val="122C50"/>
                </a:solidFill>
                <a:latin typeface="Arial"/>
                <a:ea typeface="Arial"/>
                <a:cs typeface="Arial"/>
              </a:rPr>
              <a:t>and output</a:t>
            </a:r>
          </a:p>
        </p:txBody>
      </p:sp>
      <p:sp>
        <p:nvSpPr>
          <p:cNvPr id="340" name="element-338">
            <a:extLst>
              <a:ext uri="{FF2B5EF4-FFF2-40B4-BE49-F238E27FC236}">
                <a16:creationId xmlns:a16="http://schemas.microsoft.com/office/drawing/2014/main" id="{56B30019-6CEC-4761-91AD-5149D4C99D4F}"/>
              </a:ext>
            </a:extLst>
          </p:cNvPr>
          <p:cNvSpPr>
            <a:spLocks noGrp="1"/>
          </p:cNvSpPr>
          <p:nvPr/>
        </p:nvSpPr>
        <p:spPr>
          <a:xfrm>
            <a:off x="13744575" y="5953125"/>
            <a:ext cx="3133725" cy="2733675"/>
          </a:xfrm>
          <a:prstGeom prst="roundRect">
            <a:avLst>
              <a:gd name="adj" fmla="val 2787"/>
            </a:avLst>
          </a:prstGeom>
          <a:solidFill>
            <a:srgbClr val="F4FBF9"/>
          </a:solidFill>
          <a:ln w="14288">
            <a:solidFill>
              <a:srgbClr val="8DC8B8"/>
            </a:solidFill>
          </a:ln>
        </p:spPr>
        <p:txBody>
          <a:bodyPr/>
          <a:p/>
        </p:txBody>
      </p:sp>
      <p:sp>
        <p:nvSpPr>
          <p:cNvPr id="341" name="element-339">
            <a:extLst>
              <a:ext uri="{FF2B5EF4-FFF2-40B4-BE49-F238E27FC236}">
                <a16:creationId xmlns:a16="http://schemas.microsoft.com/office/drawing/2014/main" id="{E4C2CE85-1A37-432B-8418-7E62D6F1E50C}"/>
              </a:ext>
            </a:extLst>
          </p:cNvPr>
          <p:cNvSpPr>
            <a:spLocks noGrp="1"/>
          </p:cNvSpPr>
          <p:nvPr/>
        </p:nvSpPr>
        <p:spPr>
          <a:xfrm>
            <a:off x="13887450" y="6124575"/>
            <a:ext cx="2847975" cy="295275"/>
          </a:xfrm>
          <a:prstGeom prst="rect">
            <a:avLst/>
          </a:prstGeom>
          <a:noFill/>
          <a:ln w="0">
            <a:noFill/>
          </a:ln>
        </p:spPr>
        <p:txBody>
          <a:bodyPr lIns="0" tIns="0" rIns="0" bIns="0" anchor="ctr">
            <a:noAutofit/>
          </a:bodyPr>
          <a:lstStyle/>
          <a:p>
            <a:pPr algn="ctr">
              <a:defRPr sz="1800" b="1">
                <a:solidFill>
                  <a:srgbClr val="122C50"/>
                </a:solidFill>
                <a:latin typeface="Arial"/>
                <a:ea typeface="Arial"/>
                <a:cs typeface="Arial"/>
              </a:defRPr>
            </a:pPr>
            <a:r>
              <a:rPr sz="1800" b="1" dirty="0">
                <a:solidFill>
                  <a:srgbClr val="122C50"/>
                </a:solidFill>
                <a:latin typeface="Arial"/>
                <a:ea typeface="Arial"/>
                <a:cs typeface="Arial"/>
              </a:rPr>
              <a:t>System assessment</a:t>
            </a:r>
          </a:p>
        </p:txBody>
      </p:sp>
      <p:sp>
        <p:nvSpPr>
          <p:cNvPr id="342" name="node-340">
            <a:extLst>
              <a:ext uri="{FF2B5EF4-FFF2-40B4-BE49-F238E27FC236}">
                <a16:creationId xmlns:a16="http://schemas.microsoft.com/office/drawing/2014/main" id="{58A93308-B212-4D6B-9C46-F8B845510B99}"/>
              </a:ext>
            </a:extLst>
          </p:cNvPr>
          <p:cNvSpPr>
            <a:spLocks noGrp="1"/>
          </p:cNvSpPr>
          <p:nvPr/>
        </p:nvSpPr>
        <p:spPr>
          <a:xfrm>
            <a:off x="14020800" y="6572250"/>
            <a:ext cx="142875" cy="142875"/>
          </a:xfrm>
          <a:prstGeom prst="ellipse">
            <a:avLst/>
          </a:prstGeom>
          <a:solidFill>
            <a:srgbClr val="122C50"/>
          </a:solidFill>
          <a:ln w="16193">
            <a:solidFill>
              <a:srgbClr val="122C50"/>
            </a:solidFill>
          </a:ln>
        </p:spPr>
        <p:txBody>
          <a:bodyPr/>
          <a:p/>
        </p:txBody>
      </p:sp>
      <p:sp>
        <p:nvSpPr>
          <p:cNvPr id="343" name="element-341">
            <a:extLst>
              <a:ext uri="{FF2B5EF4-FFF2-40B4-BE49-F238E27FC236}">
                <a16:creationId xmlns:a16="http://schemas.microsoft.com/office/drawing/2014/main" id="{DC4EB853-8B94-41B7-A28D-89C9ED54E584}"/>
              </a:ext>
            </a:extLst>
          </p:cNvPr>
          <p:cNvSpPr>
            <a:spLocks noGrp="1"/>
          </p:cNvSpPr>
          <p:nvPr/>
        </p:nvSpPr>
        <p:spPr>
          <a:xfrm>
            <a:off x="13982700" y="6743700"/>
            <a:ext cx="219075" cy="142875"/>
          </a:xfrm>
          <a:prstGeom prst="roundRect">
            <a:avLst>
              <a:gd name="adj" fmla="val 33333"/>
            </a:avLst>
          </a:prstGeom>
          <a:solidFill>
            <a:srgbClr val="122C50"/>
          </a:solidFill>
          <a:ln w="14288">
            <a:solidFill>
              <a:srgbClr val="122C50"/>
            </a:solidFill>
          </a:ln>
        </p:spPr>
        <p:txBody>
          <a:bodyPr/>
          <a:p/>
        </p:txBody>
      </p:sp>
      <p:sp>
        <p:nvSpPr>
          <p:cNvPr id="344" name="element-342">
            <a:extLst>
              <a:ext uri="{FF2B5EF4-FFF2-40B4-BE49-F238E27FC236}">
                <a16:creationId xmlns:a16="http://schemas.microsoft.com/office/drawing/2014/main" id="{A6AE0D8D-59BA-48A8-8620-8FDC0B6180EE}"/>
              </a:ext>
            </a:extLst>
          </p:cNvPr>
          <p:cNvSpPr>
            <a:spLocks noGrp="1"/>
          </p:cNvSpPr>
          <p:nvPr/>
        </p:nvSpPr>
        <p:spPr>
          <a:xfrm>
            <a:off x="14316075" y="6524625"/>
            <a:ext cx="2276475" cy="266700"/>
          </a:xfrm>
          <a:prstGeom prst="rect">
            <a:avLst/>
          </a:prstGeom>
          <a:noFill/>
          <a:ln w="0">
            <a:noFill/>
          </a:ln>
        </p:spPr>
        <p:txBody>
          <a:bodyPr lIns="0" tIns="0" rIns="0" bIns="0" anchor="ctr">
            <a:noAutofit/>
          </a:bodyPr>
          <a:lstStyle/>
          <a:p>
            <a:pPr algn="l">
              <a:defRPr sz="1500" b="1">
                <a:solidFill>
                  <a:srgbClr val="122C50"/>
                </a:solidFill>
                <a:latin typeface="Arial"/>
                <a:ea typeface="Arial"/>
                <a:cs typeface="Arial"/>
              </a:defRPr>
            </a:pPr>
            <a:r>
              <a:rPr sz="1500" b="1" dirty="0">
                <a:solidFill>
                  <a:srgbClr val="122C50"/>
                </a:solidFill>
                <a:latin typeface="Arial"/>
                <a:ea typeface="Arial"/>
                <a:cs typeface="Arial"/>
              </a:rPr>
              <a:t>Human preference</a:t>
            </a:r>
          </a:p>
        </p:txBody>
      </p:sp>
      <p:sp>
        <p:nvSpPr>
          <p:cNvPr id="345" name="element-343">
            <a:extLst>
              <a:ext uri="{FF2B5EF4-FFF2-40B4-BE49-F238E27FC236}">
                <a16:creationId xmlns:a16="http://schemas.microsoft.com/office/drawing/2014/main" id="{634A4F16-2E68-4E4C-8B6B-26C9B3D85764}"/>
              </a:ext>
            </a:extLst>
          </p:cNvPr>
          <p:cNvSpPr>
            <a:spLocks noGrp="1"/>
          </p:cNvSpPr>
          <p:nvPr/>
        </p:nvSpPr>
        <p:spPr>
          <a:xfrm>
            <a:off x="13925550" y="7077075"/>
            <a:ext cx="2771775" cy="257175"/>
          </a:xfrm>
          <a:prstGeom prst="rect">
            <a:avLst/>
          </a:prstGeom>
          <a:noFill/>
          <a:ln w="0">
            <a:noFill/>
          </a:ln>
        </p:spPr>
        <p:txBody>
          <a:bodyPr lIns="0" tIns="0" rIns="0" bIns="0" anchor="ctr">
            <a:noAutofit/>
          </a:bodyPr>
          <a:lstStyle/>
          <a:p>
            <a:pPr algn="ctr">
              <a:defRPr sz="1500" b="0">
                <a:solidFill>
                  <a:srgbClr val="122C50"/>
                </a:solidFill>
                <a:latin typeface="Arial"/>
                <a:ea typeface="Arial"/>
                <a:cs typeface="Arial"/>
              </a:defRPr>
            </a:pPr>
            <a:r>
              <a:rPr sz="1500" b="0" dirty="0">
                <a:solidFill>
                  <a:srgbClr val="122C50"/>
                </a:solidFill>
                <a:latin typeface="Arial"/>
                <a:ea typeface="Arial"/>
                <a:cs typeface="Arial"/>
              </a:rPr>
              <a:t>Current vs. candidate</a:t>
            </a:r>
          </a:p>
        </p:txBody>
      </p:sp>
      <p:sp>
        <p:nvSpPr>
          <p:cNvPr id="346" name="element-344">
            <a:extLst>
              <a:ext uri="{FF2B5EF4-FFF2-40B4-BE49-F238E27FC236}">
                <a16:creationId xmlns:a16="http://schemas.microsoft.com/office/drawing/2014/main" id="{52F49684-A768-4ED7-A3D4-D6F96306E3C6}"/>
              </a:ext>
            </a:extLst>
          </p:cNvPr>
          <p:cNvSpPr>
            <a:spLocks noGrp="1"/>
          </p:cNvSpPr>
          <p:nvPr/>
        </p:nvSpPr>
        <p:spPr>
          <a:xfrm>
            <a:off x="13916025" y="7477125"/>
            <a:ext cx="2771775" cy="514350"/>
          </a:xfrm>
          <a:prstGeom prst="rect">
            <a:avLst/>
          </a:prstGeom>
          <a:noFill/>
          <a:ln w="0">
            <a:noFill/>
          </a:ln>
        </p:spPr>
        <p:txBody>
          <a:bodyPr lIns="0" tIns="0" rIns="0" bIns="0" anchor="ctr">
            <a:noAutofit/>
          </a:bodyPr>
          <a:lstStyle/>
          <a:p>
            <a:pPr algn="ctr">
              <a:defRPr sz="1725" b="1">
                <a:solidFill>
                  <a:srgbClr val="122C50"/>
                </a:solidFill>
                <a:latin typeface="Arial"/>
                <a:ea typeface="Arial"/>
                <a:cs typeface="Arial"/>
              </a:defRPr>
            </a:pPr>
            <a:r>
              <a:rPr sz="1725" b="1" dirty="0">
                <a:solidFill>
                  <a:srgbClr val="122C50"/>
                </a:solidFill>
                <a:latin typeface="Arial"/>
                <a:ea typeface="Arial"/>
                <a:cs typeface="Arial"/>
              </a:rPr>
              <a:t>Strict ACC(candidate)</a:t>
            </a:r>
          </a:p>
          <a:p>
            <a:pPr algn="ctr">
              <a:defRPr sz="1725" b="1">
                <a:solidFill>
                  <a:srgbClr val="122C50"/>
                </a:solidFill>
                <a:latin typeface="Arial"/>
                <a:ea typeface="Arial"/>
                <a:cs typeface="Arial"/>
              </a:defRPr>
            </a:pPr>
            <a:r>
              <a:rPr sz="1725" b="1" dirty="0">
                <a:solidFill>
                  <a:srgbClr val="122C50"/>
                </a:solidFill>
                <a:latin typeface="Arial"/>
                <a:ea typeface="Arial"/>
                <a:cs typeface="Arial"/>
              </a:rPr>
              <a:t>&gt; Strict ACC(current)</a:t>
            </a:r>
          </a:p>
        </p:txBody>
      </p:sp>
      <p:sp>
        <p:nvSpPr>
          <p:cNvPr id="347" name="element-345">
            <a:extLst>
              <a:ext uri="{FF2B5EF4-FFF2-40B4-BE49-F238E27FC236}">
                <a16:creationId xmlns:a16="http://schemas.microsoft.com/office/drawing/2014/main" id="{0CBD4B96-61CE-4EF4-89C7-FB6EE0D9A424}"/>
              </a:ext>
            </a:extLst>
          </p:cNvPr>
          <p:cNvSpPr>
            <a:spLocks noGrp="1"/>
          </p:cNvSpPr>
          <p:nvPr/>
        </p:nvSpPr>
        <p:spPr>
          <a:xfrm>
            <a:off x="13896975" y="8143875"/>
            <a:ext cx="2809875" cy="419100"/>
          </a:xfrm>
          <a:prstGeom prst="rect">
            <a:avLst/>
          </a:prstGeom>
          <a:noFill/>
          <a:ln w="0">
            <a:noFill/>
          </a:ln>
        </p:spPr>
        <p:txBody>
          <a:bodyPr lIns="0" tIns="0" rIns="0" bIns="0" anchor="ctr">
            <a:noAutofit/>
          </a:bodyPr>
          <a:lstStyle/>
          <a:p>
            <a:pPr algn="ctr">
              <a:defRPr sz="1350" b="0">
                <a:solidFill>
                  <a:srgbClr val="267963"/>
                </a:solidFill>
                <a:latin typeface="Arial"/>
                <a:ea typeface="Arial"/>
                <a:cs typeface="Arial"/>
              </a:defRPr>
            </a:pPr>
            <a:r>
              <a:rPr sz="1350" b="0">
                <a:solidFill>
                  <a:srgbClr val="267963"/>
                </a:solidFill>
                <a:latin typeface="Arial"/>
                <a:ea typeface="Arial"/>
                <a:cs typeface="Arial"/>
              </a:rPr>
              <a:t>Accept all proposed splits</a:t>
            </a:r>
          </a:p>
          <a:p>
            <a:pPr algn="ctr">
              <a:defRPr sz="1350" b="0">
                <a:solidFill>
                  <a:srgbClr val="267963"/>
                </a:solidFill>
                <a:latin typeface="Arial"/>
                <a:ea typeface="Arial"/>
                <a:cs typeface="Arial"/>
              </a:defRPr>
            </a:pPr>
            <a:r>
              <a:rPr sz="1350" b="0">
                <a:solidFill>
                  <a:srgbClr val="267963"/>
                </a:solidFill>
                <a:latin typeface="Arial"/>
                <a:ea typeface="Arial"/>
                <a:cs typeface="Arial"/>
              </a:rPr>
              <a:t>Otherwise retain current</a:t>
            </a:r>
          </a:p>
        </p:txBody>
      </p:sp>
      <p:sp>
        <p:nvSpPr>
          <p:cNvPr id="348" name="line-346">
            <a:extLst>
              <a:ext uri="{FF2B5EF4-FFF2-40B4-BE49-F238E27FC236}">
                <a16:creationId xmlns:a16="http://schemas.microsoft.com/office/drawing/2014/main" id="{E88C70DF-4D7E-41C7-AB20-BB5E8DBB8E33}"/>
              </a:ext>
            </a:extLst>
          </p:cNvPr>
          <p:cNvSpPr>
            <a:spLocks noGrp="1"/>
          </p:cNvSpPr>
          <p:nvPr/>
        </p:nvSpPr>
        <p:spPr>
          <a:xfrm>
            <a:off x="13363575" y="7677150"/>
            <a:ext cx="381000" cy="9525"/>
          </a:xfrm>
          <a:custGeom>
            <a:avLst/>
            <a:gdLst/>
            <a:ahLst/>
            <a:cxnLst/>
            <a:rect l="0" t="0" r="0" b="0"/>
            <a:pathLst>
              <a:path w="381000" h="9525">
                <a:moveTo>
                  <a:pt x="381000" y="0"/>
                </a:moveTo>
                <a:lnTo>
                  <a:pt x="0" y="0"/>
                </a:lnTo>
              </a:path>
            </a:pathLst>
          </a:custGeom>
          <a:noFill/>
          <a:ln w="23813">
            <a:solidFill>
              <a:srgbClr val="D96933"/>
            </a:solidFill>
            <a:prstDash val="dash"/>
          </a:ln>
        </p:spPr>
        <p:txBody>
          <a:bodyPr/>
          <a:p/>
        </p:txBody>
      </p:sp>
      <p:sp>
        <p:nvSpPr>
          <p:cNvPr id="349" name="arrow-347">
            <a:extLst>
              <a:ext uri="{FF2B5EF4-FFF2-40B4-BE49-F238E27FC236}">
                <a16:creationId xmlns:a16="http://schemas.microsoft.com/office/drawing/2014/main" id="{6D919E03-032A-4DC5-8CF2-BAB61918CD0A}"/>
              </a:ext>
            </a:extLst>
          </p:cNvPr>
          <p:cNvSpPr>
            <a:spLocks noGrp="1"/>
          </p:cNvSpPr>
          <p:nvPr/>
        </p:nvSpPr>
        <p:spPr>
          <a:xfrm>
            <a:off x="13363575" y="7634288"/>
            <a:ext cx="85725" cy="85725"/>
          </a:xfrm>
          <a:custGeom>
            <a:avLst/>
            <a:gdLst/>
            <a:ahLst/>
            <a:cxnLst/>
            <a:rect l="0" t="0" r="0" b="0"/>
            <a:pathLst>
              <a:path w="85725" h="85725">
                <a:moveTo>
                  <a:pt x="0" y="42863"/>
                </a:moveTo>
                <a:lnTo>
                  <a:pt x="85725" y="85725"/>
                </a:lnTo>
                <a:lnTo>
                  <a:pt x="85725" y="0"/>
                </a:lnTo>
                <a:lnTo>
                  <a:pt x="0" y="42863"/>
                </a:lnTo>
              </a:path>
            </a:pathLst>
          </a:custGeom>
          <a:solidFill>
            <a:srgbClr val="D96933"/>
          </a:solidFill>
          <a:ln w="2858">
            <a:solidFill>
              <a:srgbClr val="D96933"/>
            </a:solidFill>
          </a:ln>
        </p:spPr>
        <p:txBody>
          <a:bodyPr/>
          <a:p/>
        </p:txBody>
      </p:sp>
      <p:sp>
        <p:nvSpPr>
          <p:cNvPr id="350" name="line-348">
            <a:extLst>
              <a:ext uri="{FF2B5EF4-FFF2-40B4-BE49-F238E27FC236}">
                <a16:creationId xmlns:a16="http://schemas.microsoft.com/office/drawing/2014/main" id="{2A1D649F-1F87-4959-A6D7-7C2D148D872C}"/>
              </a:ext>
            </a:extLst>
          </p:cNvPr>
          <p:cNvSpPr>
            <a:spLocks noGrp="1"/>
          </p:cNvSpPr>
          <p:nvPr/>
        </p:nvSpPr>
        <p:spPr>
          <a:xfrm>
            <a:off x="10648950" y="7677150"/>
            <a:ext cx="381000" cy="9525"/>
          </a:xfrm>
          <a:custGeom>
            <a:avLst/>
            <a:gdLst/>
            <a:ahLst/>
            <a:cxnLst/>
            <a:rect l="0" t="0" r="0" b="0"/>
            <a:pathLst>
              <a:path w="381000" h="9525">
                <a:moveTo>
                  <a:pt x="381000" y="0"/>
                </a:moveTo>
                <a:lnTo>
                  <a:pt x="0" y="0"/>
                </a:lnTo>
              </a:path>
            </a:pathLst>
          </a:custGeom>
          <a:noFill/>
          <a:ln w="23813">
            <a:solidFill>
              <a:srgbClr val="D96933"/>
            </a:solidFill>
            <a:prstDash val="dash"/>
          </a:ln>
        </p:spPr>
        <p:txBody>
          <a:bodyPr/>
          <a:p/>
        </p:txBody>
      </p:sp>
      <p:sp>
        <p:nvSpPr>
          <p:cNvPr id="351" name="arrow-349">
            <a:extLst>
              <a:ext uri="{FF2B5EF4-FFF2-40B4-BE49-F238E27FC236}">
                <a16:creationId xmlns:a16="http://schemas.microsoft.com/office/drawing/2014/main" id="{95DC51C6-A05C-4076-8527-32D14683C066}"/>
              </a:ext>
            </a:extLst>
          </p:cNvPr>
          <p:cNvSpPr>
            <a:spLocks noGrp="1"/>
          </p:cNvSpPr>
          <p:nvPr/>
        </p:nvSpPr>
        <p:spPr>
          <a:xfrm>
            <a:off x="10648950" y="7634288"/>
            <a:ext cx="85725" cy="85725"/>
          </a:xfrm>
          <a:custGeom>
            <a:avLst/>
            <a:gdLst/>
            <a:ahLst/>
            <a:cxnLst/>
            <a:rect l="0" t="0" r="0" b="0"/>
            <a:pathLst>
              <a:path w="85725" h="85725">
                <a:moveTo>
                  <a:pt x="0" y="42863"/>
                </a:moveTo>
                <a:lnTo>
                  <a:pt x="85725" y="85725"/>
                </a:lnTo>
                <a:lnTo>
                  <a:pt x="85725" y="0"/>
                </a:lnTo>
                <a:lnTo>
                  <a:pt x="0" y="42863"/>
                </a:lnTo>
              </a:path>
            </a:pathLst>
          </a:custGeom>
          <a:solidFill>
            <a:srgbClr val="D96933"/>
          </a:solidFill>
          <a:ln w="2858">
            <a:solidFill>
              <a:srgbClr val="D96933"/>
            </a:solidFill>
          </a:ln>
        </p:spPr>
        <p:txBody>
          <a:bodyPr/>
          <a:p/>
        </p:txBody>
      </p:sp>
      <p:sp>
        <p:nvSpPr>
          <p:cNvPr id="352" name="line-350">
            <a:extLst>
              <a:ext uri="{FF2B5EF4-FFF2-40B4-BE49-F238E27FC236}">
                <a16:creationId xmlns:a16="http://schemas.microsoft.com/office/drawing/2014/main" id="{98227FE0-446A-40F4-AA38-DD700485500F}"/>
              </a:ext>
            </a:extLst>
          </p:cNvPr>
          <p:cNvSpPr>
            <a:spLocks noGrp="1"/>
          </p:cNvSpPr>
          <p:nvPr/>
        </p:nvSpPr>
        <p:spPr>
          <a:xfrm>
            <a:off x="4857750" y="7677150"/>
            <a:ext cx="361950" cy="9525"/>
          </a:xfrm>
          <a:custGeom>
            <a:avLst/>
            <a:gdLst/>
            <a:ahLst/>
            <a:cxnLst/>
            <a:rect l="0" t="0" r="0" b="0"/>
            <a:pathLst>
              <a:path w="361950" h="9525">
                <a:moveTo>
                  <a:pt x="361950" y="0"/>
                </a:moveTo>
                <a:lnTo>
                  <a:pt x="0" y="0"/>
                </a:lnTo>
              </a:path>
            </a:pathLst>
          </a:custGeom>
          <a:noFill/>
          <a:ln w="23813">
            <a:solidFill>
              <a:srgbClr val="D96933"/>
            </a:solidFill>
            <a:prstDash val="dash"/>
          </a:ln>
        </p:spPr>
        <p:txBody>
          <a:bodyPr/>
          <a:p/>
        </p:txBody>
      </p:sp>
      <p:sp>
        <p:nvSpPr>
          <p:cNvPr id="353" name="arrow-351">
            <a:extLst>
              <a:ext uri="{FF2B5EF4-FFF2-40B4-BE49-F238E27FC236}">
                <a16:creationId xmlns:a16="http://schemas.microsoft.com/office/drawing/2014/main" id="{6B1C0E69-AA92-4CD2-8A87-F7992B9BD4D4}"/>
              </a:ext>
            </a:extLst>
          </p:cNvPr>
          <p:cNvSpPr>
            <a:spLocks noGrp="1"/>
          </p:cNvSpPr>
          <p:nvPr/>
        </p:nvSpPr>
        <p:spPr>
          <a:xfrm>
            <a:off x="4857750" y="7634288"/>
            <a:ext cx="85725" cy="85725"/>
          </a:xfrm>
          <a:custGeom>
            <a:avLst/>
            <a:gdLst/>
            <a:ahLst/>
            <a:cxnLst/>
            <a:rect l="0" t="0" r="0" b="0"/>
            <a:pathLst>
              <a:path w="85725" h="85725">
                <a:moveTo>
                  <a:pt x="0" y="42863"/>
                </a:moveTo>
                <a:lnTo>
                  <a:pt x="85725" y="85725"/>
                </a:lnTo>
                <a:lnTo>
                  <a:pt x="85725" y="0"/>
                </a:lnTo>
                <a:lnTo>
                  <a:pt x="0" y="42863"/>
                </a:lnTo>
              </a:path>
            </a:pathLst>
          </a:custGeom>
          <a:solidFill>
            <a:srgbClr val="D96933"/>
          </a:solidFill>
          <a:ln w="2858">
            <a:solidFill>
              <a:srgbClr val="D96933"/>
            </a:solidFill>
          </a:ln>
        </p:spPr>
        <p:txBody>
          <a:bodyPr/>
          <a:p/>
        </p:txBody>
      </p:sp>
      <p:sp>
        <p:nvSpPr>
          <p:cNvPr id="354" name="element-352">
            <a:extLst>
              <a:ext uri="{FF2B5EF4-FFF2-40B4-BE49-F238E27FC236}">
                <a16:creationId xmlns:a16="http://schemas.microsoft.com/office/drawing/2014/main" id="{9DF696E3-25B5-4247-8B26-EDB8100E0E37}"/>
              </a:ext>
            </a:extLst>
          </p:cNvPr>
          <p:cNvSpPr>
            <a:spLocks noGrp="1"/>
          </p:cNvSpPr>
          <p:nvPr/>
        </p:nvSpPr>
        <p:spPr>
          <a:xfrm>
            <a:off x="3028950" y="8848725"/>
            <a:ext cx="12411075" cy="266700"/>
          </a:xfrm>
          <a:prstGeom prst="rect">
            <a:avLst/>
          </a:prstGeom>
          <a:noFill/>
          <a:ln w="0">
            <a:noFill/>
          </a:ln>
        </p:spPr>
        <p:txBody>
          <a:bodyPr lIns="0" tIns="0" rIns="0" bIns="0" anchor="ctr">
            <a:noAutofit/>
          </a:bodyPr>
          <a:lstStyle/>
          <a:p>
            <a:pPr algn="ctr">
              <a:defRPr sz="1500" b="0">
                <a:solidFill>
                  <a:srgbClr val="5B6C80"/>
                </a:solidFill>
                <a:latin typeface="Arial"/>
                <a:ea typeface="Arial"/>
                <a:cs typeface="Arial"/>
              </a:defRPr>
            </a:pPr>
            <a:r>
              <a:rPr sz="1500" b="0">
                <a:solidFill>
                  <a:srgbClr val="5B6C80"/>
                </a:solidFill>
                <a:latin typeface="Arial"/>
                <a:ea typeface="Arial"/>
                <a:cs typeface="Arial"/>
              </a:rPr>
              <a:t>Shared Manager: sequential system reflection, subtree reflection, then root-local generation</a:t>
            </a:r>
          </a:p>
        </p:txBody>
      </p:sp>
      <p:sp>
        <p:nvSpPr>
          <p:cNvPr id="355" name="line-353">
            <a:extLst>
              <a:ext uri="{FF2B5EF4-FFF2-40B4-BE49-F238E27FC236}">
                <a16:creationId xmlns:a16="http://schemas.microsoft.com/office/drawing/2014/main" id="{D8F9AF19-136D-4DB6-8656-4170D9B5BFBF}"/>
              </a:ext>
            </a:extLst>
          </p:cNvPr>
          <p:cNvSpPr>
            <a:spLocks noGrp="1"/>
          </p:cNvSpPr>
          <p:nvPr/>
        </p:nvSpPr>
        <p:spPr>
          <a:xfrm>
            <a:off x="400050" y="9324975"/>
            <a:ext cx="571500" cy="9525"/>
          </a:xfrm>
          <a:custGeom>
            <a:avLst/>
            <a:gdLst/>
            <a:ahLst/>
            <a:cxnLst/>
            <a:rect l="0" t="0" r="0" b="0"/>
            <a:pathLst>
              <a:path w="571500" h="9525">
                <a:moveTo>
                  <a:pt x="0" y="0"/>
                </a:moveTo>
                <a:lnTo>
                  <a:pt x="571500" y="0"/>
                </a:lnTo>
              </a:path>
            </a:pathLst>
          </a:custGeom>
          <a:noFill/>
          <a:ln w="21908">
            <a:solidFill>
              <a:srgbClr val="122C50"/>
            </a:solidFill>
            <a:prstDash val="solid"/>
          </a:ln>
        </p:spPr>
        <p:txBody>
          <a:bodyPr/>
          <a:p/>
        </p:txBody>
      </p:sp>
      <p:sp>
        <p:nvSpPr>
          <p:cNvPr id="356" name="arrow-354">
            <a:extLst>
              <a:ext uri="{FF2B5EF4-FFF2-40B4-BE49-F238E27FC236}">
                <a16:creationId xmlns:a16="http://schemas.microsoft.com/office/drawing/2014/main" id="{E5D0A46E-FF94-49A4-B73D-F4CF3F8918A1}"/>
              </a:ext>
            </a:extLst>
          </p:cNvPr>
          <p:cNvSpPr>
            <a:spLocks noGrp="1"/>
          </p:cNvSpPr>
          <p:nvPr/>
        </p:nvSpPr>
        <p:spPr>
          <a:xfrm>
            <a:off x="885825" y="9282113"/>
            <a:ext cx="85725" cy="85725"/>
          </a:xfrm>
          <a:custGeom>
            <a:avLst/>
            <a:gdLst/>
            <a:ahLst/>
            <a:cxnLst/>
            <a:rect l="0" t="0" r="0" b="0"/>
            <a:pathLst>
              <a:path w="85725" h="85725">
                <a:moveTo>
                  <a:pt x="85725" y="42863"/>
                </a:moveTo>
                <a:lnTo>
                  <a:pt x="0" y="0"/>
                </a:lnTo>
                <a:lnTo>
                  <a:pt x="0" y="85725"/>
                </a:lnTo>
                <a:lnTo>
                  <a:pt x="85725" y="42863"/>
                </a:lnTo>
              </a:path>
            </a:pathLst>
          </a:custGeom>
          <a:solidFill>
            <a:srgbClr val="122C50"/>
          </a:solidFill>
          <a:ln w="2858">
            <a:solidFill>
              <a:srgbClr val="122C50"/>
            </a:solidFill>
          </a:ln>
        </p:spPr>
        <p:txBody>
          <a:bodyPr/>
          <a:p/>
        </p:txBody>
      </p:sp>
      <p:sp>
        <p:nvSpPr>
          <p:cNvPr id="357" name="element-355">
            <a:extLst>
              <a:ext uri="{FF2B5EF4-FFF2-40B4-BE49-F238E27FC236}">
                <a16:creationId xmlns:a16="http://schemas.microsoft.com/office/drawing/2014/main" id="{86511807-8B23-4583-AD4D-BD7BDA38A340}"/>
              </a:ext>
            </a:extLst>
          </p:cNvPr>
          <p:cNvSpPr>
            <a:spLocks noGrp="1"/>
          </p:cNvSpPr>
          <p:nvPr/>
        </p:nvSpPr>
        <p:spPr>
          <a:xfrm>
            <a:off x="1085850" y="9191625"/>
            <a:ext cx="1990725" cy="266700"/>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dirty="0">
                <a:solidFill>
                  <a:srgbClr val="122C50"/>
                </a:solidFill>
                <a:latin typeface="Arial"/>
                <a:ea typeface="Arial"/>
                <a:cs typeface="Arial"/>
              </a:rPr>
              <a:t>Forward inference</a:t>
            </a:r>
          </a:p>
        </p:txBody>
      </p:sp>
      <p:sp>
        <p:nvSpPr>
          <p:cNvPr id="358" name="line-356">
            <a:extLst>
              <a:ext uri="{FF2B5EF4-FFF2-40B4-BE49-F238E27FC236}">
                <a16:creationId xmlns:a16="http://schemas.microsoft.com/office/drawing/2014/main" id="{1474DE1C-0F91-4137-8C78-872264DA7476}"/>
              </a:ext>
            </a:extLst>
          </p:cNvPr>
          <p:cNvSpPr>
            <a:spLocks noGrp="1"/>
          </p:cNvSpPr>
          <p:nvPr/>
        </p:nvSpPr>
        <p:spPr>
          <a:xfrm>
            <a:off x="3228975" y="9324975"/>
            <a:ext cx="571500" cy="9525"/>
          </a:xfrm>
          <a:custGeom>
            <a:avLst/>
            <a:gdLst/>
            <a:ahLst/>
            <a:cxnLst/>
            <a:rect l="0" t="0" r="0" b="0"/>
            <a:pathLst>
              <a:path w="571500" h="9525">
                <a:moveTo>
                  <a:pt x="0" y="0"/>
                </a:moveTo>
                <a:lnTo>
                  <a:pt x="571500" y="0"/>
                </a:lnTo>
              </a:path>
            </a:pathLst>
          </a:custGeom>
          <a:noFill/>
          <a:ln w="21908">
            <a:solidFill>
              <a:srgbClr val="D96933"/>
            </a:solidFill>
            <a:prstDash val="dash"/>
          </a:ln>
        </p:spPr>
        <p:txBody>
          <a:bodyPr/>
          <a:p/>
        </p:txBody>
      </p:sp>
      <p:sp>
        <p:nvSpPr>
          <p:cNvPr id="359" name="arrow-357">
            <a:extLst>
              <a:ext uri="{FF2B5EF4-FFF2-40B4-BE49-F238E27FC236}">
                <a16:creationId xmlns:a16="http://schemas.microsoft.com/office/drawing/2014/main" id="{8075F1BA-2B35-4B17-A67F-641DAE12BE55}"/>
              </a:ext>
            </a:extLst>
          </p:cNvPr>
          <p:cNvSpPr>
            <a:spLocks noGrp="1"/>
          </p:cNvSpPr>
          <p:nvPr/>
        </p:nvSpPr>
        <p:spPr>
          <a:xfrm>
            <a:off x="3714750" y="9282113"/>
            <a:ext cx="85725" cy="85725"/>
          </a:xfrm>
          <a:custGeom>
            <a:avLst/>
            <a:gdLst/>
            <a:ahLst/>
            <a:cxnLst/>
            <a:rect l="0" t="0" r="0" b="0"/>
            <a:pathLst>
              <a:path w="85725" h="85725">
                <a:moveTo>
                  <a:pt x="85725" y="42863"/>
                </a:moveTo>
                <a:lnTo>
                  <a:pt x="0" y="0"/>
                </a:lnTo>
                <a:lnTo>
                  <a:pt x="0" y="85725"/>
                </a:lnTo>
                <a:lnTo>
                  <a:pt x="85725" y="42863"/>
                </a:lnTo>
              </a:path>
            </a:pathLst>
          </a:custGeom>
          <a:solidFill>
            <a:srgbClr val="D96933"/>
          </a:solidFill>
          <a:ln w="2858">
            <a:solidFill>
              <a:srgbClr val="D96933"/>
            </a:solidFill>
          </a:ln>
        </p:spPr>
        <p:txBody>
          <a:bodyPr/>
          <a:p/>
        </p:txBody>
      </p:sp>
      <p:sp>
        <p:nvSpPr>
          <p:cNvPr id="360" name="element-358">
            <a:extLst>
              <a:ext uri="{FF2B5EF4-FFF2-40B4-BE49-F238E27FC236}">
                <a16:creationId xmlns:a16="http://schemas.microsoft.com/office/drawing/2014/main" id="{DFC874A7-BF05-4671-AA12-26752EB710E0}"/>
              </a:ext>
            </a:extLst>
          </p:cNvPr>
          <p:cNvSpPr>
            <a:spLocks noGrp="1"/>
          </p:cNvSpPr>
          <p:nvPr/>
        </p:nvSpPr>
        <p:spPr>
          <a:xfrm>
            <a:off x="3914775" y="9191625"/>
            <a:ext cx="2000250" cy="266700"/>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dirty="0">
                <a:solidFill>
                  <a:srgbClr val="122C50"/>
                </a:solidFill>
                <a:latin typeface="Arial"/>
                <a:ea typeface="Arial"/>
                <a:cs typeface="Arial"/>
              </a:rPr>
              <a:t>Textual feedback</a:t>
            </a:r>
          </a:p>
        </p:txBody>
      </p:sp>
      <p:sp>
        <p:nvSpPr>
          <p:cNvPr id="361" name="line-359">
            <a:extLst>
              <a:ext uri="{FF2B5EF4-FFF2-40B4-BE49-F238E27FC236}">
                <a16:creationId xmlns:a16="http://schemas.microsoft.com/office/drawing/2014/main" id="{0680164D-E237-4976-97E8-078E25E2ED67}"/>
              </a:ext>
            </a:extLst>
          </p:cNvPr>
          <p:cNvSpPr>
            <a:spLocks noGrp="1"/>
          </p:cNvSpPr>
          <p:nvPr/>
        </p:nvSpPr>
        <p:spPr>
          <a:xfrm>
            <a:off x="6581775" y="9182100"/>
            <a:ext cx="114300" cy="95250"/>
          </a:xfrm>
          <a:custGeom>
            <a:avLst/>
            <a:gdLst/>
            <a:ahLst/>
            <a:cxnLst/>
            <a:rect l="0" t="0" r="0" b="0"/>
            <a:pathLst>
              <a:path w="114300" h="95250">
                <a:moveTo>
                  <a:pt x="0" y="95250"/>
                </a:moveTo>
                <a:lnTo>
                  <a:pt x="0" y="28575"/>
                </a:lnTo>
                <a:lnTo>
                  <a:pt x="28575" y="0"/>
                </a:lnTo>
                <a:lnTo>
                  <a:pt x="85725" y="0"/>
                </a:lnTo>
                <a:lnTo>
                  <a:pt x="114300" y="28575"/>
                </a:lnTo>
                <a:lnTo>
                  <a:pt x="114300" y="95250"/>
                </a:lnTo>
              </a:path>
            </a:pathLst>
          </a:custGeom>
          <a:noFill/>
          <a:ln w="19050">
            <a:solidFill>
              <a:srgbClr val="122C50"/>
            </a:solidFill>
            <a:prstDash val="solid"/>
          </a:ln>
        </p:spPr>
        <p:txBody>
          <a:bodyPr/>
          <a:p/>
        </p:txBody>
      </p:sp>
      <p:sp>
        <p:nvSpPr>
          <p:cNvPr id="362" name="element-360">
            <a:extLst>
              <a:ext uri="{FF2B5EF4-FFF2-40B4-BE49-F238E27FC236}">
                <a16:creationId xmlns:a16="http://schemas.microsoft.com/office/drawing/2014/main" id="{CA2D0D59-6F8C-4464-B2DE-811F275E6D37}"/>
              </a:ext>
            </a:extLst>
          </p:cNvPr>
          <p:cNvSpPr>
            <a:spLocks noGrp="1"/>
          </p:cNvSpPr>
          <p:nvPr/>
        </p:nvSpPr>
        <p:spPr>
          <a:xfrm>
            <a:off x="6543675" y="9267825"/>
            <a:ext cx="190500" cy="142875"/>
          </a:xfrm>
          <a:prstGeom prst="roundRect">
            <a:avLst>
              <a:gd name="adj" fmla="val 20000"/>
            </a:avLst>
          </a:prstGeom>
          <a:solidFill>
            <a:srgbClr val="122C50"/>
          </a:solidFill>
          <a:ln w="14288">
            <a:solidFill>
              <a:srgbClr val="122C50"/>
            </a:solidFill>
          </a:ln>
        </p:spPr>
        <p:txBody>
          <a:bodyPr/>
          <a:p/>
        </p:txBody>
      </p:sp>
      <p:sp>
        <p:nvSpPr>
          <p:cNvPr id="363" name="node-361">
            <a:extLst>
              <a:ext uri="{FF2B5EF4-FFF2-40B4-BE49-F238E27FC236}">
                <a16:creationId xmlns:a16="http://schemas.microsoft.com/office/drawing/2014/main" id="{7682C188-61DB-4CE7-87B9-71B013EB3C33}"/>
              </a:ext>
            </a:extLst>
          </p:cNvPr>
          <p:cNvSpPr>
            <a:spLocks noGrp="1"/>
          </p:cNvSpPr>
          <p:nvPr/>
        </p:nvSpPr>
        <p:spPr>
          <a:xfrm>
            <a:off x="6619875" y="9305925"/>
            <a:ext cx="38100" cy="38100"/>
          </a:xfrm>
          <a:prstGeom prst="ellipse">
            <a:avLst/>
          </a:prstGeom>
          <a:solidFill>
            <a:srgbClr val="FFFFFF"/>
          </a:solidFill>
          <a:ln w="16193">
            <a:solidFill>
              <a:srgbClr val="FFFFFF"/>
            </a:solidFill>
          </a:ln>
        </p:spPr>
        <p:txBody>
          <a:bodyPr/>
          <a:p/>
        </p:txBody>
      </p:sp>
      <p:sp>
        <p:nvSpPr>
          <p:cNvPr id="364" name="element-362">
            <a:extLst>
              <a:ext uri="{FF2B5EF4-FFF2-40B4-BE49-F238E27FC236}">
                <a16:creationId xmlns:a16="http://schemas.microsoft.com/office/drawing/2014/main" id="{B9177AB3-673F-4781-AA72-65E2E2EBEA48}"/>
              </a:ext>
            </a:extLst>
          </p:cNvPr>
          <p:cNvSpPr>
            <a:spLocks noGrp="1"/>
          </p:cNvSpPr>
          <p:nvPr/>
        </p:nvSpPr>
        <p:spPr>
          <a:xfrm>
            <a:off x="6819900" y="9191625"/>
            <a:ext cx="1838325" cy="266700"/>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a:solidFill>
                  <a:srgbClr val="122C50"/>
                </a:solidFill>
                <a:latin typeface="Arial"/>
                <a:ea typeface="Arial"/>
                <a:cs typeface="Arial"/>
              </a:rPr>
              <a:t>Fixed roots</a:t>
            </a:r>
          </a:p>
        </p:txBody>
      </p:sp>
      <p:sp>
        <p:nvSpPr>
          <p:cNvPr id="365" name="node-363">
            <a:extLst>
              <a:ext uri="{FF2B5EF4-FFF2-40B4-BE49-F238E27FC236}">
                <a16:creationId xmlns:a16="http://schemas.microsoft.com/office/drawing/2014/main" id="{368F8AE5-802D-45AD-9284-DFA01A5EDF34}"/>
              </a:ext>
            </a:extLst>
          </p:cNvPr>
          <p:cNvSpPr>
            <a:spLocks noGrp="1"/>
          </p:cNvSpPr>
          <p:nvPr/>
        </p:nvSpPr>
        <p:spPr>
          <a:xfrm>
            <a:off x="9029700" y="9229725"/>
            <a:ext cx="171450" cy="171450"/>
          </a:xfrm>
          <a:prstGeom prst="ellipse">
            <a:avLst/>
          </a:prstGeom>
          <a:solidFill>
            <a:srgbClr val="FFFFFF"/>
          </a:solidFill>
          <a:ln w="16193">
            <a:solidFill>
              <a:srgbClr val="357FC0"/>
            </a:solidFill>
          </a:ln>
        </p:spPr>
        <p:txBody>
          <a:bodyPr/>
          <a:p/>
        </p:txBody>
      </p:sp>
      <p:sp>
        <p:nvSpPr>
          <p:cNvPr id="366" name="element-364">
            <a:extLst>
              <a:ext uri="{FF2B5EF4-FFF2-40B4-BE49-F238E27FC236}">
                <a16:creationId xmlns:a16="http://schemas.microsoft.com/office/drawing/2014/main" id="{A9574B63-208A-4B8A-9C21-9E1456BC60AF}"/>
              </a:ext>
            </a:extLst>
          </p:cNvPr>
          <p:cNvSpPr>
            <a:spLocks noGrp="1"/>
          </p:cNvSpPr>
          <p:nvPr/>
        </p:nvSpPr>
        <p:spPr>
          <a:xfrm>
            <a:off x="9324975" y="9191625"/>
            <a:ext cx="2476500" cy="266700"/>
          </a:xfrm>
          <a:prstGeom prst="rect">
            <a:avLst/>
          </a:prstGeom>
          <a:noFill/>
          <a:ln w="0">
            <a:noFill/>
          </a:ln>
        </p:spPr>
        <p:txBody>
          <a:bodyPr lIns="0" tIns="0" rIns="0" bIns="0" anchor="ctr">
            <a:noAutofit/>
          </a:bodyPr>
          <a:lstStyle/>
          <a:p>
            <a:pPr algn="l">
              <a:defRPr sz="1275" b="0">
                <a:solidFill>
                  <a:srgbClr val="122C50"/>
                </a:solidFill>
                <a:latin typeface="Arial"/>
                <a:ea typeface="Arial"/>
                <a:cs typeface="Arial"/>
              </a:defRPr>
            </a:pPr>
            <a:r>
              <a:rPr sz="1275" b="0">
                <a:solidFill>
                  <a:srgbClr val="122C50"/>
                </a:solidFill>
                <a:latin typeface="Arial"/>
                <a:ea typeface="Arial"/>
                <a:cs typeface="Arial"/>
              </a:rPr>
              <a:t>Editable child nodes</a:t>
            </a:r>
          </a:p>
        </p:txBody>
      </p:sp>
      <p:sp>
        <p:nvSpPr>
          <p:cNvPr id="367" name="element-365">
            <a:extLst>
              <a:ext uri="{FF2B5EF4-FFF2-40B4-BE49-F238E27FC236}">
                <a16:creationId xmlns:a16="http://schemas.microsoft.com/office/drawing/2014/main" id="{5F56C09E-F40C-4EC8-BC85-C6463B37FDC6}"/>
              </a:ext>
            </a:extLst>
          </p:cNvPr>
          <p:cNvSpPr>
            <a:spLocks noGrp="1"/>
          </p:cNvSpPr>
          <p:nvPr/>
        </p:nvSpPr>
        <p:spPr>
          <a:xfrm>
            <a:off x="12382500" y="9191625"/>
            <a:ext cx="4514850" cy="266700"/>
          </a:xfrm>
          <a:prstGeom prst="rect">
            <a:avLst/>
          </a:prstGeom>
          <a:noFill/>
          <a:ln w="0">
            <a:noFill/>
          </a:ln>
        </p:spPr>
        <p:txBody>
          <a:bodyPr lIns="0" tIns="0" rIns="0" bIns="0" anchor="ctr">
            <a:noAutofit/>
          </a:bodyPr>
          <a:lstStyle/>
          <a:p>
            <a:pPr algn="r">
              <a:defRPr sz="1200" b="0">
                <a:solidFill>
                  <a:srgbClr val="5B6C80"/>
                </a:solidFill>
                <a:latin typeface="Arial"/>
                <a:ea typeface="Arial"/>
                <a:cs typeface="Arial"/>
              </a:defRPr>
            </a:pPr>
            <a:r>
              <a:rPr sz="1200" b="0">
                <a:solidFill>
                  <a:srgbClr val="5B6C80"/>
                </a:solidFill>
                <a:latin typeface="Arial"/>
                <a:ea typeface="Arial"/>
                <a:cs typeface="Arial"/>
              </a:rPr>
              <a:t>Gold supervises assessment and reflection only</a:t>
            </a:r>
          </a:p>
        </p:txBody>
      </p:sp>
    </p:spTree>
    <p:extLst>
      <p:ext uri="{BB962C8B-B14F-4D97-AF65-F5344CB8AC3E}">
        <p14:creationId xmlns:p14="http://schemas.microsoft.com/office/powerpoint/2010/main" val="702208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5453359" cy="320040"/>
          </a:xfrm>
          <a:prstGeom prst="rect">
            <a:avLst/>
          </a:prstGeom>
          <a:noFill/>
        </p:spPr>
        <p:txBody>
          <a:bodyPr wrap="square" lIns="18288" tIns="0" rIns="18288" bIns="0">
            <a:spAutoFit/>
          </a:bodyPr>
          <a:lstStyle/>
          <a:p>
            <a:pPr algn="l">
              <a:spcAft>
                <a:spcPts val="900"/>
              </a:spcAft>
              <a:defRPr sz="1500" b="1">
                <a:solidFill>
                  <a:srgbClr val="586E87"/>
                </a:solidFill>
                <a:latin typeface="Microsoft YaHei"/>
              </a:defRPr>
            </a:pPr>
            <a:r>
              <a:t>框架实现  01 / 06   ·   HIERARCHICAL REFLECTION</a:t>
            </a:r>
          </a:p>
        </p:txBody>
      </p:sp>
      <p:sp>
        <p:nvSpPr>
          <p:cNvPr id="3" name="TextBox 2"/>
          <p:cNvSpPr txBox="1"/>
          <p:nvPr/>
        </p:nvSpPr>
        <p:spPr>
          <a:xfrm>
            <a:off x="502920" y="859536"/>
            <a:ext cx="16093440" cy="658368"/>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rPr dirty="0" err="1"/>
              <a:t>一轮演化：从系统判断到准则修改，再回到验收</a:t>
            </a:r>
            <a:endParaRPr dirty="0"/>
          </a:p>
        </p:txBody>
      </p:sp>
      <p:sp>
        <p:nvSpPr>
          <p:cNvPr id="4" name="TextBox 3"/>
          <p:cNvSpPr txBox="1"/>
          <p:nvPr/>
        </p:nvSpPr>
        <p:spPr>
          <a:xfrm>
            <a:off x="502920" y="1673352"/>
            <a:ext cx="16093440" cy="59436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rPr dirty="0" err="1"/>
              <a:t>先建立</a:t>
            </a:r>
            <a:r>
              <a:rPr dirty="0"/>
              <a:t> </a:t>
            </a:r>
            <a:r>
              <a:rPr dirty="0" err="1"/>
              <a:t>init</a:t>
            </a:r>
            <a:r>
              <a:rPr dirty="0"/>
              <a:t> </a:t>
            </a:r>
            <a:r>
              <a:rPr dirty="0" err="1"/>
              <a:t>Rubric；之后每一轮都从“当前已接受版本”出发</a:t>
            </a:r>
            <a:r>
              <a:rPr dirty="0"/>
              <a:t>。</a:t>
            </a:r>
          </a:p>
        </p:txBody>
      </p:sp>
      <p:sp>
        <p:nvSpPr>
          <p:cNvPr id="6" name="TextBox 5"/>
          <p:cNvSpPr txBox="1"/>
          <p:nvPr/>
        </p:nvSpPr>
        <p:spPr>
          <a:xfrm>
            <a:off x="16020288" y="9079992"/>
            <a:ext cx="594360" cy="301752"/>
          </a:xfrm>
          <a:prstGeom prst="rect">
            <a:avLst/>
          </a:prstGeom>
          <a:noFill/>
        </p:spPr>
        <p:txBody>
          <a:bodyPr wrap="square" lIns="18288" tIns="0" rIns="18288" bIns="0">
            <a:spAutoFit/>
          </a:bodyPr>
          <a:lstStyle/>
          <a:p>
            <a:pPr algn="r">
              <a:spcAft>
                <a:spcPts val="900"/>
              </a:spcAft>
              <a:defRPr sz="1600" b="0">
                <a:solidFill>
                  <a:srgbClr val="586E87"/>
                </a:solidFill>
                <a:latin typeface="Microsoft YaHei"/>
              </a:defRPr>
            </a:pPr>
            <a:r>
              <a:t>01</a:t>
            </a:r>
          </a:p>
        </p:txBody>
      </p:sp>
      <p:sp>
        <p:nvSpPr>
          <p:cNvPr id="7" name="Rounded Rectangle 6"/>
          <p:cNvSpPr/>
          <p:nvPr/>
        </p:nvSpPr>
        <p:spPr>
          <a:xfrm>
            <a:off x="502920" y="2468880"/>
            <a:ext cx="16139159" cy="932688"/>
          </a:xfrm>
          <a:prstGeom prst="roundRect">
            <a:avLst>
              <a:gd name="adj" fmla="val 8000"/>
            </a:avLst>
          </a:prstGeom>
          <a:solidFill>
            <a:srgbClr val="EA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688336"/>
            <a:ext cx="15590520" cy="530352"/>
          </a:xfrm>
          <a:prstGeom prst="rect">
            <a:avLst/>
          </a:prstGeom>
          <a:noFill/>
        </p:spPr>
        <p:txBody>
          <a:bodyPr wrap="square" lIns="18288" tIns="0" rIns="18288" bIns="0">
            <a:spAutoFit/>
          </a:bodyPr>
          <a:lstStyle/>
          <a:p>
            <a:pPr algn="l">
              <a:spcAft>
                <a:spcPts val="900"/>
              </a:spcAft>
              <a:defRPr sz="2500" b="1">
                <a:solidFill>
                  <a:srgbClr val="119D96"/>
                </a:solidFill>
                <a:latin typeface="Microsoft YaHei"/>
              </a:defRPr>
            </a:pPr>
            <a:r>
              <a:rPr dirty="0" err="1"/>
              <a:t>初始化：五个裸</a:t>
            </a:r>
            <a:r>
              <a:rPr dirty="0"/>
              <a:t> root </a:t>
            </a:r>
            <a:r>
              <a:rPr dirty="0" err="1"/>
              <a:t>判断</a:t>
            </a:r>
            <a:r>
              <a:rPr dirty="0"/>
              <a:t> → </a:t>
            </a:r>
            <a:r>
              <a:rPr dirty="0" err="1"/>
              <a:t>各根提取签名、聚类、生成孩子</a:t>
            </a:r>
            <a:r>
              <a:rPr dirty="0"/>
              <a:t> → </a:t>
            </a:r>
            <a:r>
              <a:rPr dirty="0" err="1"/>
              <a:t>组成</a:t>
            </a:r>
            <a:r>
              <a:rPr dirty="0"/>
              <a:t> </a:t>
            </a:r>
            <a:r>
              <a:rPr dirty="0" err="1"/>
              <a:t>init</a:t>
            </a:r>
            <a:r>
              <a:rPr dirty="0"/>
              <a:t> Rubric</a:t>
            </a:r>
          </a:p>
        </p:txBody>
      </p:sp>
      <p:sp>
        <p:nvSpPr>
          <p:cNvPr id="9" name="Rounded Rectangle 8"/>
          <p:cNvSpPr/>
          <p:nvPr/>
        </p:nvSpPr>
        <p:spPr>
          <a:xfrm>
            <a:off x="502920" y="3767328"/>
            <a:ext cx="3017520" cy="362102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3950208"/>
            <a:ext cx="2615184" cy="365760"/>
          </a:xfrm>
          <a:prstGeom prst="rect">
            <a:avLst/>
          </a:prstGeom>
          <a:noFill/>
        </p:spPr>
        <p:txBody>
          <a:bodyPr wrap="square" lIns="18288" tIns="0" rIns="18288" bIns="0">
            <a:spAutoFit/>
          </a:bodyPr>
          <a:lstStyle/>
          <a:p>
            <a:pPr algn="l">
              <a:spcAft>
                <a:spcPts val="900"/>
              </a:spcAft>
              <a:defRPr sz="2000" b="1">
                <a:solidFill>
                  <a:srgbClr val="3183CB"/>
                </a:solidFill>
                <a:latin typeface="Microsoft YaHei"/>
              </a:defRPr>
            </a:pPr>
            <a:r>
              <a:t>01</a:t>
            </a:r>
          </a:p>
        </p:txBody>
      </p:sp>
      <p:sp>
        <p:nvSpPr>
          <p:cNvPr id="11" name="TextBox 10"/>
          <p:cNvSpPr txBox="1"/>
          <p:nvPr/>
        </p:nvSpPr>
        <p:spPr>
          <a:xfrm>
            <a:off x="704088" y="4471416"/>
            <a:ext cx="2615184"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当前系统判断</a:t>
            </a:r>
          </a:p>
        </p:txBody>
      </p:sp>
      <p:sp>
        <p:nvSpPr>
          <p:cNvPr id="12" name="TextBox 11"/>
          <p:cNvSpPr txBox="1"/>
          <p:nvPr/>
        </p:nvSpPr>
        <p:spPr>
          <a:xfrm>
            <a:off x="704088" y="5312664"/>
            <a:ext cx="2615184" cy="1975104"/>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100 条样本</a:t>
            </a:r>
          </a:p>
          <a:p>
            <a:pPr algn="l">
              <a:spcAft>
                <a:spcPts val="900"/>
              </a:spcAft>
              <a:defRPr sz="2200" b="0">
                <a:solidFill>
                  <a:srgbClr val="16345A"/>
                </a:solidFill>
                <a:latin typeface="Microsoft YaHei"/>
              </a:defRPr>
            </a:pPr>
            <a:r>
              <a:t>五份局部报告</a:t>
            </a:r>
          </a:p>
          <a:p>
            <a:pPr algn="l">
              <a:spcAft>
                <a:spcPts val="900"/>
              </a:spcAft>
              <a:defRPr sz="2200" b="0">
                <a:solidFill>
                  <a:srgbClr val="16345A"/>
                </a:solidFill>
                <a:latin typeface="Microsoft YaHei"/>
              </a:defRPr>
            </a:pPr>
            <a:r>
              <a:t>Arbiter 理由与答案</a:t>
            </a:r>
          </a:p>
        </p:txBody>
      </p:sp>
      <p:sp>
        <p:nvSpPr>
          <p:cNvPr id="13" name="Right Arrow 12"/>
          <p:cNvSpPr/>
          <p:nvPr/>
        </p:nvSpPr>
        <p:spPr>
          <a:xfrm>
            <a:off x="3557015" y="5468112"/>
            <a:ext cx="182880" cy="219456"/>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76472" y="3767328"/>
            <a:ext cx="3017520" cy="3621024"/>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77639" y="3950208"/>
            <a:ext cx="2615184" cy="365760"/>
          </a:xfrm>
          <a:prstGeom prst="rect">
            <a:avLst/>
          </a:prstGeom>
          <a:noFill/>
        </p:spPr>
        <p:txBody>
          <a:bodyPr wrap="square" lIns="18288" tIns="0" rIns="18288" bIns="0">
            <a:spAutoFit/>
          </a:bodyPr>
          <a:lstStyle/>
          <a:p>
            <a:pPr algn="l">
              <a:spcAft>
                <a:spcPts val="900"/>
              </a:spcAft>
              <a:defRPr sz="2000" b="1">
                <a:solidFill>
                  <a:srgbClr val="D67B32"/>
                </a:solidFill>
                <a:latin typeface="Microsoft YaHei"/>
              </a:defRPr>
            </a:pPr>
            <a:r>
              <a:t>02</a:t>
            </a:r>
          </a:p>
        </p:txBody>
      </p:sp>
      <p:sp>
        <p:nvSpPr>
          <p:cNvPr id="16" name="TextBox 15"/>
          <p:cNvSpPr txBox="1"/>
          <p:nvPr/>
        </p:nvSpPr>
        <p:spPr>
          <a:xfrm>
            <a:off x="3977639" y="4471416"/>
            <a:ext cx="2615184"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系统级反思</a:t>
            </a:r>
          </a:p>
        </p:txBody>
      </p:sp>
      <p:sp>
        <p:nvSpPr>
          <p:cNvPr id="17" name="TextBox 16"/>
          <p:cNvSpPr txBox="1"/>
          <p:nvPr/>
        </p:nvSpPr>
        <p:spPr>
          <a:xfrm>
            <a:off x="3977639" y="5312664"/>
            <a:ext cx="2615184" cy="1975104"/>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选 40 条案例</a:t>
            </a:r>
          </a:p>
          <a:p>
            <a:pPr algn="l">
              <a:spcAft>
                <a:spcPts val="900"/>
              </a:spcAft>
              <a:defRPr sz="2200" b="0">
                <a:solidFill>
                  <a:srgbClr val="16345A"/>
                </a:solidFill>
                <a:latin typeface="Microsoft YaHei"/>
              </a:defRPr>
            </a:pPr>
            <a:r>
              <a:t>每批 10 条</a:t>
            </a:r>
          </a:p>
          <a:p>
            <a:pPr algn="l">
              <a:spcAft>
                <a:spcPts val="900"/>
              </a:spcAft>
              <a:defRPr sz="2200" b="0">
                <a:solidFill>
                  <a:srgbClr val="16345A"/>
                </a:solidFill>
                <a:latin typeface="Microsoft YaHei"/>
              </a:defRPr>
            </a:pPr>
            <a:r>
              <a:t>问题按 root 分配</a:t>
            </a:r>
          </a:p>
        </p:txBody>
      </p:sp>
      <p:sp>
        <p:nvSpPr>
          <p:cNvPr id="18" name="Right Arrow 17"/>
          <p:cNvSpPr/>
          <p:nvPr/>
        </p:nvSpPr>
        <p:spPr>
          <a:xfrm>
            <a:off x="6830568" y="5468112"/>
            <a:ext cx="182880" cy="219456"/>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050024" y="3767328"/>
            <a:ext cx="3017520" cy="3621024"/>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51192" y="3950208"/>
            <a:ext cx="2615184" cy="365760"/>
          </a:xfrm>
          <a:prstGeom prst="rect">
            <a:avLst/>
          </a:prstGeom>
          <a:noFill/>
        </p:spPr>
        <p:txBody>
          <a:bodyPr wrap="square" lIns="18288" tIns="0" rIns="18288" bIns="0">
            <a:spAutoFit/>
          </a:bodyPr>
          <a:lstStyle/>
          <a:p>
            <a:pPr algn="l">
              <a:spcAft>
                <a:spcPts val="900"/>
              </a:spcAft>
              <a:defRPr sz="2000" b="1">
                <a:solidFill>
                  <a:srgbClr val="119D96"/>
                </a:solidFill>
                <a:latin typeface="Microsoft YaHei"/>
              </a:defRPr>
            </a:pPr>
            <a:r>
              <a:t>03</a:t>
            </a:r>
          </a:p>
        </p:txBody>
      </p:sp>
      <p:sp>
        <p:nvSpPr>
          <p:cNvPr id="21" name="TextBox 20"/>
          <p:cNvSpPr txBox="1"/>
          <p:nvPr/>
        </p:nvSpPr>
        <p:spPr>
          <a:xfrm>
            <a:off x="7251192" y="4471416"/>
            <a:ext cx="2615184"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子树级反思</a:t>
            </a:r>
          </a:p>
        </p:txBody>
      </p:sp>
      <p:sp>
        <p:nvSpPr>
          <p:cNvPr id="22" name="TextBox 21"/>
          <p:cNvSpPr txBox="1"/>
          <p:nvPr/>
        </p:nvSpPr>
        <p:spPr>
          <a:xfrm>
            <a:off x="7251192" y="5312664"/>
            <a:ext cx="2615184" cy="1975104"/>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每根独立反思</a:t>
            </a:r>
          </a:p>
          <a:p>
            <a:pPr algn="l">
              <a:spcAft>
                <a:spcPts val="900"/>
              </a:spcAft>
              <a:defRPr sz="2200" b="0">
                <a:solidFill>
                  <a:srgbClr val="16345A"/>
                </a:solidFill>
                <a:latin typeface="Microsoft YaHei"/>
              </a:defRPr>
            </a:pPr>
            <a:r>
              <a:t>决定保留或修改</a:t>
            </a:r>
          </a:p>
          <a:p>
            <a:pPr algn="l">
              <a:spcAft>
                <a:spcPts val="900"/>
              </a:spcAft>
              <a:defRPr sz="2200" b="0">
                <a:solidFill>
                  <a:srgbClr val="16345A"/>
                </a:solidFill>
                <a:latin typeface="Microsoft YaHei"/>
              </a:defRPr>
            </a:pPr>
            <a:r>
              <a:t>给出修改目标</a:t>
            </a:r>
          </a:p>
        </p:txBody>
      </p:sp>
      <p:sp>
        <p:nvSpPr>
          <p:cNvPr id="23" name="Right Arrow 22"/>
          <p:cNvSpPr/>
          <p:nvPr/>
        </p:nvSpPr>
        <p:spPr>
          <a:xfrm>
            <a:off x="10104120" y="5468112"/>
            <a:ext cx="182880" cy="219456"/>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323576" y="3767328"/>
            <a:ext cx="3017520" cy="3621024"/>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24744" y="3950208"/>
            <a:ext cx="2615184" cy="365760"/>
          </a:xfrm>
          <a:prstGeom prst="rect">
            <a:avLst/>
          </a:prstGeom>
          <a:noFill/>
        </p:spPr>
        <p:txBody>
          <a:bodyPr wrap="square" lIns="18288" tIns="0" rIns="18288" bIns="0">
            <a:spAutoFit/>
          </a:bodyPr>
          <a:lstStyle/>
          <a:p>
            <a:pPr algn="l">
              <a:spcAft>
                <a:spcPts val="900"/>
              </a:spcAft>
              <a:defRPr sz="2000" b="1">
                <a:solidFill>
                  <a:srgbClr val="D67B32"/>
                </a:solidFill>
                <a:latin typeface="Microsoft YaHei"/>
              </a:defRPr>
            </a:pPr>
            <a:r>
              <a:t>04</a:t>
            </a:r>
          </a:p>
        </p:txBody>
      </p:sp>
      <p:sp>
        <p:nvSpPr>
          <p:cNvPr id="26" name="TextBox 25"/>
          <p:cNvSpPr txBox="1"/>
          <p:nvPr/>
        </p:nvSpPr>
        <p:spPr>
          <a:xfrm>
            <a:off x="10524744" y="4471416"/>
            <a:ext cx="2615184"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生成新孩子</a:t>
            </a:r>
          </a:p>
        </p:txBody>
      </p:sp>
      <p:sp>
        <p:nvSpPr>
          <p:cNvPr id="27" name="TextBox 26"/>
          <p:cNvSpPr txBox="1"/>
          <p:nvPr/>
        </p:nvSpPr>
        <p:spPr>
          <a:xfrm>
            <a:off x="10524744" y="5312664"/>
            <a:ext cx="2615184" cy="1975104"/>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相关签名 → 聚类</a:t>
            </a:r>
          </a:p>
          <a:p>
            <a:pPr algn="l">
              <a:spcAft>
                <a:spcPts val="900"/>
              </a:spcAft>
              <a:defRPr sz="2200" b="0">
                <a:solidFill>
                  <a:srgbClr val="16345A"/>
                </a:solidFill>
                <a:latin typeface="Microsoft YaHei"/>
              </a:defRPr>
            </a:pPr>
            <a:r>
              <a:t>整组生成孩子</a:t>
            </a:r>
          </a:p>
          <a:p>
            <a:pPr algn="l">
              <a:spcAft>
                <a:spcPts val="900"/>
              </a:spcAft>
              <a:defRPr sz="2200" b="0">
                <a:solidFill>
                  <a:srgbClr val="16345A"/>
                </a:solidFill>
                <a:latin typeface="Microsoft YaHei"/>
              </a:defRPr>
            </a:pPr>
            <a:r>
              <a:t>合成候选 Rubric</a:t>
            </a:r>
          </a:p>
        </p:txBody>
      </p:sp>
      <p:sp>
        <p:nvSpPr>
          <p:cNvPr id="28" name="Right Arrow 27"/>
          <p:cNvSpPr/>
          <p:nvPr/>
        </p:nvSpPr>
        <p:spPr>
          <a:xfrm>
            <a:off x="13377672" y="5468112"/>
            <a:ext cx="182880" cy="219456"/>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3597128" y="3767328"/>
            <a:ext cx="3017520" cy="362102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798296" y="3950208"/>
            <a:ext cx="2615184" cy="365760"/>
          </a:xfrm>
          <a:prstGeom prst="rect">
            <a:avLst/>
          </a:prstGeom>
          <a:noFill/>
        </p:spPr>
        <p:txBody>
          <a:bodyPr wrap="square" lIns="18288" tIns="0" rIns="18288" bIns="0">
            <a:spAutoFit/>
          </a:bodyPr>
          <a:lstStyle/>
          <a:p>
            <a:pPr algn="l">
              <a:spcAft>
                <a:spcPts val="900"/>
              </a:spcAft>
              <a:defRPr sz="2000" b="1">
                <a:solidFill>
                  <a:srgbClr val="8660BE"/>
                </a:solidFill>
                <a:latin typeface="Microsoft YaHei"/>
              </a:defRPr>
            </a:pPr>
            <a:r>
              <a:t>05</a:t>
            </a:r>
          </a:p>
        </p:txBody>
      </p:sp>
      <p:sp>
        <p:nvSpPr>
          <p:cNvPr id="31" name="TextBox 30"/>
          <p:cNvSpPr txBox="1"/>
          <p:nvPr/>
        </p:nvSpPr>
        <p:spPr>
          <a:xfrm>
            <a:off x="13798296" y="4471416"/>
            <a:ext cx="2615184"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联合验收</a:t>
            </a:r>
          </a:p>
        </p:txBody>
      </p:sp>
      <p:sp>
        <p:nvSpPr>
          <p:cNvPr id="32" name="TextBox 31"/>
          <p:cNvSpPr txBox="1"/>
          <p:nvPr/>
        </p:nvSpPr>
        <p:spPr>
          <a:xfrm>
            <a:off x="13798296" y="5312664"/>
            <a:ext cx="2615184" cy="1975104"/>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同一批 100 条</a:t>
            </a:r>
          </a:p>
          <a:p>
            <a:pPr algn="l">
              <a:spcAft>
                <a:spcPts val="900"/>
              </a:spcAft>
              <a:defRPr sz="2200" b="0">
                <a:solidFill>
                  <a:srgbClr val="16345A"/>
                </a:solidFill>
                <a:latin typeface="Microsoft YaHei"/>
              </a:defRPr>
            </a:pPr>
            <a:r>
              <a:t>Strict ACC 严格提高</a:t>
            </a:r>
          </a:p>
          <a:p>
            <a:pPr algn="l">
              <a:spcAft>
                <a:spcPts val="900"/>
              </a:spcAft>
              <a:defRPr sz="2200" b="0">
                <a:solidFill>
                  <a:srgbClr val="16345A"/>
                </a:solidFill>
                <a:latin typeface="Microsoft YaHei"/>
              </a:defRPr>
            </a:pPr>
            <a:r>
              <a:t>才整批接受</a:t>
            </a:r>
          </a:p>
        </p:txBody>
      </p:sp>
      <p:sp>
        <p:nvSpPr>
          <p:cNvPr id="33" name="Rounded Rectangle 32"/>
          <p:cNvSpPr/>
          <p:nvPr/>
        </p:nvSpPr>
        <p:spPr>
          <a:xfrm>
            <a:off x="502920" y="7754112"/>
            <a:ext cx="16139159" cy="969264"/>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8" y="8083634"/>
            <a:ext cx="15453359" cy="603504"/>
          </a:xfrm>
          <a:prstGeom prst="rect">
            <a:avLst/>
          </a:prstGeom>
          <a:noFill/>
        </p:spPr>
        <p:txBody>
          <a:bodyPr wrap="square" lIns="18288" tIns="0" rIns="18288" bIns="0">
            <a:spAutoFit/>
          </a:bodyPr>
          <a:lstStyle/>
          <a:p>
            <a:pPr algn="l">
              <a:spcAft>
                <a:spcPts val="900"/>
              </a:spcAft>
              <a:defRPr sz="2400" b="1">
                <a:solidFill>
                  <a:srgbClr val="16345A"/>
                </a:solidFill>
                <a:latin typeface="Microsoft YaHei"/>
              </a:defRPr>
            </a:pPr>
            <a:r>
              <a:rPr dirty="0" err="1"/>
              <a:t>接受：候选成为下一轮起点；拒绝：继续保留当前版本，并把失败结果用于下轮反馈</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5453359" cy="320040"/>
          </a:xfrm>
          <a:prstGeom prst="rect">
            <a:avLst/>
          </a:prstGeom>
          <a:noFill/>
        </p:spPr>
        <p:txBody>
          <a:bodyPr wrap="square" lIns="18288" tIns="0" rIns="18288" bIns="0">
            <a:spAutoFit/>
          </a:bodyPr>
          <a:lstStyle/>
          <a:p>
            <a:pPr algn="l">
              <a:spcAft>
                <a:spcPts val="900"/>
              </a:spcAft>
              <a:defRPr sz="1500" b="1">
                <a:solidFill>
                  <a:srgbClr val="586E87"/>
                </a:solidFill>
                <a:latin typeface="Microsoft YaHei"/>
              </a:defRPr>
            </a:pPr>
            <a:r>
              <a:t>框架实现  02 / 06   ·   HIERARCHICAL REFLECTION</a:t>
            </a:r>
          </a:p>
        </p:txBody>
      </p:sp>
      <p:sp>
        <p:nvSpPr>
          <p:cNvPr id="3" name="TextBox 2"/>
          <p:cNvSpPr txBox="1"/>
          <p:nvPr/>
        </p:nvSpPr>
        <p:spPr>
          <a:xfrm>
            <a:off x="502920" y="859536"/>
            <a:ext cx="16093440" cy="658368"/>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系统反思：先选出 40 条案例，再分四批分析</a:t>
            </a:r>
          </a:p>
        </p:txBody>
      </p:sp>
      <p:sp>
        <p:nvSpPr>
          <p:cNvPr id="4" name="TextBox 3"/>
          <p:cNvSpPr txBox="1"/>
          <p:nvPr/>
        </p:nvSpPr>
        <p:spPr>
          <a:xfrm>
            <a:off x="502920" y="1673352"/>
            <a:ext cx="16093440" cy="59436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rPr sz="2300" dirty="0" err="1"/>
              <a:t>程序按以下顺序选例</a:t>
            </a:r>
            <a:r>
              <a:rPr sz="2300" dirty="0"/>
              <a:t>；“</a:t>
            </a:r>
            <a:r>
              <a:rPr sz="2300" dirty="0" err="1"/>
              <a:t>判对</a:t>
            </a:r>
            <a:r>
              <a:rPr sz="2300" dirty="0"/>
              <a:t> / 判错”均以人类偏好为准，40 </a:t>
            </a:r>
            <a:r>
              <a:rPr sz="2300" dirty="0" err="1"/>
              <a:t>条分四批交给</a:t>
            </a:r>
            <a:r>
              <a:rPr sz="2300" dirty="0"/>
              <a:t> Manager。</a:t>
            </a:r>
          </a:p>
        </p:txBody>
      </p:sp>
      <p:sp>
        <p:nvSpPr>
          <p:cNvPr id="6" name="TextBox 5"/>
          <p:cNvSpPr txBox="1"/>
          <p:nvPr/>
        </p:nvSpPr>
        <p:spPr>
          <a:xfrm>
            <a:off x="16020288" y="9079992"/>
            <a:ext cx="594360" cy="301752"/>
          </a:xfrm>
          <a:prstGeom prst="rect">
            <a:avLst/>
          </a:prstGeom>
          <a:noFill/>
        </p:spPr>
        <p:txBody>
          <a:bodyPr wrap="square" lIns="18288" tIns="0" rIns="18288" bIns="0">
            <a:spAutoFit/>
          </a:bodyPr>
          <a:lstStyle/>
          <a:p>
            <a:pPr algn="r">
              <a:spcAft>
                <a:spcPts val="900"/>
              </a:spcAft>
              <a:defRPr sz="1600" b="0">
                <a:solidFill>
                  <a:srgbClr val="586E87"/>
                </a:solidFill>
                <a:latin typeface="Microsoft YaHei"/>
              </a:defRPr>
            </a:pPr>
            <a:r>
              <a:t>02</a:t>
            </a:r>
          </a:p>
        </p:txBody>
      </p:sp>
      <p:sp>
        <p:nvSpPr>
          <p:cNvPr id="7" name="Rounded Rectangle 6"/>
          <p:cNvSpPr/>
          <p:nvPr/>
        </p:nvSpPr>
        <p:spPr>
          <a:xfrm>
            <a:off x="502920" y="2468880"/>
            <a:ext cx="16139159" cy="77724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651760"/>
            <a:ext cx="15544800" cy="411480"/>
          </a:xfrm>
          <a:prstGeom prst="rect">
            <a:avLst/>
          </a:prstGeom>
          <a:noFill/>
        </p:spPr>
        <p:txBody>
          <a:bodyPr wrap="square" lIns="18288" tIns="0" rIns="18288" bIns="0">
            <a:spAutoFit/>
          </a:bodyPr>
          <a:lstStyle/>
          <a:p>
            <a:pPr algn="l">
              <a:spcAft>
                <a:spcPts val="900"/>
              </a:spcAft>
              <a:defRPr sz="2200" b="1">
                <a:solidFill>
                  <a:srgbClr val="16345A"/>
                </a:solidFill>
                <a:latin typeface="Microsoft YaHei"/>
              </a:defRPr>
            </a:pPr>
            <a:r>
              <a:rPr dirty="0" err="1"/>
              <a:t>候选池：当前系统的</a:t>
            </a:r>
            <a:r>
              <a:rPr dirty="0"/>
              <a:t> 100 </a:t>
            </a:r>
            <a:r>
              <a:rPr dirty="0" err="1"/>
              <a:t>条结果；按来源、任务域、五根答案组合分组，轮流取例并去重</a:t>
            </a:r>
            <a:r>
              <a:rPr dirty="0"/>
              <a:t>。</a:t>
            </a:r>
          </a:p>
        </p:txBody>
      </p:sp>
      <p:sp>
        <p:nvSpPr>
          <p:cNvPr id="9" name="Rounded Rectangle 8"/>
          <p:cNvSpPr/>
          <p:nvPr/>
        </p:nvSpPr>
        <p:spPr>
          <a:xfrm>
            <a:off x="502920" y="3529584"/>
            <a:ext cx="3813048" cy="2953512"/>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3712463"/>
            <a:ext cx="3410712" cy="365760"/>
          </a:xfrm>
          <a:prstGeom prst="rect">
            <a:avLst/>
          </a:prstGeom>
          <a:noFill/>
        </p:spPr>
        <p:txBody>
          <a:bodyPr wrap="square" lIns="18288" tIns="0" rIns="18288" bIns="0">
            <a:spAutoFit/>
          </a:bodyPr>
          <a:lstStyle/>
          <a:p>
            <a:pPr algn="l">
              <a:spcAft>
                <a:spcPts val="900"/>
              </a:spcAft>
              <a:defRPr sz="2000" b="1">
                <a:solidFill>
                  <a:srgbClr val="3183CB"/>
                </a:solidFill>
                <a:latin typeface="Microsoft YaHei"/>
              </a:defRPr>
            </a:pPr>
            <a:r>
              <a:t>1</a:t>
            </a:r>
          </a:p>
        </p:txBody>
      </p:sp>
      <p:sp>
        <p:nvSpPr>
          <p:cNvPr id="11" name="TextBox 10"/>
          <p:cNvSpPr txBox="1"/>
          <p:nvPr/>
        </p:nvSpPr>
        <p:spPr>
          <a:xfrm>
            <a:off x="704088" y="4233672"/>
            <a:ext cx="3410712"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回看上轮改动</a:t>
            </a:r>
          </a:p>
        </p:txBody>
      </p:sp>
      <p:sp>
        <p:nvSpPr>
          <p:cNvPr id="12" name="TextBox 11"/>
          <p:cNvSpPr txBox="1"/>
          <p:nvPr/>
        </p:nvSpPr>
        <p:spPr>
          <a:xfrm>
            <a:off x="704088" y="5074920"/>
            <a:ext cx="3410712" cy="1307592"/>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rPr dirty="0"/>
              <a:t>错 → </a:t>
            </a:r>
            <a:r>
              <a:rPr dirty="0" err="1"/>
              <a:t>对：最多选</a:t>
            </a:r>
            <a:r>
              <a:rPr dirty="0"/>
              <a:t> 4 条</a:t>
            </a:r>
          </a:p>
          <a:p>
            <a:pPr algn="l">
              <a:spcAft>
                <a:spcPts val="900"/>
              </a:spcAft>
              <a:defRPr sz="2200" b="0">
                <a:solidFill>
                  <a:srgbClr val="16345A"/>
                </a:solidFill>
                <a:latin typeface="Microsoft YaHei"/>
              </a:defRPr>
            </a:pPr>
            <a:r>
              <a:rPr dirty="0"/>
              <a:t>对 → </a:t>
            </a:r>
            <a:r>
              <a:rPr dirty="0" err="1"/>
              <a:t>错：最多选</a:t>
            </a:r>
            <a:r>
              <a:rPr dirty="0"/>
              <a:t> 4 条</a:t>
            </a:r>
          </a:p>
          <a:p>
            <a:pPr algn="l">
              <a:spcAft>
                <a:spcPts val="900"/>
              </a:spcAft>
              <a:defRPr sz="2200" b="0">
                <a:solidFill>
                  <a:srgbClr val="16345A"/>
                </a:solidFill>
                <a:latin typeface="Microsoft YaHei"/>
              </a:defRPr>
            </a:pPr>
            <a:r>
              <a:rPr dirty="0" err="1"/>
              <a:t>首轮无上轮结果，跳过</a:t>
            </a:r>
            <a:endParaRPr dirty="0"/>
          </a:p>
        </p:txBody>
      </p:sp>
      <p:sp>
        <p:nvSpPr>
          <p:cNvPr id="13" name="Right Arrow 12"/>
          <p:cNvSpPr/>
          <p:nvPr/>
        </p:nvSpPr>
        <p:spPr>
          <a:xfrm>
            <a:off x="4361688" y="4983480"/>
            <a:ext cx="182880" cy="228600"/>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99432" y="3529584"/>
            <a:ext cx="3813048" cy="2953512"/>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00600" y="3712463"/>
            <a:ext cx="3410712" cy="365760"/>
          </a:xfrm>
          <a:prstGeom prst="rect">
            <a:avLst/>
          </a:prstGeom>
          <a:noFill/>
        </p:spPr>
        <p:txBody>
          <a:bodyPr wrap="square" lIns="18288" tIns="0" rIns="18288" bIns="0">
            <a:spAutoFit/>
          </a:bodyPr>
          <a:lstStyle/>
          <a:p>
            <a:pPr algn="l">
              <a:spcAft>
                <a:spcPts val="900"/>
              </a:spcAft>
              <a:defRPr sz="2000" b="1">
                <a:solidFill>
                  <a:srgbClr val="119D96"/>
                </a:solidFill>
                <a:latin typeface="Microsoft YaHei"/>
              </a:defRPr>
            </a:pPr>
            <a:r>
              <a:t>2</a:t>
            </a:r>
          </a:p>
        </p:txBody>
      </p:sp>
      <p:sp>
        <p:nvSpPr>
          <p:cNvPr id="16" name="TextBox 15"/>
          <p:cNvSpPr txBox="1"/>
          <p:nvPr/>
        </p:nvSpPr>
        <p:spPr>
          <a:xfrm>
            <a:off x="4800600" y="4233672"/>
            <a:ext cx="3410712"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补入判对的案例</a:t>
            </a:r>
          </a:p>
        </p:txBody>
      </p:sp>
      <p:sp>
        <p:nvSpPr>
          <p:cNvPr id="17" name="TextBox 16"/>
          <p:cNvSpPr txBox="1"/>
          <p:nvPr/>
        </p:nvSpPr>
        <p:spPr>
          <a:xfrm>
            <a:off x="4800600" y="5074920"/>
            <a:ext cx="3410712" cy="1307592"/>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按当前 Rubric 的结果</a:t>
            </a:r>
          </a:p>
          <a:p>
            <a:pPr algn="l">
              <a:spcAft>
                <a:spcPts val="900"/>
              </a:spcAft>
              <a:defRPr sz="2200" b="0">
                <a:solidFill>
                  <a:srgbClr val="16345A"/>
                </a:solidFill>
                <a:latin typeface="Microsoft YaHei"/>
              </a:defRPr>
            </a:pPr>
            <a:r>
              <a:t>将已选“判对”补足 8 条</a:t>
            </a:r>
          </a:p>
          <a:p>
            <a:pPr algn="l">
              <a:spcAft>
                <a:spcPts val="900"/>
              </a:spcAft>
              <a:defRPr sz="2200" b="0">
                <a:solidFill>
                  <a:srgbClr val="16345A"/>
                </a:solidFill>
                <a:latin typeface="Microsoft YaHei"/>
              </a:defRPr>
            </a:pPr>
            <a:r>
              <a:t>不足 8 条则取全部</a:t>
            </a:r>
          </a:p>
        </p:txBody>
      </p:sp>
      <p:sp>
        <p:nvSpPr>
          <p:cNvPr id="18" name="Right Arrow 17"/>
          <p:cNvSpPr/>
          <p:nvPr/>
        </p:nvSpPr>
        <p:spPr>
          <a:xfrm>
            <a:off x="8458200" y="4983480"/>
            <a:ext cx="182880" cy="228600"/>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95944" y="3529584"/>
            <a:ext cx="3813048" cy="2953512"/>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97112" y="3712463"/>
            <a:ext cx="3410712" cy="365760"/>
          </a:xfrm>
          <a:prstGeom prst="rect">
            <a:avLst/>
          </a:prstGeom>
          <a:noFill/>
        </p:spPr>
        <p:txBody>
          <a:bodyPr wrap="square" lIns="18288" tIns="0" rIns="18288" bIns="0">
            <a:spAutoFit/>
          </a:bodyPr>
          <a:lstStyle/>
          <a:p>
            <a:pPr algn="l">
              <a:spcAft>
                <a:spcPts val="900"/>
              </a:spcAft>
              <a:defRPr sz="2000" b="1">
                <a:solidFill>
                  <a:srgbClr val="D67B32"/>
                </a:solidFill>
                <a:latin typeface="Microsoft YaHei"/>
              </a:defRPr>
            </a:pPr>
            <a:r>
              <a:t>3</a:t>
            </a:r>
          </a:p>
        </p:txBody>
      </p:sp>
      <p:sp>
        <p:nvSpPr>
          <p:cNvPr id="21" name="TextBox 20"/>
          <p:cNvSpPr txBox="1"/>
          <p:nvPr/>
        </p:nvSpPr>
        <p:spPr>
          <a:xfrm>
            <a:off x="8897112" y="4233672"/>
            <a:ext cx="3410712"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t>加入判错的案例</a:t>
            </a:r>
          </a:p>
        </p:txBody>
      </p:sp>
      <p:sp>
        <p:nvSpPr>
          <p:cNvPr id="22" name="TextBox 21"/>
          <p:cNvSpPr txBox="1"/>
          <p:nvPr/>
        </p:nvSpPr>
        <p:spPr>
          <a:xfrm>
            <a:off x="8897112" y="5074920"/>
            <a:ext cx="3410712" cy="1307592"/>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按当前 Rubric 的结果</a:t>
            </a:r>
          </a:p>
          <a:p>
            <a:pPr algn="l">
              <a:spcAft>
                <a:spcPts val="900"/>
              </a:spcAft>
              <a:defRPr sz="2200" b="0">
                <a:solidFill>
                  <a:srgbClr val="16345A"/>
                </a:solidFill>
                <a:latin typeface="Microsoft YaHei"/>
              </a:defRPr>
            </a:pPr>
            <a:r>
              <a:t>再选最多 24 条判错案例</a:t>
            </a:r>
          </a:p>
          <a:p>
            <a:pPr algn="l">
              <a:spcAft>
                <a:spcPts val="900"/>
              </a:spcAft>
              <a:defRPr sz="2200" b="0">
                <a:solidFill>
                  <a:srgbClr val="16345A"/>
                </a:solidFill>
                <a:latin typeface="Microsoft YaHei"/>
              </a:defRPr>
            </a:pPr>
            <a:r>
              <a:t>只选尚未加入的案例</a:t>
            </a:r>
          </a:p>
        </p:txBody>
      </p:sp>
      <p:sp>
        <p:nvSpPr>
          <p:cNvPr id="23" name="Right Arrow 22"/>
          <p:cNvSpPr/>
          <p:nvPr/>
        </p:nvSpPr>
        <p:spPr>
          <a:xfrm>
            <a:off x="12554712" y="4983480"/>
            <a:ext cx="182880" cy="228600"/>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2792456" y="3529584"/>
            <a:ext cx="3813048" cy="2953512"/>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993624" y="3712463"/>
            <a:ext cx="3410712" cy="365760"/>
          </a:xfrm>
          <a:prstGeom prst="rect">
            <a:avLst/>
          </a:prstGeom>
          <a:noFill/>
        </p:spPr>
        <p:txBody>
          <a:bodyPr wrap="square" lIns="18288" tIns="0" rIns="18288" bIns="0">
            <a:spAutoFit/>
          </a:bodyPr>
          <a:lstStyle/>
          <a:p>
            <a:pPr algn="l">
              <a:spcAft>
                <a:spcPts val="900"/>
              </a:spcAft>
              <a:defRPr sz="2000" b="1">
                <a:solidFill>
                  <a:srgbClr val="8660BE"/>
                </a:solidFill>
                <a:latin typeface="Microsoft YaHei"/>
              </a:defRPr>
            </a:pPr>
            <a:r>
              <a:t>4</a:t>
            </a:r>
          </a:p>
        </p:txBody>
      </p:sp>
      <p:sp>
        <p:nvSpPr>
          <p:cNvPr id="26" name="TextBox 25"/>
          <p:cNvSpPr txBox="1"/>
          <p:nvPr/>
        </p:nvSpPr>
        <p:spPr>
          <a:xfrm>
            <a:off x="12993624" y="4233672"/>
            <a:ext cx="3410712" cy="658368"/>
          </a:xfrm>
          <a:prstGeom prst="rect">
            <a:avLst/>
          </a:prstGeom>
          <a:noFill/>
        </p:spPr>
        <p:txBody>
          <a:bodyPr wrap="square" lIns="18288" tIns="0" rIns="18288" bIns="0">
            <a:spAutoFit/>
          </a:bodyPr>
          <a:lstStyle/>
          <a:p>
            <a:pPr algn="l">
              <a:spcAft>
                <a:spcPts val="900"/>
              </a:spcAft>
              <a:defRPr sz="2600" b="1">
                <a:solidFill>
                  <a:srgbClr val="16345A"/>
                </a:solidFill>
                <a:latin typeface="Microsoft YaHei"/>
              </a:defRPr>
            </a:pPr>
            <a:r>
              <a:rPr dirty="0" err="1"/>
              <a:t>补足总计</a:t>
            </a:r>
            <a:r>
              <a:rPr dirty="0"/>
              <a:t> 40 条</a:t>
            </a:r>
          </a:p>
        </p:txBody>
      </p:sp>
      <p:sp>
        <p:nvSpPr>
          <p:cNvPr id="27" name="TextBox 26"/>
          <p:cNvSpPr txBox="1"/>
          <p:nvPr/>
        </p:nvSpPr>
        <p:spPr>
          <a:xfrm>
            <a:off x="12993624" y="5074920"/>
            <a:ext cx="3410712" cy="1307592"/>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优先补入剩余判错案例</a:t>
            </a:r>
          </a:p>
          <a:p>
            <a:pPr algn="l">
              <a:spcAft>
                <a:spcPts val="900"/>
              </a:spcAft>
              <a:defRPr sz="2200" b="0">
                <a:solidFill>
                  <a:srgbClr val="16345A"/>
                </a:solidFill>
                <a:latin typeface="Microsoft YaHei"/>
              </a:defRPr>
            </a:pPr>
            <a:r>
              <a:t>不足时再补判对案例</a:t>
            </a:r>
          </a:p>
          <a:p>
            <a:pPr algn="l">
              <a:spcAft>
                <a:spcPts val="900"/>
              </a:spcAft>
              <a:defRPr sz="2200" b="0">
                <a:solidFill>
                  <a:srgbClr val="16345A"/>
                </a:solidFill>
                <a:latin typeface="Microsoft YaHei"/>
              </a:defRPr>
            </a:pPr>
            <a:r>
              <a:t>同一案例只计算一次</a:t>
            </a:r>
          </a:p>
        </p:txBody>
      </p:sp>
      <p:sp>
        <p:nvSpPr>
          <p:cNvPr id="28" name="Rounded Rectangle 27"/>
          <p:cNvSpPr/>
          <p:nvPr/>
        </p:nvSpPr>
        <p:spPr>
          <a:xfrm>
            <a:off x="502920" y="6766560"/>
            <a:ext cx="7818120" cy="1773936"/>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 y="6958584"/>
            <a:ext cx="7315200" cy="384048"/>
          </a:xfrm>
          <a:prstGeom prst="rect">
            <a:avLst/>
          </a:prstGeom>
          <a:noFill/>
        </p:spPr>
        <p:txBody>
          <a:bodyPr wrap="square" lIns="18288" tIns="0" rIns="18288" bIns="0">
            <a:spAutoFit/>
          </a:bodyPr>
          <a:lstStyle/>
          <a:p>
            <a:pPr algn="l">
              <a:spcAft>
                <a:spcPts val="900"/>
              </a:spcAft>
              <a:defRPr sz="2300" b="1">
                <a:solidFill>
                  <a:srgbClr val="119D96"/>
                </a:solidFill>
                <a:latin typeface="Microsoft YaHei"/>
              </a:defRPr>
            </a:pPr>
            <a:r>
              <a:t>“上轮改动”比较的是哪两个 Rubric？</a:t>
            </a:r>
          </a:p>
        </p:txBody>
      </p:sp>
      <p:sp>
        <p:nvSpPr>
          <p:cNvPr id="30" name="TextBox 29"/>
          <p:cNvSpPr txBox="1"/>
          <p:nvPr/>
        </p:nvSpPr>
        <p:spPr>
          <a:xfrm>
            <a:off x="749808" y="7525512"/>
            <a:ext cx="7315200" cy="859536"/>
          </a:xfrm>
          <a:prstGeom prst="rect">
            <a:avLst/>
          </a:prstGeom>
          <a:noFill/>
        </p:spPr>
        <p:txBody>
          <a:bodyPr wrap="square" lIns="18288" tIns="0" rIns="18288" bIns="0">
            <a:spAutoFit/>
          </a:bodyPr>
          <a:lstStyle/>
          <a:p>
            <a:pPr algn="l">
              <a:spcAft>
                <a:spcPts val="900"/>
              </a:spcAft>
              <a:defRPr sz="2300" b="0">
                <a:solidFill>
                  <a:srgbClr val="16345A"/>
                </a:solidFill>
                <a:latin typeface="Microsoft YaHei"/>
              </a:defRPr>
            </a:pPr>
            <a:r>
              <a:rPr sz="1900" dirty="0" err="1"/>
              <a:t>上轮修改前</a:t>
            </a:r>
            <a:r>
              <a:rPr sz="1900" dirty="0"/>
              <a:t> → </a:t>
            </a:r>
            <a:r>
              <a:rPr sz="1900" dirty="0" err="1"/>
              <a:t>上轮候选：哪些由错变对、由对变错</a:t>
            </a:r>
            <a:r>
              <a:rPr sz="1900" dirty="0"/>
              <a:t>？</a:t>
            </a:r>
          </a:p>
          <a:p>
            <a:pPr algn="l">
              <a:spcAft>
                <a:spcPts val="900"/>
              </a:spcAft>
              <a:defRPr sz="2300" b="0">
                <a:solidFill>
                  <a:srgbClr val="16345A"/>
                </a:solidFill>
                <a:latin typeface="Microsoft YaHei"/>
              </a:defRPr>
            </a:pPr>
            <a:r>
              <a:rPr sz="1900" dirty="0" err="1"/>
              <a:t>候选未被接受也可回看；这些案例计入本轮</a:t>
            </a:r>
            <a:r>
              <a:rPr sz="1900" dirty="0"/>
              <a:t> 40 条。</a:t>
            </a:r>
          </a:p>
        </p:txBody>
      </p:sp>
      <p:sp>
        <p:nvSpPr>
          <p:cNvPr id="31" name="Rounded Rectangle 30"/>
          <p:cNvSpPr/>
          <p:nvPr/>
        </p:nvSpPr>
        <p:spPr>
          <a:xfrm>
            <a:off x="8641080" y="6766560"/>
            <a:ext cx="8001000" cy="1773936"/>
          </a:xfrm>
          <a:prstGeom prst="roundRect">
            <a:avLst>
              <a:gd name="adj" fmla="val 8000"/>
            </a:avLst>
          </a:prstGeom>
          <a:solidFill>
            <a:srgbClr val="FFF6EE"/>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87968" y="6958584"/>
            <a:ext cx="7498079" cy="384048"/>
          </a:xfrm>
          <a:prstGeom prst="rect">
            <a:avLst/>
          </a:prstGeom>
          <a:noFill/>
        </p:spPr>
        <p:txBody>
          <a:bodyPr wrap="square" lIns="18288" tIns="0" rIns="18288" bIns="0">
            <a:spAutoFit/>
          </a:bodyPr>
          <a:lstStyle/>
          <a:p>
            <a:pPr algn="l">
              <a:spcAft>
                <a:spcPts val="900"/>
              </a:spcAft>
              <a:defRPr sz="2300" b="1">
                <a:solidFill>
                  <a:srgbClr val="D67B32"/>
                </a:solidFill>
                <a:latin typeface="Microsoft YaHei"/>
              </a:defRPr>
            </a:pPr>
            <a:r>
              <a:t>首轮实例：8 条判对 + 32 条判错</a:t>
            </a:r>
          </a:p>
        </p:txBody>
      </p:sp>
      <p:sp>
        <p:nvSpPr>
          <p:cNvPr id="33" name="TextBox 32"/>
          <p:cNvSpPr txBox="1"/>
          <p:nvPr/>
        </p:nvSpPr>
        <p:spPr>
          <a:xfrm>
            <a:off x="8887968" y="7525512"/>
            <a:ext cx="7498079" cy="859536"/>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rPr sz="1900"/>
              <a:t>40 条分四批，每批 10 条，附图文与完整判断理由</a:t>
            </a:r>
          </a:p>
          <a:p>
            <a:pPr algn="l">
              <a:spcAft>
                <a:spcPts val="900"/>
              </a:spcAft>
              <a:defRPr sz="2200" b="0">
                <a:solidFill>
                  <a:srgbClr val="16345A"/>
                </a:solidFill>
                <a:latin typeface="Microsoft YaHei"/>
              </a:defRPr>
            </a:pPr>
            <a:r>
              <a:rPr sz="1900"/>
              <a:t>Manager 分析后，输出针对各 root 的问题与改进方向。</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5453359" cy="320040"/>
          </a:xfrm>
          <a:prstGeom prst="rect">
            <a:avLst/>
          </a:prstGeom>
          <a:noFill/>
        </p:spPr>
        <p:txBody>
          <a:bodyPr wrap="square" lIns="18288" tIns="0" rIns="18288" bIns="0">
            <a:spAutoFit/>
          </a:bodyPr>
          <a:lstStyle/>
          <a:p>
            <a:pPr algn="l">
              <a:spcAft>
                <a:spcPts val="900"/>
              </a:spcAft>
              <a:defRPr sz="1500" b="1">
                <a:solidFill>
                  <a:srgbClr val="586E87"/>
                </a:solidFill>
                <a:latin typeface="Microsoft YaHei"/>
              </a:defRPr>
            </a:pPr>
            <a:r>
              <a:t>框架实现  03 / 06   ·   HIERARCHICAL REFLECTION</a:t>
            </a:r>
          </a:p>
        </p:txBody>
      </p:sp>
      <p:sp>
        <p:nvSpPr>
          <p:cNvPr id="3" name="TextBox 2"/>
          <p:cNvSpPr txBox="1"/>
          <p:nvPr/>
        </p:nvSpPr>
        <p:spPr>
          <a:xfrm>
            <a:off x="502920" y="859536"/>
            <a:ext cx="16093440" cy="658368"/>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rPr dirty="0"/>
              <a:t>系统级反思：10 </a:t>
            </a:r>
            <a:r>
              <a:rPr dirty="0" err="1"/>
              <a:t>条一起分析，反馈分别写给各</a:t>
            </a:r>
            <a:r>
              <a:rPr dirty="0"/>
              <a:t> root</a:t>
            </a:r>
          </a:p>
        </p:txBody>
      </p:sp>
      <p:sp>
        <p:nvSpPr>
          <p:cNvPr id="4" name="TextBox 3"/>
          <p:cNvSpPr txBox="1"/>
          <p:nvPr/>
        </p:nvSpPr>
        <p:spPr>
          <a:xfrm>
            <a:off x="502920" y="1673352"/>
            <a:ext cx="16093440" cy="59436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rPr dirty="0"/>
              <a:t>Manager </a:t>
            </a:r>
            <a:r>
              <a:rPr dirty="0" err="1"/>
              <a:t>阅读完整判断链；程序将四批输出按</a:t>
            </a:r>
            <a:r>
              <a:rPr dirty="0"/>
              <a:t> root </a:t>
            </a:r>
            <a:r>
              <a:rPr dirty="0" err="1"/>
              <a:t>合并，不再增加一次汇总调用</a:t>
            </a:r>
            <a:r>
              <a:rPr dirty="0"/>
              <a:t>。</a:t>
            </a:r>
          </a:p>
        </p:txBody>
      </p:sp>
      <p:sp>
        <p:nvSpPr>
          <p:cNvPr id="6" name="TextBox 5"/>
          <p:cNvSpPr txBox="1"/>
          <p:nvPr/>
        </p:nvSpPr>
        <p:spPr>
          <a:xfrm>
            <a:off x="16020288" y="9079992"/>
            <a:ext cx="594360" cy="301752"/>
          </a:xfrm>
          <a:prstGeom prst="rect">
            <a:avLst/>
          </a:prstGeom>
          <a:noFill/>
        </p:spPr>
        <p:txBody>
          <a:bodyPr wrap="square" lIns="18288" tIns="0" rIns="18288" bIns="0">
            <a:spAutoFit/>
          </a:bodyPr>
          <a:lstStyle/>
          <a:p>
            <a:pPr algn="r">
              <a:spcAft>
                <a:spcPts val="900"/>
              </a:spcAft>
              <a:defRPr sz="1600" b="0">
                <a:solidFill>
                  <a:srgbClr val="586E87"/>
                </a:solidFill>
                <a:latin typeface="Microsoft YaHei"/>
              </a:defRPr>
            </a:pPr>
            <a:r>
              <a:t>03</a:t>
            </a:r>
          </a:p>
        </p:txBody>
      </p:sp>
      <p:sp>
        <p:nvSpPr>
          <p:cNvPr id="7" name="Rounded Rectangle 6"/>
          <p:cNvSpPr/>
          <p:nvPr/>
        </p:nvSpPr>
        <p:spPr>
          <a:xfrm>
            <a:off x="502920" y="2514600"/>
            <a:ext cx="4572000" cy="4544568"/>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743200"/>
            <a:ext cx="4069080" cy="457200"/>
          </a:xfrm>
          <a:prstGeom prst="rect">
            <a:avLst/>
          </a:prstGeom>
          <a:noFill/>
        </p:spPr>
        <p:txBody>
          <a:bodyPr wrap="square" lIns="18288" tIns="0" rIns="18288" bIns="0">
            <a:spAutoFit/>
          </a:bodyPr>
          <a:lstStyle/>
          <a:p>
            <a:pPr algn="l">
              <a:spcAft>
                <a:spcPts val="900"/>
              </a:spcAft>
              <a:defRPr sz="2500" b="1">
                <a:solidFill>
                  <a:srgbClr val="3183CB"/>
                </a:solidFill>
                <a:latin typeface="Microsoft YaHei"/>
              </a:defRPr>
            </a:pPr>
            <a:r>
              <a:rPr dirty="0" err="1"/>
              <a:t>输入：一批</a:t>
            </a:r>
            <a:r>
              <a:rPr dirty="0"/>
              <a:t> 10 </a:t>
            </a:r>
            <a:r>
              <a:rPr dirty="0" err="1"/>
              <a:t>条完整案例</a:t>
            </a:r>
            <a:endParaRPr dirty="0"/>
          </a:p>
        </p:txBody>
      </p:sp>
      <p:sp>
        <p:nvSpPr>
          <p:cNvPr id="9" name="TextBox 8"/>
          <p:cNvSpPr txBox="1"/>
          <p:nvPr/>
        </p:nvSpPr>
        <p:spPr>
          <a:xfrm>
            <a:off x="749808" y="3520440"/>
            <a:ext cx="4069080" cy="2154436"/>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rPr dirty="0" err="1"/>
              <a:t>原图、问题、A</a:t>
            </a:r>
            <a:r>
              <a:rPr dirty="0"/>
              <a:t>/B </a:t>
            </a:r>
            <a:r>
              <a:rPr dirty="0" err="1"/>
              <a:t>原文、Gold</a:t>
            </a:r>
            <a:endParaRPr dirty="0"/>
          </a:p>
          <a:p>
            <a:pPr algn="l">
              <a:spcAft>
                <a:spcPts val="900"/>
              </a:spcAft>
              <a:defRPr sz="2200" b="0">
                <a:solidFill>
                  <a:srgbClr val="16345A"/>
                </a:solidFill>
                <a:latin typeface="Microsoft YaHei"/>
              </a:defRPr>
            </a:pPr>
            <a:r>
              <a:rPr dirty="0" err="1"/>
              <a:t>五份子树报告</a:t>
            </a:r>
            <a:endParaRPr dirty="0"/>
          </a:p>
          <a:p>
            <a:pPr algn="l">
              <a:spcAft>
                <a:spcPts val="900"/>
              </a:spcAft>
              <a:defRPr sz="2200" b="0">
                <a:solidFill>
                  <a:srgbClr val="16345A"/>
                </a:solidFill>
                <a:latin typeface="Microsoft YaHei"/>
              </a:defRPr>
            </a:pPr>
            <a:r>
              <a:rPr dirty="0"/>
              <a:t>Arbiter </a:t>
            </a:r>
            <a:r>
              <a:rPr dirty="0" err="1"/>
              <a:t>的分析、理由与答案</a:t>
            </a:r>
            <a:endParaRPr dirty="0"/>
          </a:p>
          <a:p>
            <a:pPr algn="l">
              <a:spcAft>
                <a:spcPts val="900"/>
              </a:spcAft>
              <a:defRPr sz="2200" b="0">
                <a:solidFill>
                  <a:srgbClr val="16345A"/>
                </a:solidFill>
                <a:latin typeface="Microsoft YaHei"/>
              </a:defRPr>
            </a:pPr>
            <a:r>
              <a:rPr dirty="0" err="1"/>
              <a:t>当前准则</a:t>
            </a:r>
            <a:endParaRPr lang="en-US" dirty="0"/>
          </a:p>
          <a:p>
            <a:pPr algn="l">
              <a:spcAft>
                <a:spcPts val="900"/>
              </a:spcAft>
              <a:defRPr sz="2200" b="0">
                <a:solidFill>
                  <a:srgbClr val="16345A"/>
                </a:solidFill>
                <a:latin typeface="Microsoft YaHei"/>
              </a:defRPr>
            </a:pPr>
            <a:r>
              <a:rPr dirty="0" err="1"/>
              <a:t>后续轮次另含上一轮候选及结果</a:t>
            </a:r>
            <a:endParaRPr dirty="0"/>
          </a:p>
        </p:txBody>
      </p:sp>
      <p:sp>
        <p:nvSpPr>
          <p:cNvPr id="10" name="Right Arrow 9"/>
          <p:cNvSpPr/>
          <p:nvPr/>
        </p:nvSpPr>
        <p:spPr>
          <a:xfrm>
            <a:off x="5230368" y="4498848"/>
            <a:ext cx="411480" cy="292608"/>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806440" y="2514600"/>
            <a:ext cx="4206240" cy="4544568"/>
          </a:xfrm>
          <a:prstGeom prst="roundRect">
            <a:avLst>
              <a:gd name="adj" fmla="val 8000"/>
            </a:avLst>
          </a:prstGeom>
          <a:solidFill>
            <a:srgbClr val="FFF6EE"/>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53328" y="2743200"/>
            <a:ext cx="3703320" cy="457200"/>
          </a:xfrm>
          <a:prstGeom prst="rect">
            <a:avLst/>
          </a:prstGeom>
          <a:noFill/>
        </p:spPr>
        <p:txBody>
          <a:bodyPr wrap="square" lIns="18288" tIns="0" rIns="18288" bIns="0">
            <a:spAutoFit/>
          </a:bodyPr>
          <a:lstStyle/>
          <a:p>
            <a:pPr algn="l">
              <a:spcAft>
                <a:spcPts val="900"/>
              </a:spcAft>
              <a:defRPr sz="2500" b="1">
                <a:solidFill>
                  <a:srgbClr val="D67B32"/>
                </a:solidFill>
                <a:latin typeface="Microsoft YaHei"/>
              </a:defRPr>
            </a:pPr>
            <a:r>
              <a:rPr dirty="0" err="1"/>
              <a:t>处理：检查并分配问题</a:t>
            </a:r>
            <a:endParaRPr dirty="0"/>
          </a:p>
        </p:txBody>
      </p:sp>
      <p:sp>
        <p:nvSpPr>
          <p:cNvPr id="13" name="TextBox 12"/>
          <p:cNvSpPr txBox="1"/>
          <p:nvPr/>
        </p:nvSpPr>
        <p:spPr>
          <a:xfrm>
            <a:off x="6053328" y="3520440"/>
            <a:ext cx="3703320" cy="320040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核对图像、候选与判断理由</a:t>
            </a:r>
          </a:p>
          <a:p>
            <a:pPr>
              <a:spcAft>
                <a:spcPts val="900"/>
              </a:spcAft>
              <a:defRPr sz="2200" b="0">
                <a:solidFill>
                  <a:srgbClr val="16345A"/>
                </a:solidFill>
                <a:latin typeface="Microsoft YaHei"/>
              </a:defRPr>
            </a:pPr>
            <a:r>
              <a:t>指出问题、依据和相关案例</a:t>
            </a:r>
          </a:p>
          <a:p>
            <a:pPr>
              <a:spcAft>
                <a:spcPts val="900"/>
              </a:spcAft>
              <a:defRPr sz="2200" b="0">
                <a:solidFill>
                  <a:srgbClr val="16345A"/>
                </a:solidFill>
                <a:latin typeface="Microsoft YaHei"/>
              </a:defRPr>
            </a:pPr>
            <a:r>
              <a:t>按职责写给一个或多个 root</a:t>
            </a:r>
          </a:p>
          <a:p>
            <a:pPr>
              <a:spcAft>
                <a:spcPts val="900"/>
              </a:spcAft>
              <a:defRPr sz="2200" b="0">
                <a:solidFill>
                  <a:srgbClr val="16345A"/>
                </a:solidFill>
                <a:latin typeface="Microsoft YaHei"/>
              </a:defRPr>
            </a:pPr>
            <a:r>
              <a:t>仅属 Arbiter 的问题另行记录</a:t>
            </a:r>
          </a:p>
          <a:p>
            <a:pPr>
              <a:spcAft>
                <a:spcPts val="900"/>
              </a:spcAft>
              <a:defRPr sz="2200" b="0">
                <a:solidFill>
                  <a:srgbClr val="16345A"/>
                </a:solidFill>
                <a:latin typeface="Microsoft YaHei"/>
              </a:defRPr>
            </a:pPr>
            <a:r>
              <a:t>此步不直接决定修改孩子</a:t>
            </a:r>
          </a:p>
        </p:txBody>
      </p:sp>
      <p:sp>
        <p:nvSpPr>
          <p:cNvPr id="14" name="Right Arrow 13"/>
          <p:cNvSpPr/>
          <p:nvPr/>
        </p:nvSpPr>
        <p:spPr>
          <a:xfrm>
            <a:off x="10168128" y="4498848"/>
            <a:ext cx="411480" cy="292608"/>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02920" y="7434072"/>
            <a:ext cx="16139159" cy="123444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8" y="7626096"/>
            <a:ext cx="15572232" cy="859536"/>
          </a:xfrm>
          <a:prstGeom prst="rect">
            <a:avLst/>
          </a:prstGeom>
          <a:noFill/>
        </p:spPr>
        <p:txBody>
          <a:bodyPr wrap="square" lIns="18288" tIns="0" rIns="18288" bIns="0">
            <a:spAutoFit/>
          </a:bodyPr>
          <a:lstStyle/>
          <a:p>
            <a:pPr algn="l">
              <a:spcAft>
                <a:spcPts val="900"/>
              </a:spcAft>
              <a:defRPr sz="2300" b="1">
                <a:solidFill>
                  <a:srgbClr val="16345A"/>
                </a:solidFill>
                <a:latin typeface="Microsoft YaHei"/>
              </a:defRPr>
            </a:pPr>
            <a:r>
              <a:t>四批都按 root 输出 → 程序把同一 root 的反馈放在一起。</a:t>
            </a:r>
          </a:p>
          <a:p>
            <a:pPr>
              <a:spcAft>
                <a:spcPts val="900"/>
              </a:spcAft>
              <a:defRPr sz="2300" b="1">
                <a:solidFill>
                  <a:srgbClr val="16345A"/>
                </a:solidFill>
                <a:latin typeface="Microsoft YaHei"/>
              </a:defRPr>
            </a:pPr>
            <a:r>
              <a:t>例如：四批的完整性反馈 → 完整性 root 的案例包 → 一次子树反思。</a:t>
            </a:r>
          </a:p>
        </p:txBody>
      </p:sp>
      <p:sp>
        <p:nvSpPr>
          <p:cNvPr id="28" name="Rounded Rectangle 27"/>
          <p:cNvSpPr/>
          <p:nvPr/>
        </p:nvSpPr>
        <p:spPr>
          <a:xfrm>
            <a:off x="10744200" y="2514600"/>
            <a:ext cx="5897880" cy="4544568"/>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991088" y="2734056"/>
            <a:ext cx="5394960" cy="438912"/>
          </a:xfrm>
          <a:prstGeom prst="rect">
            <a:avLst/>
          </a:prstGeom>
          <a:noFill/>
        </p:spPr>
        <p:txBody>
          <a:bodyPr wrap="square" lIns="18288" tIns="0" rIns="18288" bIns="0">
            <a:spAutoFit/>
          </a:bodyPr>
          <a:lstStyle/>
          <a:p>
            <a:pPr algn="l">
              <a:spcAft>
                <a:spcPts val="900"/>
              </a:spcAft>
              <a:defRPr sz="2400" b="1">
                <a:solidFill>
                  <a:srgbClr val="119D96"/>
                </a:solidFill>
                <a:latin typeface="Microsoft YaHei"/>
              </a:defRPr>
            </a:pPr>
            <a:r>
              <a:t>输出示意：给完整性 root 的反馈</a:t>
            </a:r>
          </a:p>
        </p:txBody>
      </p:sp>
      <p:sp>
        <p:nvSpPr>
          <p:cNvPr id="30" name="TextBox 29"/>
          <p:cNvSpPr txBox="1"/>
          <p:nvPr/>
        </p:nvSpPr>
        <p:spPr>
          <a:xfrm>
            <a:off x="10991088" y="3383280"/>
            <a:ext cx="795528" cy="393192"/>
          </a:xfrm>
          <a:prstGeom prst="rect">
            <a:avLst/>
          </a:prstGeom>
          <a:noFill/>
        </p:spPr>
        <p:txBody>
          <a:bodyPr wrap="square" lIns="18288" tIns="0" rIns="18288" bIns="0">
            <a:spAutoFit/>
          </a:bodyPr>
          <a:lstStyle/>
          <a:p>
            <a:pPr algn="l">
              <a:spcAft>
                <a:spcPts val="900"/>
              </a:spcAft>
              <a:defRPr sz="2100" b="1">
                <a:solidFill>
                  <a:srgbClr val="119D96"/>
                </a:solidFill>
                <a:latin typeface="Microsoft YaHei"/>
              </a:defRPr>
            </a:pPr>
            <a:r>
              <a:t>案例</a:t>
            </a:r>
          </a:p>
        </p:txBody>
      </p:sp>
      <p:sp>
        <p:nvSpPr>
          <p:cNvPr id="31" name="TextBox 30"/>
          <p:cNvSpPr txBox="1"/>
          <p:nvPr/>
        </p:nvSpPr>
        <p:spPr>
          <a:xfrm>
            <a:off x="11905488" y="3383280"/>
            <a:ext cx="4453128" cy="384048"/>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S01、S07（示意编号）</a:t>
            </a:r>
          </a:p>
        </p:txBody>
      </p:sp>
      <p:sp>
        <p:nvSpPr>
          <p:cNvPr id="32" name="TextBox 31"/>
          <p:cNvSpPr txBox="1"/>
          <p:nvPr/>
        </p:nvSpPr>
        <p:spPr>
          <a:xfrm>
            <a:off x="10991088" y="3877056"/>
            <a:ext cx="795528" cy="393192"/>
          </a:xfrm>
          <a:prstGeom prst="rect">
            <a:avLst/>
          </a:prstGeom>
          <a:noFill/>
        </p:spPr>
        <p:txBody>
          <a:bodyPr wrap="square" lIns="18288" tIns="0" rIns="18288" bIns="0">
            <a:spAutoFit/>
          </a:bodyPr>
          <a:lstStyle/>
          <a:p>
            <a:pPr algn="l">
              <a:spcAft>
                <a:spcPts val="900"/>
              </a:spcAft>
              <a:defRPr sz="2100" b="1">
                <a:solidFill>
                  <a:srgbClr val="119D96"/>
                </a:solidFill>
                <a:latin typeface="Microsoft YaHei"/>
              </a:defRPr>
            </a:pPr>
            <a:r>
              <a:t>问题</a:t>
            </a:r>
          </a:p>
        </p:txBody>
      </p:sp>
      <p:sp>
        <p:nvSpPr>
          <p:cNvPr id="33" name="TextBox 32"/>
          <p:cNvSpPr txBox="1"/>
          <p:nvPr/>
        </p:nvSpPr>
        <p:spPr>
          <a:xfrm>
            <a:off x="11905488" y="3877056"/>
            <a:ext cx="4453128" cy="749808"/>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Worker 因回答未给额外建议，</a:t>
            </a:r>
          </a:p>
          <a:p>
            <a:pPr algn="l">
              <a:spcAft>
                <a:spcPts val="900"/>
              </a:spcAft>
              <a:defRPr sz="2100" b="0">
                <a:solidFill>
                  <a:srgbClr val="16345A"/>
                </a:solidFill>
                <a:latin typeface="Microsoft YaHei"/>
              </a:defRPr>
            </a:pPr>
            <a:r>
              <a:t>就判定它遗漏了必要内容。</a:t>
            </a:r>
          </a:p>
        </p:txBody>
      </p:sp>
      <p:sp>
        <p:nvSpPr>
          <p:cNvPr id="34" name="TextBox 33"/>
          <p:cNvSpPr txBox="1"/>
          <p:nvPr/>
        </p:nvSpPr>
        <p:spPr>
          <a:xfrm>
            <a:off x="10991088" y="4736592"/>
            <a:ext cx="795528" cy="393192"/>
          </a:xfrm>
          <a:prstGeom prst="rect">
            <a:avLst/>
          </a:prstGeom>
          <a:noFill/>
        </p:spPr>
        <p:txBody>
          <a:bodyPr wrap="square" lIns="18288" tIns="0" rIns="18288" bIns="0">
            <a:spAutoFit/>
          </a:bodyPr>
          <a:lstStyle/>
          <a:p>
            <a:pPr algn="l">
              <a:spcAft>
                <a:spcPts val="900"/>
              </a:spcAft>
              <a:defRPr sz="2100" b="1">
                <a:solidFill>
                  <a:srgbClr val="119D96"/>
                </a:solidFill>
                <a:latin typeface="Microsoft YaHei"/>
              </a:defRPr>
            </a:pPr>
            <a:r>
              <a:t>依据</a:t>
            </a:r>
          </a:p>
        </p:txBody>
      </p:sp>
      <p:sp>
        <p:nvSpPr>
          <p:cNvPr id="35" name="TextBox 34"/>
          <p:cNvSpPr txBox="1"/>
          <p:nvPr/>
        </p:nvSpPr>
        <p:spPr>
          <a:xfrm>
            <a:off x="11905488" y="4736592"/>
            <a:ext cx="4453128" cy="749808"/>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题目只要求识别与评分；</a:t>
            </a:r>
          </a:p>
          <a:p>
            <a:pPr algn="l">
              <a:spcAft>
                <a:spcPts val="900"/>
              </a:spcAft>
              <a:defRPr sz="2100" b="0">
                <a:solidFill>
                  <a:srgbClr val="16345A"/>
                </a:solidFill>
                <a:latin typeface="Microsoft YaHei"/>
              </a:defRPr>
            </a:pPr>
            <a:r>
              <a:t>该回答已完成这两项要求。</a:t>
            </a:r>
          </a:p>
        </p:txBody>
      </p:sp>
      <p:sp>
        <p:nvSpPr>
          <p:cNvPr id="36" name="TextBox 35"/>
          <p:cNvSpPr txBox="1"/>
          <p:nvPr/>
        </p:nvSpPr>
        <p:spPr>
          <a:xfrm>
            <a:off x="10991088" y="5596128"/>
            <a:ext cx="795528" cy="393192"/>
          </a:xfrm>
          <a:prstGeom prst="rect">
            <a:avLst/>
          </a:prstGeom>
          <a:noFill/>
        </p:spPr>
        <p:txBody>
          <a:bodyPr wrap="square" lIns="18288" tIns="0" rIns="18288" bIns="0">
            <a:spAutoFit/>
          </a:bodyPr>
          <a:lstStyle/>
          <a:p>
            <a:pPr algn="l">
              <a:spcAft>
                <a:spcPts val="900"/>
              </a:spcAft>
              <a:defRPr sz="2100" b="1">
                <a:solidFill>
                  <a:srgbClr val="119D96"/>
                </a:solidFill>
                <a:latin typeface="Microsoft YaHei"/>
              </a:defRPr>
            </a:pPr>
            <a:r>
              <a:t>方向</a:t>
            </a:r>
          </a:p>
        </p:txBody>
      </p:sp>
      <p:sp>
        <p:nvSpPr>
          <p:cNvPr id="37" name="TextBox 36"/>
          <p:cNvSpPr txBox="1"/>
          <p:nvPr/>
        </p:nvSpPr>
        <p:spPr>
          <a:xfrm>
            <a:off x="11905488" y="5596128"/>
            <a:ext cx="4453128" cy="749808"/>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先核对题目要求是否答全；</a:t>
            </a:r>
          </a:p>
          <a:p>
            <a:pPr algn="l">
              <a:spcAft>
                <a:spcPts val="900"/>
              </a:spcAft>
              <a:defRPr sz="2100" b="0">
                <a:solidFill>
                  <a:srgbClr val="16345A"/>
                </a:solidFill>
                <a:latin typeface="Microsoft YaHei"/>
              </a:defRPr>
            </a:pPr>
            <a:r>
              <a:t>不要把可选建议当成必答内容。</a:t>
            </a:r>
          </a:p>
        </p:txBody>
      </p:sp>
      <p:sp>
        <p:nvSpPr>
          <p:cNvPr id="38" name="TextBox 37"/>
          <p:cNvSpPr txBox="1"/>
          <p:nvPr/>
        </p:nvSpPr>
        <p:spPr>
          <a:xfrm>
            <a:off x="10991088" y="6537960"/>
            <a:ext cx="5394960" cy="338328"/>
          </a:xfrm>
          <a:prstGeom prst="rect">
            <a:avLst/>
          </a:prstGeom>
          <a:noFill/>
        </p:spPr>
        <p:txBody>
          <a:bodyPr wrap="square" lIns="18288" tIns="0" rIns="18288" bIns="0">
            <a:spAutoFit/>
          </a:bodyPr>
          <a:lstStyle/>
          <a:p>
            <a:pPr algn="l">
              <a:spcAft>
                <a:spcPts val="900"/>
              </a:spcAft>
              <a:defRPr sz="1800" b="0">
                <a:solidFill>
                  <a:srgbClr val="586E87"/>
                </a:solidFill>
                <a:latin typeface="Microsoft YaHei"/>
              </a:defRPr>
            </a:pPr>
            <a:r>
              <a:t>交给子树反思，判断当前准则是否需要修改。</a:t>
            </a:r>
          </a:p>
        </p:txBody>
      </p:sp>
      <p:sp>
        <p:nvSpPr>
          <p:cNvPr id="39" name="TextBox 38"/>
          <p:cNvSpPr txBox="1"/>
          <p:nvPr/>
        </p:nvSpPr>
        <p:spPr>
          <a:xfrm>
            <a:off x="671137" y="8982686"/>
            <a:ext cx="15544800" cy="283464"/>
          </a:xfrm>
          <a:prstGeom prst="rect">
            <a:avLst/>
          </a:prstGeom>
          <a:noFill/>
        </p:spPr>
        <p:txBody>
          <a:bodyPr wrap="square" lIns="18288" tIns="0" rIns="18288" bIns="0">
            <a:spAutoFit/>
          </a:bodyPr>
          <a:lstStyle/>
          <a:p>
            <a:pPr algn="l">
              <a:spcAft>
                <a:spcPts val="900"/>
              </a:spcAft>
              <a:defRPr sz="1800" b="1">
                <a:solidFill>
                  <a:srgbClr val="119D96"/>
                </a:solidFill>
                <a:latin typeface="Microsoft YaHei"/>
              </a:defRPr>
            </a:pPr>
            <a:r>
              <a:rPr dirty="0"/>
              <a:t>e02 </a:t>
            </a:r>
            <a:r>
              <a:rPr dirty="0" err="1"/>
              <a:t>实际反馈条数：完整性</a:t>
            </a:r>
            <a:r>
              <a:rPr dirty="0"/>
              <a:t> 5｜视觉依据 5｜事实性 4｜创造性 4｜清晰性 3（共 21 </a:t>
            </a:r>
            <a:r>
              <a:rPr dirty="0" err="1"/>
              <a:t>条；非案例数</a:t>
            </a:r>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5453359" cy="320040"/>
          </a:xfrm>
          <a:prstGeom prst="rect">
            <a:avLst/>
          </a:prstGeom>
          <a:noFill/>
        </p:spPr>
        <p:txBody>
          <a:bodyPr wrap="square" lIns="18288" tIns="0" rIns="18288" bIns="0">
            <a:spAutoFit/>
          </a:bodyPr>
          <a:lstStyle/>
          <a:p>
            <a:pPr algn="l">
              <a:spcAft>
                <a:spcPts val="900"/>
              </a:spcAft>
              <a:defRPr sz="1500" b="1">
                <a:solidFill>
                  <a:srgbClr val="586E87"/>
                </a:solidFill>
                <a:latin typeface="Microsoft YaHei"/>
              </a:defRPr>
            </a:pPr>
            <a:r>
              <a:t>框架实现  04 / 06   ·   HIERARCHICAL REFLECTION</a:t>
            </a:r>
          </a:p>
        </p:txBody>
      </p:sp>
      <p:sp>
        <p:nvSpPr>
          <p:cNvPr id="3" name="TextBox 2"/>
          <p:cNvSpPr txBox="1"/>
          <p:nvPr/>
        </p:nvSpPr>
        <p:spPr>
          <a:xfrm>
            <a:off x="502920" y="859536"/>
            <a:ext cx="16093440" cy="658368"/>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子树反思：对照案例检查当前准则，决定改什么、保留什么</a:t>
            </a:r>
          </a:p>
        </p:txBody>
      </p:sp>
      <p:sp>
        <p:nvSpPr>
          <p:cNvPr id="4" name="TextBox 3"/>
          <p:cNvSpPr txBox="1"/>
          <p:nvPr/>
        </p:nvSpPr>
        <p:spPr>
          <a:xfrm>
            <a:off x="502920" y="1673352"/>
            <a:ext cx="16093440" cy="59436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rPr dirty="0" err="1"/>
              <a:t>五个</a:t>
            </a:r>
            <a:r>
              <a:rPr dirty="0"/>
              <a:t> root </a:t>
            </a:r>
            <a:r>
              <a:rPr dirty="0" err="1"/>
              <a:t>分别执行以下流程；每根一次</a:t>
            </a:r>
            <a:r>
              <a:rPr dirty="0"/>
              <a:t> Manager </a:t>
            </a:r>
            <a:r>
              <a:rPr dirty="0" err="1"/>
              <a:t>调用，此步不直接生成新准则</a:t>
            </a:r>
            <a:r>
              <a:rPr dirty="0"/>
              <a:t>。</a:t>
            </a:r>
          </a:p>
        </p:txBody>
      </p:sp>
      <p:sp>
        <p:nvSpPr>
          <p:cNvPr id="6" name="TextBox 5"/>
          <p:cNvSpPr txBox="1"/>
          <p:nvPr/>
        </p:nvSpPr>
        <p:spPr>
          <a:xfrm>
            <a:off x="16020288" y="9079992"/>
            <a:ext cx="594360" cy="301752"/>
          </a:xfrm>
          <a:prstGeom prst="rect">
            <a:avLst/>
          </a:prstGeom>
          <a:noFill/>
        </p:spPr>
        <p:txBody>
          <a:bodyPr wrap="square" lIns="18288" tIns="0" rIns="18288" bIns="0">
            <a:spAutoFit/>
          </a:bodyPr>
          <a:lstStyle/>
          <a:p>
            <a:pPr algn="r">
              <a:spcAft>
                <a:spcPts val="900"/>
              </a:spcAft>
              <a:defRPr sz="1600" b="0">
                <a:solidFill>
                  <a:srgbClr val="586E87"/>
                </a:solidFill>
                <a:latin typeface="Microsoft YaHei"/>
              </a:defRPr>
            </a:pPr>
            <a:r>
              <a:t>04</a:t>
            </a:r>
          </a:p>
        </p:txBody>
      </p:sp>
      <p:sp>
        <p:nvSpPr>
          <p:cNvPr id="7" name="Rounded Rectangle 6"/>
          <p:cNvSpPr/>
          <p:nvPr/>
        </p:nvSpPr>
        <p:spPr>
          <a:xfrm>
            <a:off x="502920" y="2468880"/>
            <a:ext cx="4892040" cy="3822191"/>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688336"/>
            <a:ext cx="4434840" cy="411480"/>
          </a:xfrm>
          <a:prstGeom prst="rect">
            <a:avLst/>
          </a:prstGeom>
          <a:noFill/>
        </p:spPr>
        <p:txBody>
          <a:bodyPr wrap="square" lIns="18288" tIns="0" rIns="18288" bIns="0">
            <a:spAutoFit/>
          </a:bodyPr>
          <a:lstStyle/>
          <a:p>
            <a:pPr algn="l">
              <a:spcAft>
                <a:spcPts val="900"/>
              </a:spcAft>
              <a:defRPr sz="2500" b="1">
                <a:solidFill>
                  <a:srgbClr val="3183CB"/>
                </a:solidFill>
                <a:latin typeface="Microsoft YaHei"/>
              </a:defRPr>
            </a:pPr>
            <a:r>
              <a:rPr dirty="0"/>
              <a:t>① </a:t>
            </a:r>
            <a:r>
              <a:rPr dirty="0" err="1"/>
              <a:t>程序组装该根输入</a:t>
            </a:r>
            <a:endParaRPr dirty="0"/>
          </a:p>
        </p:txBody>
      </p:sp>
      <p:sp>
        <p:nvSpPr>
          <p:cNvPr id="9" name="TextBox 8"/>
          <p:cNvSpPr txBox="1"/>
          <p:nvPr/>
        </p:nvSpPr>
        <p:spPr>
          <a:xfrm>
            <a:off x="731520" y="3328416"/>
            <a:ext cx="4434840" cy="265176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rPr dirty="0" err="1"/>
              <a:t>该根当前子准则</a:t>
            </a:r>
            <a:r>
              <a:rPr dirty="0"/>
              <a:t> + </a:t>
            </a:r>
            <a:r>
              <a:rPr dirty="0" err="1"/>
              <a:t>合并后的反馈</a:t>
            </a:r>
            <a:endParaRPr dirty="0"/>
          </a:p>
          <a:p>
            <a:pPr>
              <a:spcAft>
                <a:spcPts val="900"/>
              </a:spcAft>
              <a:defRPr sz="2100" b="0">
                <a:solidFill>
                  <a:srgbClr val="16345A"/>
                </a:solidFill>
                <a:latin typeface="Microsoft YaHei"/>
              </a:defRPr>
            </a:pPr>
            <a:r>
              <a:rPr dirty="0" err="1"/>
              <a:t>按反馈引用</a:t>
            </a:r>
            <a:r>
              <a:rPr dirty="0"/>
              <a:t> ID </a:t>
            </a:r>
            <a:r>
              <a:rPr dirty="0" err="1"/>
              <a:t>取案例：最多</a:t>
            </a:r>
            <a:r>
              <a:rPr dirty="0"/>
              <a:t> 12 条</a:t>
            </a:r>
          </a:p>
          <a:p>
            <a:pPr>
              <a:spcAft>
                <a:spcPts val="900"/>
              </a:spcAft>
              <a:defRPr sz="2100" b="0">
                <a:solidFill>
                  <a:srgbClr val="16345A"/>
                </a:solidFill>
                <a:latin typeface="Microsoft YaHei"/>
              </a:defRPr>
            </a:pPr>
            <a:r>
              <a:rPr dirty="0" err="1"/>
              <a:t>从这</a:t>
            </a:r>
            <a:r>
              <a:rPr dirty="0"/>
              <a:t> 40 </a:t>
            </a:r>
            <a:r>
              <a:rPr dirty="0" err="1"/>
              <a:t>条补判对案例：最多</a:t>
            </a:r>
            <a:r>
              <a:rPr dirty="0"/>
              <a:t> 8 条</a:t>
            </a:r>
          </a:p>
          <a:p>
            <a:pPr>
              <a:spcAft>
                <a:spcPts val="900"/>
              </a:spcAft>
              <a:defRPr sz="2100" b="0">
                <a:solidFill>
                  <a:srgbClr val="16345A"/>
                </a:solidFill>
                <a:latin typeface="Microsoft YaHei"/>
              </a:defRPr>
            </a:pPr>
            <a:r>
              <a:rPr dirty="0" err="1"/>
              <a:t>每例附图文、Gold</a:t>
            </a:r>
            <a:r>
              <a:rPr dirty="0"/>
              <a:t> </a:t>
            </a:r>
            <a:r>
              <a:rPr dirty="0" err="1"/>
              <a:t>与完整判断理由</a:t>
            </a:r>
            <a:endParaRPr dirty="0"/>
          </a:p>
          <a:p>
            <a:pPr>
              <a:spcAft>
                <a:spcPts val="900"/>
              </a:spcAft>
              <a:defRPr sz="2100" b="0">
                <a:solidFill>
                  <a:srgbClr val="16345A"/>
                </a:solidFill>
                <a:latin typeface="Microsoft YaHei"/>
              </a:defRPr>
            </a:pPr>
            <a:r>
              <a:rPr dirty="0" err="1"/>
              <a:t>另附历史签名与上轮相关结果</a:t>
            </a:r>
            <a:endParaRPr dirty="0"/>
          </a:p>
        </p:txBody>
      </p:sp>
      <p:sp>
        <p:nvSpPr>
          <p:cNvPr id="10" name="Right Arrow 9"/>
          <p:cNvSpPr/>
          <p:nvPr/>
        </p:nvSpPr>
        <p:spPr>
          <a:xfrm>
            <a:off x="5504688" y="4160520"/>
            <a:ext cx="320040" cy="292608"/>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0" y="2468880"/>
            <a:ext cx="5230368" cy="3822191"/>
          </a:xfrm>
          <a:prstGeom prst="roundRect">
            <a:avLst>
              <a:gd name="adj" fmla="val 8000"/>
            </a:avLst>
          </a:prstGeom>
          <a:solidFill>
            <a:srgbClr val="FFF6EE"/>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2688336"/>
            <a:ext cx="4773168" cy="411480"/>
          </a:xfrm>
          <a:prstGeom prst="rect">
            <a:avLst/>
          </a:prstGeom>
          <a:noFill/>
        </p:spPr>
        <p:txBody>
          <a:bodyPr wrap="square" lIns="18288" tIns="0" rIns="18288" bIns="0">
            <a:spAutoFit/>
          </a:bodyPr>
          <a:lstStyle/>
          <a:p>
            <a:pPr algn="l">
              <a:spcAft>
                <a:spcPts val="900"/>
              </a:spcAft>
              <a:defRPr sz="2500" b="1">
                <a:solidFill>
                  <a:srgbClr val="D67B32"/>
                </a:solidFill>
                <a:latin typeface="Microsoft YaHei"/>
              </a:defRPr>
            </a:pPr>
            <a:r>
              <a:t>② Manager 对照分析</a:t>
            </a:r>
          </a:p>
        </p:txBody>
      </p:sp>
      <p:sp>
        <p:nvSpPr>
          <p:cNvPr id="13" name="TextBox 12"/>
          <p:cNvSpPr txBox="1"/>
          <p:nvPr/>
        </p:nvSpPr>
        <p:spPr>
          <a:xfrm>
            <a:off x="6172200" y="3328416"/>
            <a:ext cx="4773168" cy="265176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反馈是否被原图、候选与报告支持？</a:t>
            </a:r>
          </a:p>
          <a:p>
            <a:pPr algn="l">
              <a:spcAft>
                <a:spcPts val="900"/>
              </a:spcAft>
              <a:defRPr sz="2100" b="0">
                <a:solidFill>
                  <a:srgbClr val="16345A"/>
                </a:solidFill>
                <a:latin typeface="Microsoft YaHei"/>
              </a:defRPr>
            </a:pPr>
            <a:r>
              <a:t>问题是否属于这根的职责范围？</a:t>
            </a:r>
          </a:p>
          <a:p>
            <a:pPr algn="l">
              <a:spcAft>
                <a:spcPts val="900"/>
              </a:spcAft>
              <a:defRPr sz="2100" b="0">
                <a:solidFill>
                  <a:srgbClr val="16345A"/>
                </a:solidFill>
                <a:latin typeface="Microsoft YaHei"/>
              </a:defRPr>
            </a:pPr>
            <a:r>
              <a:t>当前孩子哪里让 Worker 漏判或误判？</a:t>
            </a:r>
          </a:p>
          <a:p>
            <a:pPr algn="l">
              <a:spcAft>
                <a:spcPts val="900"/>
              </a:spcAft>
              <a:defRPr sz="2100" b="0">
                <a:solidFill>
                  <a:srgbClr val="16345A"/>
                </a:solidFill>
                <a:latin typeface="Microsoft YaHei"/>
              </a:defRPr>
            </a:pPr>
            <a:r>
              <a:t>应澄清范围、检查步骤或判断规则？</a:t>
            </a:r>
          </a:p>
          <a:p>
            <a:pPr algn="l">
              <a:spcAft>
                <a:spcPts val="900"/>
              </a:spcAft>
              <a:defRPr sz="2100" b="0">
                <a:solidFill>
                  <a:srgbClr val="16345A"/>
                </a:solidFill>
                <a:latin typeface="Microsoft YaHei"/>
              </a:defRPr>
            </a:pPr>
            <a:r>
              <a:t>哪些已有指令与边界应继续保留？</a:t>
            </a:r>
          </a:p>
        </p:txBody>
      </p:sp>
      <p:sp>
        <p:nvSpPr>
          <p:cNvPr id="14" name="Right Arrow 13"/>
          <p:cNvSpPr/>
          <p:nvPr/>
        </p:nvSpPr>
        <p:spPr>
          <a:xfrm>
            <a:off x="11283696" y="4160520"/>
            <a:ext cx="320040" cy="292608"/>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1722608" y="2468880"/>
            <a:ext cx="4919472" cy="3822191"/>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951208" y="2688336"/>
            <a:ext cx="4462272" cy="411480"/>
          </a:xfrm>
          <a:prstGeom prst="rect">
            <a:avLst/>
          </a:prstGeom>
          <a:noFill/>
        </p:spPr>
        <p:txBody>
          <a:bodyPr wrap="square" lIns="18288" tIns="0" rIns="18288" bIns="0">
            <a:spAutoFit/>
          </a:bodyPr>
          <a:lstStyle/>
          <a:p>
            <a:pPr algn="l">
              <a:spcAft>
                <a:spcPts val="900"/>
              </a:spcAft>
              <a:defRPr sz="2500" b="1">
                <a:solidFill>
                  <a:srgbClr val="119D96"/>
                </a:solidFill>
                <a:latin typeface="Microsoft YaHei"/>
              </a:defRPr>
            </a:pPr>
            <a:r>
              <a:rPr dirty="0"/>
              <a:t>③ </a:t>
            </a:r>
            <a:r>
              <a:rPr dirty="0" err="1"/>
              <a:t>输出决定，交给下一步</a:t>
            </a:r>
            <a:endParaRPr dirty="0"/>
          </a:p>
        </p:txBody>
      </p:sp>
      <p:sp>
        <p:nvSpPr>
          <p:cNvPr id="17" name="TextBox 16"/>
          <p:cNvSpPr txBox="1"/>
          <p:nvPr/>
        </p:nvSpPr>
        <p:spPr>
          <a:xfrm>
            <a:off x="11951208" y="3346704"/>
            <a:ext cx="4462272" cy="402336"/>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保留 preserve + 理由</a:t>
            </a:r>
          </a:p>
        </p:txBody>
      </p:sp>
      <p:sp>
        <p:nvSpPr>
          <p:cNvPr id="18" name="TextBox 17"/>
          <p:cNvSpPr txBox="1"/>
          <p:nvPr/>
        </p:nvSpPr>
        <p:spPr>
          <a:xfrm>
            <a:off x="11951208" y="3831336"/>
            <a:ext cx="4462272" cy="45720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 原孩子直接进入候选 Rubric</a:t>
            </a:r>
          </a:p>
        </p:txBody>
      </p:sp>
      <p:sp>
        <p:nvSpPr>
          <p:cNvPr id="19" name="TextBox 18"/>
          <p:cNvSpPr txBox="1"/>
          <p:nvPr/>
        </p:nvSpPr>
        <p:spPr>
          <a:xfrm>
            <a:off x="11951208" y="4535424"/>
            <a:ext cx="4462272" cy="402336"/>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修改 revise + 理由</a:t>
            </a:r>
          </a:p>
        </p:txBody>
      </p:sp>
      <p:sp>
        <p:nvSpPr>
          <p:cNvPr id="20" name="TextBox 19"/>
          <p:cNvSpPr txBox="1"/>
          <p:nvPr/>
        </p:nvSpPr>
        <p:spPr>
          <a:xfrm>
            <a:off x="11951208" y="5010912"/>
            <a:ext cx="4462272" cy="100584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 修改目标、保留要求、签名 ID</a:t>
            </a:r>
          </a:p>
          <a:p>
            <a:pPr>
              <a:spcAft>
                <a:spcPts val="900"/>
              </a:spcAft>
              <a:defRPr sz="2100" b="0">
                <a:solidFill>
                  <a:srgbClr val="16345A"/>
                </a:solidFill>
                <a:latin typeface="Microsoft YaHei"/>
              </a:defRPr>
            </a:pPr>
            <a:r>
              <a:t>→ 连同该根反馈，交给下一页生成</a:t>
            </a:r>
          </a:p>
        </p:txBody>
      </p:sp>
      <p:sp>
        <p:nvSpPr>
          <p:cNvPr id="21" name="Rounded Rectangle 20"/>
          <p:cNvSpPr/>
          <p:nvPr/>
        </p:nvSpPr>
        <p:spPr>
          <a:xfrm>
            <a:off x="502920" y="6565392"/>
            <a:ext cx="16139159" cy="2121408"/>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6739128"/>
            <a:ext cx="15453359" cy="393192"/>
          </a:xfrm>
          <a:prstGeom prst="rect">
            <a:avLst/>
          </a:prstGeom>
          <a:noFill/>
        </p:spPr>
        <p:txBody>
          <a:bodyPr wrap="square" lIns="18288" tIns="0" rIns="18288" bIns="0">
            <a:spAutoFit/>
          </a:bodyPr>
          <a:lstStyle/>
          <a:p>
            <a:pPr algn="l">
              <a:spcAft>
                <a:spcPts val="900"/>
              </a:spcAft>
              <a:defRPr sz="2300" b="1">
                <a:solidFill>
                  <a:srgbClr val="119D96"/>
                </a:solidFill>
                <a:latin typeface="Microsoft YaHei"/>
              </a:defRPr>
            </a:pPr>
            <a:r>
              <a:t>贯穿示例：完整性 root 如何使用上一页的反馈？（示意）</a:t>
            </a:r>
          </a:p>
        </p:txBody>
      </p:sp>
      <p:sp>
        <p:nvSpPr>
          <p:cNvPr id="23" name="TextBox 22"/>
          <p:cNvSpPr txBox="1"/>
          <p:nvPr/>
        </p:nvSpPr>
        <p:spPr>
          <a:xfrm>
            <a:off x="731520" y="7333488"/>
            <a:ext cx="4709160" cy="96012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反馈：把额外建议当作必要覆盖</a:t>
            </a:r>
          </a:p>
          <a:p>
            <a:pPr algn="l">
              <a:spcAft>
                <a:spcPts val="900"/>
              </a:spcAft>
              <a:defRPr sz="2100" b="0">
                <a:solidFill>
                  <a:srgbClr val="16345A"/>
                </a:solidFill>
                <a:latin typeface="Microsoft YaHei"/>
              </a:defRPr>
            </a:pPr>
            <a:r>
              <a:t>对照：题目只要求识别与评分</a:t>
            </a:r>
          </a:p>
        </p:txBody>
      </p:sp>
      <p:sp>
        <p:nvSpPr>
          <p:cNvPr id="24" name="Right Arrow 23"/>
          <p:cNvSpPr/>
          <p:nvPr/>
        </p:nvSpPr>
        <p:spPr>
          <a:xfrm>
            <a:off x="5577840" y="7635240"/>
            <a:ext cx="310896" cy="274320"/>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44184" y="7333488"/>
            <a:ext cx="4828032" cy="105156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检查当前孩子：“全面覆盖”太笼统</a:t>
            </a:r>
          </a:p>
          <a:p>
            <a:pPr algn="l">
              <a:spcAft>
                <a:spcPts val="900"/>
              </a:spcAft>
              <a:defRPr sz="2100" b="0">
                <a:solidFill>
                  <a:srgbClr val="16345A"/>
                </a:solidFill>
                <a:latin typeface="Microsoft YaHei"/>
              </a:defRPr>
            </a:pPr>
            <a:r>
              <a:t>结合案例，判断需要澄清覆盖边界</a:t>
            </a:r>
          </a:p>
        </p:txBody>
      </p:sp>
      <p:sp>
        <p:nvSpPr>
          <p:cNvPr id="26" name="Right Arrow 25"/>
          <p:cNvSpPr/>
          <p:nvPr/>
        </p:nvSpPr>
        <p:spPr>
          <a:xfrm>
            <a:off x="11009376" y="7635240"/>
            <a:ext cx="310896" cy="274320"/>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521440" y="7333488"/>
            <a:ext cx="4846320" cy="105156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输出 revise：区分必需与可选内容</a:t>
            </a:r>
          </a:p>
          <a:p>
            <a:pPr algn="l">
              <a:spcAft>
                <a:spcPts val="900"/>
              </a:spcAft>
              <a:defRPr sz="2100" b="0">
                <a:solidFill>
                  <a:srgbClr val="16345A"/>
                </a:solidFill>
                <a:latin typeface="Microsoft YaHei"/>
              </a:defRPr>
            </a:pPr>
            <a:r>
              <a:t>保留：仍检查识别与评分是否齐全</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5453359" cy="320040"/>
          </a:xfrm>
          <a:prstGeom prst="rect">
            <a:avLst/>
          </a:prstGeom>
          <a:noFill/>
        </p:spPr>
        <p:txBody>
          <a:bodyPr wrap="square" lIns="18288" tIns="0" rIns="18288" bIns="0">
            <a:spAutoFit/>
          </a:bodyPr>
          <a:lstStyle/>
          <a:p>
            <a:pPr algn="l">
              <a:spcAft>
                <a:spcPts val="900"/>
              </a:spcAft>
              <a:defRPr sz="1500" b="1">
                <a:solidFill>
                  <a:srgbClr val="586E87"/>
                </a:solidFill>
                <a:latin typeface="Microsoft YaHei"/>
              </a:defRPr>
            </a:pPr>
            <a:r>
              <a:t>框架实现  05 / 06   ·   HIERARCHICAL REFLECTION</a:t>
            </a:r>
          </a:p>
        </p:txBody>
      </p:sp>
      <p:sp>
        <p:nvSpPr>
          <p:cNvPr id="3" name="TextBox 2"/>
          <p:cNvSpPr txBox="1"/>
          <p:nvPr/>
        </p:nvSpPr>
        <p:spPr>
          <a:xfrm>
            <a:off x="502920" y="859536"/>
            <a:ext cx="16093440" cy="658368"/>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根内生成：按修改目标整理证据，生成完整的新子准则组</a:t>
            </a:r>
          </a:p>
        </p:txBody>
      </p:sp>
      <p:sp>
        <p:nvSpPr>
          <p:cNvPr id="4" name="TextBox 3"/>
          <p:cNvSpPr txBox="1"/>
          <p:nvPr/>
        </p:nvSpPr>
        <p:spPr>
          <a:xfrm>
            <a:off x="502920" y="1673352"/>
            <a:ext cx="16093440" cy="59436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t>仅 revise 的 root 进入此步；root 的职责不变，只替换它下面的子准则（孩子）。</a:t>
            </a:r>
          </a:p>
        </p:txBody>
      </p:sp>
      <p:sp>
        <p:nvSpPr>
          <p:cNvPr id="6" name="TextBox 5"/>
          <p:cNvSpPr txBox="1"/>
          <p:nvPr/>
        </p:nvSpPr>
        <p:spPr>
          <a:xfrm>
            <a:off x="16020288" y="9079992"/>
            <a:ext cx="594360" cy="301752"/>
          </a:xfrm>
          <a:prstGeom prst="rect">
            <a:avLst/>
          </a:prstGeom>
          <a:noFill/>
        </p:spPr>
        <p:txBody>
          <a:bodyPr wrap="square" lIns="18288" tIns="0" rIns="18288" bIns="0">
            <a:spAutoFit/>
          </a:bodyPr>
          <a:lstStyle/>
          <a:p>
            <a:pPr algn="r">
              <a:spcAft>
                <a:spcPts val="900"/>
              </a:spcAft>
              <a:defRPr sz="1600" b="0">
                <a:solidFill>
                  <a:srgbClr val="586E87"/>
                </a:solidFill>
                <a:latin typeface="Microsoft YaHei"/>
              </a:defRPr>
            </a:pPr>
            <a:r>
              <a:t>05</a:t>
            </a:r>
          </a:p>
        </p:txBody>
      </p:sp>
      <p:sp>
        <p:nvSpPr>
          <p:cNvPr id="7" name="Rounded Rectangle 6"/>
          <p:cNvSpPr/>
          <p:nvPr/>
        </p:nvSpPr>
        <p:spPr>
          <a:xfrm>
            <a:off x="502920" y="2414016"/>
            <a:ext cx="16139159" cy="795528"/>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624328"/>
            <a:ext cx="15544800" cy="411480"/>
          </a:xfrm>
          <a:prstGeom prst="rect">
            <a:avLst/>
          </a:prstGeom>
          <a:noFill/>
        </p:spPr>
        <p:txBody>
          <a:bodyPr wrap="square" lIns="18288" tIns="0" rIns="18288" bIns="0">
            <a:spAutoFit/>
          </a:bodyPr>
          <a:lstStyle/>
          <a:p>
            <a:pPr algn="l">
              <a:spcAft>
                <a:spcPts val="900"/>
              </a:spcAft>
              <a:defRPr sz="2300" b="1">
                <a:solidFill>
                  <a:srgbClr val="119D96"/>
                </a:solidFill>
                <a:latin typeface="Microsoft YaHei"/>
              </a:defRPr>
            </a:pPr>
            <a:r>
              <a:t>承接子树反思：修改目标 + 必须保留的能力 + 选中的历史签名 ID；另带当前子准则。</a:t>
            </a:r>
          </a:p>
        </p:txBody>
      </p:sp>
      <p:sp>
        <p:nvSpPr>
          <p:cNvPr id="9" name="Rounded Rectangle 8"/>
          <p:cNvSpPr/>
          <p:nvPr/>
        </p:nvSpPr>
        <p:spPr>
          <a:xfrm>
            <a:off x="502920" y="3493008"/>
            <a:ext cx="5715000" cy="3035808"/>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685032"/>
            <a:ext cx="5257800" cy="411480"/>
          </a:xfrm>
          <a:prstGeom prst="rect">
            <a:avLst/>
          </a:prstGeom>
          <a:noFill/>
        </p:spPr>
        <p:txBody>
          <a:bodyPr wrap="square" lIns="18288" tIns="0" rIns="18288" bIns="0">
            <a:spAutoFit/>
          </a:bodyPr>
          <a:lstStyle/>
          <a:p>
            <a:pPr algn="l">
              <a:spcAft>
                <a:spcPts val="900"/>
              </a:spcAft>
              <a:defRPr sz="2400" b="1">
                <a:solidFill>
                  <a:srgbClr val="3183CB"/>
                </a:solidFill>
                <a:latin typeface="Microsoft YaHei"/>
              </a:defRPr>
            </a:pPr>
            <a:r>
              <a:rPr dirty="0"/>
              <a:t>① </a:t>
            </a:r>
            <a:r>
              <a:rPr dirty="0" err="1"/>
              <a:t>整理与目标相关的失败描述</a:t>
            </a:r>
            <a:endParaRPr dirty="0"/>
          </a:p>
        </p:txBody>
      </p:sp>
      <p:sp>
        <p:nvSpPr>
          <p:cNvPr id="11" name="TextBox 10"/>
          <p:cNvSpPr txBox="1"/>
          <p:nvPr/>
        </p:nvSpPr>
        <p:spPr>
          <a:xfrm>
            <a:off x="731520" y="4315968"/>
            <a:ext cx="5257800" cy="1874519"/>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rPr dirty="0" err="1"/>
              <a:t>历史一路：按选中</a:t>
            </a:r>
            <a:r>
              <a:rPr dirty="0"/>
              <a:t> ID </a:t>
            </a:r>
            <a:r>
              <a:rPr dirty="0" err="1"/>
              <a:t>取出已有签名</a:t>
            </a:r>
            <a:endParaRPr dirty="0"/>
          </a:p>
          <a:p>
            <a:pPr algn="l">
              <a:spcAft>
                <a:spcPts val="900"/>
              </a:spcAft>
              <a:defRPr sz="2100" b="0">
                <a:solidFill>
                  <a:srgbClr val="16345A"/>
                </a:solidFill>
                <a:latin typeface="Microsoft YaHei"/>
              </a:defRPr>
            </a:pPr>
            <a:r>
              <a:rPr dirty="0" err="1"/>
              <a:t>本轮一路：反馈引用案例逐例重新提取</a:t>
            </a:r>
            <a:endParaRPr dirty="0"/>
          </a:p>
          <a:p>
            <a:pPr algn="l">
              <a:spcAft>
                <a:spcPts val="900"/>
              </a:spcAft>
              <a:defRPr sz="2100" b="0">
                <a:solidFill>
                  <a:srgbClr val="16345A"/>
                </a:solidFill>
                <a:latin typeface="Microsoft YaHei"/>
              </a:defRPr>
            </a:pPr>
            <a:r>
              <a:rPr dirty="0" err="1"/>
              <a:t>两路合并：新描述覆盖同</a:t>
            </a:r>
            <a:r>
              <a:rPr dirty="0"/>
              <a:t> ID </a:t>
            </a:r>
            <a:r>
              <a:rPr dirty="0" err="1"/>
              <a:t>旧描述</a:t>
            </a:r>
            <a:endParaRPr dirty="0"/>
          </a:p>
          <a:p>
            <a:pPr algn="l">
              <a:spcAft>
                <a:spcPts val="900"/>
              </a:spcAft>
              <a:defRPr sz="2100" b="0">
                <a:solidFill>
                  <a:srgbClr val="16345A"/>
                </a:solidFill>
                <a:latin typeface="Microsoft YaHei"/>
              </a:defRPr>
            </a:pPr>
            <a:r>
              <a:rPr dirty="0" err="1"/>
              <a:t>只保留</a:t>
            </a:r>
            <a:r>
              <a:rPr dirty="0"/>
              <a:t> Manager </a:t>
            </a:r>
            <a:r>
              <a:rPr dirty="0" err="1"/>
              <a:t>判断仍适用的签名</a:t>
            </a:r>
            <a:endParaRPr dirty="0"/>
          </a:p>
        </p:txBody>
      </p:sp>
      <p:sp>
        <p:nvSpPr>
          <p:cNvPr id="12" name="Right Arrow 11"/>
          <p:cNvSpPr/>
          <p:nvPr/>
        </p:nvSpPr>
        <p:spPr>
          <a:xfrm>
            <a:off x="6345936" y="4901184"/>
            <a:ext cx="320040" cy="292608"/>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793992" y="3493008"/>
            <a:ext cx="4069080" cy="3035808"/>
          </a:xfrm>
          <a:prstGeom prst="roundRect">
            <a:avLst>
              <a:gd name="adj" fmla="val 8000"/>
            </a:avLst>
          </a:prstGeom>
          <a:solidFill>
            <a:srgbClr val="FFF6EE"/>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22592" y="3685032"/>
            <a:ext cx="3611880" cy="411480"/>
          </a:xfrm>
          <a:prstGeom prst="rect">
            <a:avLst/>
          </a:prstGeom>
          <a:noFill/>
        </p:spPr>
        <p:txBody>
          <a:bodyPr wrap="square" lIns="18288" tIns="0" rIns="18288" bIns="0">
            <a:spAutoFit/>
          </a:bodyPr>
          <a:lstStyle/>
          <a:p>
            <a:pPr algn="l">
              <a:spcAft>
                <a:spcPts val="900"/>
              </a:spcAft>
              <a:defRPr sz="2400" b="1">
                <a:solidFill>
                  <a:srgbClr val="D67B32"/>
                </a:solidFill>
                <a:latin typeface="Microsoft YaHei"/>
              </a:defRPr>
            </a:pPr>
            <a:r>
              <a:rPr dirty="0"/>
              <a:t>② </a:t>
            </a:r>
            <a:r>
              <a:rPr dirty="0" err="1"/>
              <a:t>归纳共同错误模式</a:t>
            </a:r>
            <a:endParaRPr dirty="0"/>
          </a:p>
        </p:txBody>
      </p:sp>
      <p:sp>
        <p:nvSpPr>
          <p:cNvPr id="15" name="TextBox 14"/>
          <p:cNvSpPr txBox="1"/>
          <p:nvPr/>
        </p:nvSpPr>
        <p:spPr>
          <a:xfrm>
            <a:off x="7022592" y="4315968"/>
            <a:ext cx="3611880" cy="1874519"/>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输入：合并后的签名</a:t>
            </a:r>
          </a:p>
          <a:p>
            <a:pPr algn="l">
              <a:spcAft>
                <a:spcPts val="900"/>
              </a:spcAft>
              <a:defRPr sz="2100" b="0">
                <a:solidFill>
                  <a:srgbClr val="16345A"/>
                </a:solidFill>
                <a:latin typeface="Microsoft YaHei"/>
              </a:defRPr>
            </a:pPr>
            <a:r>
              <a:t>围绕修改目标做语义聚类</a:t>
            </a:r>
          </a:p>
          <a:p>
            <a:pPr algn="l">
              <a:spcAft>
                <a:spcPts val="900"/>
              </a:spcAft>
              <a:defRPr sz="2100" b="0">
                <a:solidFill>
                  <a:srgbClr val="16345A"/>
                </a:solidFill>
                <a:latin typeface="Microsoft YaHei"/>
              </a:defRPr>
            </a:pPr>
            <a:r>
              <a:t>输出：相关错误模式</a:t>
            </a:r>
          </a:p>
          <a:p>
            <a:pPr algn="l">
              <a:spcAft>
                <a:spcPts val="900"/>
              </a:spcAft>
              <a:defRPr sz="2100" b="0">
                <a:solidFill>
                  <a:srgbClr val="16345A"/>
                </a:solidFill>
                <a:latin typeface="Microsoft YaHei"/>
              </a:defRPr>
            </a:pPr>
            <a:r>
              <a:t>用于指导新准则的内容</a:t>
            </a:r>
          </a:p>
        </p:txBody>
      </p:sp>
      <p:sp>
        <p:nvSpPr>
          <p:cNvPr id="16" name="Right Arrow 15"/>
          <p:cNvSpPr/>
          <p:nvPr/>
        </p:nvSpPr>
        <p:spPr>
          <a:xfrm>
            <a:off x="10991088" y="4901184"/>
            <a:ext cx="320040" cy="292608"/>
          </a:xfrm>
          <a:prstGeom prst="rightArrow">
            <a:avLst/>
          </a:prstGeom>
          <a:solidFill>
            <a:srgbClr val="58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1448288" y="3493008"/>
            <a:ext cx="5193792" cy="3035808"/>
          </a:xfrm>
          <a:prstGeom prst="roundRect">
            <a:avLst>
              <a:gd name="adj" fmla="val 8000"/>
            </a:avLst>
          </a:prstGeom>
          <a:solidFill>
            <a:srgbClr val="F3EFF9"/>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76888" y="3685032"/>
            <a:ext cx="4736592" cy="411480"/>
          </a:xfrm>
          <a:prstGeom prst="rect">
            <a:avLst/>
          </a:prstGeom>
          <a:noFill/>
        </p:spPr>
        <p:txBody>
          <a:bodyPr wrap="square" lIns="18288" tIns="0" rIns="18288" bIns="0">
            <a:spAutoFit/>
          </a:bodyPr>
          <a:lstStyle/>
          <a:p>
            <a:pPr algn="l">
              <a:spcAft>
                <a:spcPts val="900"/>
              </a:spcAft>
              <a:defRPr sz="2400" b="1">
                <a:solidFill>
                  <a:srgbClr val="8660BE"/>
                </a:solidFill>
                <a:latin typeface="Microsoft YaHei"/>
              </a:defRPr>
            </a:pPr>
            <a:r>
              <a:t>③ 整组生成 2–5 条子准则</a:t>
            </a:r>
          </a:p>
        </p:txBody>
      </p:sp>
      <p:sp>
        <p:nvSpPr>
          <p:cNvPr id="19" name="TextBox 18"/>
          <p:cNvSpPr txBox="1"/>
          <p:nvPr/>
        </p:nvSpPr>
        <p:spPr>
          <a:xfrm>
            <a:off x="11676888" y="4315968"/>
            <a:ext cx="4736592" cy="1874519"/>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输入：当前孩子、修改与保留要求</a:t>
            </a:r>
          </a:p>
          <a:p>
            <a:pPr algn="l">
              <a:spcAft>
                <a:spcPts val="900"/>
              </a:spcAft>
              <a:defRPr sz="2100" b="0">
                <a:solidFill>
                  <a:srgbClr val="16345A"/>
                </a:solidFill>
                <a:latin typeface="Microsoft YaHei"/>
              </a:defRPr>
            </a:pPr>
            <a:r>
              <a:t>以及签名、错误模式</a:t>
            </a:r>
          </a:p>
          <a:p>
            <a:pPr algn="l">
              <a:spcAft>
                <a:spcPts val="900"/>
              </a:spcAft>
              <a:defRPr sz="2100" b="0">
                <a:solidFill>
                  <a:srgbClr val="16345A"/>
                </a:solidFill>
                <a:latin typeface="Microsoft YaHei"/>
              </a:defRPr>
            </a:pPr>
            <a:r>
              <a:t>输出：完整新孩子组 → 组装候选</a:t>
            </a:r>
          </a:p>
          <a:p>
            <a:pPr algn="l">
              <a:spcAft>
                <a:spcPts val="900"/>
              </a:spcAft>
              <a:defRPr sz="2100" b="0">
                <a:solidFill>
                  <a:srgbClr val="16345A"/>
                </a:solidFill>
                <a:latin typeface="Microsoft YaHei"/>
              </a:defRPr>
            </a:pPr>
            <a:r>
              <a:t>可保留有效旧规则；不要求一簇一条</a:t>
            </a:r>
          </a:p>
        </p:txBody>
      </p:sp>
      <p:sp>
        <p:nvSpPr>
          <p:cNvPr id="20" name="Rounded Rectangle 19"/>
          <p:cNvSpPr/>
          <p:nvPr/>
        </p:nvSpPr>
        <p:spPr>
          <a:xfrm>
            <a:off x="502920" y="6821424"/>
            <a:ext cx="16139159" cy="1719072"/>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6986016"/>
            <a:ext cx="15544800" cy="384048"/>
          </a:xfrm>
          <a:prstGeom prst="rect">
            <a:avLst/>
          </a:prstGeom>
          <a:noFill/>
        </p:spPr>
        <p:txBody>
          <a:bodyPr wrap="square" lIns="18288" tIns="0" rIns="18288" bIns="0">
            <a:spAutoFit/>
          </a:bodyPr>
          <a:lstStyle/>
          <a:p>
            <a:pPr algn="l">
              <a:spcAft>
                <a:spcPts val="900"/>
              </a:spcAft>
              <a:defRPr sz="2300" b="1">
                <a:solidFill>
                  <a:srgbClr val="119D96"/>
                </a:solidFill>
                <a:latin typeface="Microsoft YaHei"/>
              </a:defRPr>
            </a:pPr>
            <a:r>
              <a:t>延续完整性示例：从“改什么”到“具体怎样判断”（示意）</a:t>
            </a:r>
          </a:p>
        </p:txBody>
      </p:sp>
      <p:sp>
        <p:nvSpPr>
          <p:cNvPr id="22" name="TextBox 21"/>
          <p:cNvSpPr txBox="1"/>
          <p:nvPr/>
        </p:nvSpPr>
        <p:spPr>
          <a:xfrm>
            <a:off x="731520" y="7525512"/>
            <a:ext cx="15544800" cy="758952"/>
          </a:xfrm>
          <a:prstGeom prst="rect">
            <a:avLst/>
          </a:prstGeom>
          <a:noFill/>
        </p:spPr>
        <p:txBody>
          <a:bodyPr wrap="square" lIns="18288" tIns="0" rIns="18288" bIns="0">
            <a:spAutoFit/>
          </a:bodyPr>
          <a:lstStyle/>
          <a:p>
            <a:pPr algn="l">
              <a:spcAft>
                <a:spcPts val="900"/>
              </a:spcAft>
              <a:defRPr sz="2300" b="0">
                <a:solidFill>
                  <a:srgbClr val="16345A"/>
                </a:solidFill>
                <a:latin typeface="Microsoft YaHei"/>
              </a:defRPr>
            </a:pPr>
            <a:r>
              <a:t>目标：区分必需与可选内容 → 模式：把信息数量误当覆盖程度</a:t>
            </a:r>
          </a:p>
          <a:p>
            <a:pPr algn="l">
              <a:spcAft>
                <a:spcPts val="900"/>
              </a:spcAft>
              <a:defRPr sz="2300" b="0">
                <a:solidFill>
                  <a:srgbClr val="16345A"/>
                </a:solidFill>
                <a:latin typeface="Microsoft YaHei"/>
              </a:defRPr>
            </a:pPr>
            <a:r>
              <a:t>新准则：先核对题目要求的识别与评分是否齐全；额外建议不自动增加完整性。</a:t>
            </a:r>
          </a:p>
        </p:txBody>
      </p:sp>
      <p:sp>
        <p:nvSpPr>
          <p:cNvPr id="23" name="TextBox 22"/>
          <p:cNvSpPr txBox="1"/>
          <p:nvPr/>
        </p:nvSpPr>
        <p:spPr>
          <a:xfrm>
            <a:off x="594360" y="8714232"/>
            <a:ext cx="16002000" cy="274320"/>
          </a:xfrm>
          <a:prstGeom prst="rect">
            <a:avLst/>
          </a:prstGeom>
          <a:noFill/>
        </p:spPr>
        <p:txBody>
          <a:bodyPr wrap="square" lIns="18288" tIns="0" rIns="18288" bIns="0">
            <a:spAutoFit/>
          </a:bodyPr>
          <a:lstStyle/>
          <a:p>
            <a:pPr algn="l">
              <a:spcAft>
                <a:spcPts val="900"/>
              </a:spcAft>
              <a:defRPr sz="1600" b="0">
                <a:solidFill>
                  <a:srgbClr val="586E87"/>
                </a:solidFill>
                <a:latin typeface="Microsoft YaHei"/>
              </a:defRPr>
            </a:pPr>
            <a:r>
              <a:rPr dirty="0" err="1"/>
              <a:t>签名</a:t>
            </a:r>
            <a:r>
              <a:rPr dirty="0"/>
              <a:t> = </a:t>
            </a:r>
            <a:r>
              <a:rPr dirty="0" err="1"/>
              <a:t>一条案例的局部失败描述；本轮重新提取用反馈引用案例，不等于把子树反思的案例包全部重跑</a:t>
            </a: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5453359" cy="320040"/>
          </a:xfrm>
          <a:prstGeom prst="rect">
            <a:avLst/>
          </a:prstGeom>
          <a:noFill/>
        </p:spPr>
        <p:txBody>
          <a:bodyPr wrap="square" lIns="18288" tIns="0" rIns="18288" bIns="0">
            <a:spAutoFit/>
          </a:bodyPr>
          <a:lstStyle/>
          <a:p>
            <a:pPr algn="l">
              <a:spcAft>
                <a:spcPts val="900"/>
              </a:spcAft>
              <a:defRPr sz="1500" b="1">
                <a:solidFill>
                  <a:srgbClr val="586E87"/>
                </a:solidFill>
                <a:latin typeface="Microsoft YaHei"/>
              </a:defRPr>
            </a:pPr>
            <a:r>
              <a:t>框架实现  06 / 06   ·   HIERARCHICAL REFLECTION</a:t>
            </a:r>
          </a:p>
        </p:txBody>
      </p:sp>
      <p:sp>
        <p:nvSpPr>
          <p:cNvPr id="3" name="TextBox 2"/>
          <p:cNvSpPr txBox="1"/>
          <p:nvPr/>
        </p:nvSpPr>
        <p:spPr>
          <a:xfrm>
            <a:off x="502920" y="859536"/>
            <a:ext cx="16093440" cy="658368"/>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联合验收：比较完整系统，严格提升才接受</a:t>
            </a:r>
          </a:p>
        </p:txBody>
      </p:sp>
      <p:sp>
        <p:nvSpPr>
          <p:cNvPr id="4" name="TextBox 3"/>
          <p:cNvSpPr txBox="1"/>
          <p:nvPr/>
        </p:nvSpPr>
        <p:spPr>
          <a:xfrm>
            <a:off x="502920" y="1673352"/>
            <a:ext cx="16093440" cy="59436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t>修改先组成一个候选；不单独挑选每根的局部收益来提交。</a:t>
            </a:r>
          </a:p>
        </p:txBody>
      </p:sp>
      <p:sp>
        <p:nvSpPr>
          <p:cNvPr id="6" name="TextBox 5"/>
          <p:cNvSpPr txBox="1"/>
          <p:nvPr/>
        </p:nvSpPr>
        <p:spPr>
          <a:xfrm>
            <a:off x="16020288" y="9079992"/>
            <a:ext cx="594360" cy="301752"/>
          </a:xfrm>
          <a:prstGeom prst="rect">
            <a:avLst/>
          </a:prstGeom>
          <a:noFill/>
        </p:spPr>
        <p:txBody>
          <a:bodyPr wrap="square" lIns="18288" tIns="0" rIns="18288" bIns="0">
            <a:spAutoFit/>
          </a:bodyPr>
          <a:lstStyle/>
          <a:p>
            <a:pPr algn="r">
              <a:spcAft>
                <a:spcPts val="900"/>
              </a:spcAft>
              <a:defRPr sz="1600" b="0">
                <a:solidFill>
                  <a:srgbClr val="586E87"/>
                </a:solidFill>
                <a:latin typeface="Microsoft YaHei"/>
              </a:defRPr>
            </a:pPr>
            <a:r>
              <a:t>06</a:t>
            </a:r>
          </a:p>
        </p:txBody>
      </p:sp>
      <p:sp>
        <p:nvSpPr>
          <p:cNvPr id="7" name="Rounded Rectangle 6"/>
          <p:cNvSpPr/>
          <p:nvPr/>
        </p:nvSpPr>
        <p:spPr>
          <a:xfrm>
            <a:off x="502920" y="2523744"/>
            <a:ext cx="4754880" cy="2185416"/>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779776"/>
            <a:ext cx="4251960" cy="457200"/>
          </a:xfrm>
          <a:prstGeom prst="rect">
            <a:avLst/>
          </a:prstGeom>
          <a:noFill/>
        </p:spPr>
        <p:txBody>
          <a:bodyPr wrap="square" lIns="18288" tIns="0" rIns="18288" bIns="0">
            <a:spAutoFit/>
          </a:bodyPr>
          <a:lstStyle/>
          <a:p>
            <a:pPr algn="l">
              <a:spcAft>
                <a:spcPts val="900"/>
              </a:spcAft>
              <a:defRPr sz="2700" b="1">
                <a:solidFill>
                  <a:srgbClr val="3183CB"/>
                </a:solidFill>
                <a:latin typeface="Microsoft YaHei"/>
              </a:defRPr>
            </a:pPr>
            <a:r>
              <a:t>当前已接受 Rubric</a:t>
            </a:r>
          </a:p>
        </p:txBody>
      </p:sp>
      <p:sp>
        <p:nvSpPr>
          <p:cNvPr id="9" name="TextBox 8"/>
          <p:cNvSpPr txBox="1"/>
          <p:nvPr/>
        </p:nvSpPr>
        <p:spPr>
          <a:xfrm>
            <a:off x="749808" y="3566160"/>
            <a:ext cx="4251960" cy="877824"/>
          </a:xfrm>
          <a:prstGeom prst="rect">
            <a:avLst/>
          </a:prstGeom>
          <a:noFill/>
        </p:spPr>
        <p:txBody>
          <a:bodyPr wrap="square" lIns="18288" tIns="0" rIns="18288" bIns="0">
            <a:spAutoFit/>
          </a:bodyPr>
          <a:lstStyle/>
          <a:p>
            <a:pPr algn="l">
              <a:spcAft>
                <a:spcPts val="900"/>
              </a:spcAft>
              <a:defRPr sz="2300" b="0">
                <a:solidFill>
                  <a:srgbClr val="16345A"/>
                </a:solidFill>
                <a:latin typeface="Microsoft YaHei"/>
              </a:defRPr>
            </a:pPr>
            <a:r>
              <a:t>已有五份报告与最终判断</a:t>
            </a:r>
          </a:p>
          <a:p>
            <a:pPr algn="l">
              <a:spcAft>
                <a:spcPts val="900"/>
              </a:spcAft>
              <a:defRPr sz="2300" b="0">
                <a:solidFill>
                  <a:srgbClr val="16345A"/>
                </a:solidFill>
                <a:latin typeface="Microsoft YaHei"/>
              </a:defRPr>
            </a:pPr>
            <a:r>
              <a:t>保留作为比较基线</a:t>
            </a:r>
          </a:p>
        </p:txBody>
      </p:sp>
      <p:sp>
        <p:nvSpPr>
          <p:cNvPr id="10" name="Rounded Rectangle 9"/>
          <p:cNvSpPr/>
          <p:nvPr/>
        </p:nvSpPr>
        <p:spPr>
          <a:xfrm>
            <a:off x="5806440" y="2523744"/>
            <a:ext cx="5120640" cy="2185416"/>
          </a:xfrm>
          <a:prstGeom prst="roundRect">
            <a:avLst>
              <a:gd name="adj" fmla="val 8000"/>
            </a:avLst>
          </a:prstGeom>
          <a:solidFill>
            <a:srgbClr val="FFF6EE"/>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53328" y="2779776"/>
            <a:ext cx="4617720" cy="457200"/>
          </a:xfrm>
          <a:prstGeom prst="rect">
            <a:avLst/>
          </a:prstGeom>
          <a:noFill/>
        </p:spPr>
        <p:txBody>
          <a:bodyPr wrap="square" lIns="18288" tIns="0" rIns="18288" bIns="0">
            <a:spAutoFit/>
          </a:bodyPr>
          <a:lstStyle/>
          <a:p>
            <a:pPr algn="l">
              <a:spcAft>
                <a:spcPts val="900"/>
              </a:spcAft>
              <a:defRPr sz="2700" b="1">
                <a:solidFill>
                  <a:srgbClr val="D67B32"/>
                </a:solidFill>
                <a:latin typeface="Microsoft YaHei"/>
              </a:defRPr>
            </a:pPr>
            <a:r>
              <a:t>合并后的候选 Rubric</a:t>
            </a:r>
          </a:p>
        </p:txBody>
      </p:sp>
      <p:sp>
        <p:nvSpPr>
          <p:cNvPr id="12" name="TextBox 11"/>
          <p:cNvSpPr txBox="1"/>
          <p:nvPr/>
        </p:nvSpPr>
        <p:spPr>
          <a:xfrm>
            <a:off x="6053328" y="3566160"/>
            <a:ext cx="4617720" cy="877824"/>
          </a:xfrm>
          <a:prstGeom prst="rect">
            <a:avLst/>
          </a:prstGeom>
          <a:noFill/>
        </p:spPr>
        <p:txBody>
          <a:bodyPr wrap="square" lIns="18288" tIns="0" rIns="18288" bIns="0">
            <a:spAutoFit/>
          </a:bodyPr>
          <a:lstStyle/>
          <a:p>
            <a:pPr algn="l">
              <a:spcAft>
                <a:spcPts val="900"/>
              </a:spcAft>
              <a:defRPr sz="2300" b="0">
                <a:solidFill>
                  <a:srgbClr val="16345A"/>
                </a:solidFill>
                <a:latin typeface="Microsoft YaHei"/>
              </a:defRPr>
            </a:pPr>
            <a:r>
              <a:t>改动子树重新推理，其余复用</a:t>
            </a:r>
          </a:p>
          <a:p>
            <a:pPr algn="l">
              <a:spcAft>
                <a:spcPts val="900"/>
              </a:spcAft>
              <a:defRPr sz="2300" b="0">
                <a:solidFill>
                  <a:srgbClr val="16345A"/>
                </a:solidFill>
                <a:latin typeface="Microsoft YaHei"/>
              </a:defRPr>
            </a:pPr>
            <a:r>
              <a:t>Arbiter 重新形成最终判断</a:t>
            </a:r>
          </a:p>
        </p:txBody>
      </p:sp>
      <p:sp>
        <p:nvSpPr>
          <p:cNvPr id="13" name="Rounded Rectangle 12"/>
          <p:cNvSpPr/>
          <p:nvPr/>
        </p:nvSpPr>
        <p:spPr>
          <a:xfrm>
            <a:off x="11475720" y="2523744"/>
            <a:ext cx="5166360" cy="2185416"/>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722608" y="2779776"/>
            <a:ext cx="4663440" cy="457200"/>
          </a:xfrm>
          <a:prstGeom prst="rect">
            <a:avLst/>
          </a:prstGeom>
          <a:noFill/>
        </p:spPr>
        <p:txBody>
          <a:bodyPr wrap="square" lIns="18288" tIns="0" rIns="18288" bIns="0">
            <a:spAutoFit/>
          </a:bodyPr>
          <a:lstStyle/>
          <a:p>
            <a:pPr algn="l">
              <a:spcAft>
                <a:spcPts val="900"/>
              </a:spcAft>
              <a:defRPr sz="2700" b="1">
                <a:solidFill>
                  <a:srgbClr val="119D96"/>
                </a:solidFill>
                <a:latin typeface="Microsoft YaHei"/>
              </a:defRPr>
            </a:pPr>
            <a:r>
              <a:t>同一批 100 条验收</a:t>
            </a:r>
          </a:p>
        </p:txBody>
      </p:sp>
      <p:sp>
        <p:nvSpPr>
          <p:cNvPr id="15" name="TextBox 14"/>
          <p:cNvSpPr txBox="1"/>
          <p:nvPr/>
        </p:nvSpPr>
        <p:spPr>
          <a:xfrm>
            <a:off x="11722608" y="3566160"/>
            <a:ext cx="4663440" cy="877824"/>
          </a:xfrm>
          <a:prstGeom prst="rect">
            <a:avLst/>
          </a:prstGeom>
          <a:noFill/>
        </p:spPr>
        <p:txBody>
          <a:bodyPr wrap="square" lIns="18288" tIns="0" rIns="18288" bIns="0">
            <a:spAutoFit/>
          </a:bodyPr>
          <a:lstStyle/>
          <a:p>
            <a:pPr algn="l">
              <a:spcAft>
                <a:spcPts val="900"/>
              </a:spcAft>
              <a:defRPr sz="2300" b="0">
                <a:solidFill>
                  <a:srgbClr val="16345A"/>
                </a:solidFill>
                <a:latin typeface="Microsoft YaHei"/>
              </a:defRPr>
            </a:pPr>
            <a:r>
              <a:t>对照人工偏好计算 Strict ACC</a:t>
            </a:r>
          </a:p>
          <a:p>
            <a:pPr algn="l">
              <a:spcAft>
                <a:spcPts val="900"/>
              </a:spcAft>
              <a:defRPr sz="2300" b="0">
                <a:solidFill>
                  <a:srgbClr val="16345A"/>
                </a:solidFill>
                <a:latin typeface="Microsoft YaHei"/>
              </a:defRPr>
            </a:pPr>
            <a:r>
              <a:t>同时记录纠正与损害案例</a:t>
            </a:r>
          </a:p>
        </p:txBody>
      </p:sp>
      <p:sp>
        <p:nvSpPr>
          <p:cNvPr id="16" name="Rounded Rectangle 15"/>
          <p:cNvSpPr/>
          <p:nvPr/>
        </p:nvSpPr>
        <p:spPr>
          <a:xfrm>
            <a:off x="502920" y="5093208"/>
            <a:ext cx="16139159" cy="1051560"/>
          </a:xfrm>
          <a:prstGeom prst="roundRect">
            <a:avLst>
              <a:gd name="adj" fmla="val 8000"/>
            </a:avLst>
          </a:prstGeom>
          <a:solidFill>
            <a:srgbClr val="163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349240"/>
            <a:ext cx="15563088" cy="594360"/>
          </a:xfrm>
          <a:prstGeom prst="rect">
            <a:avLst/>
          </a:prstGeom>
          <a:noFill/>
        </p:spPr>
        <p:txBody>
          <a:bodyPr wrap="square" lIns="18288" tIns="0" rIns="18288" bIns="0">
            <a:spAutoFit/>
          </a:bodyPr>
          <a:lstStyle/>
          <a:p>
            <a:pPr algn="ctr">
              <a:spcAft>
                <a:spcPts val="900"/>
              </a:spcAft>
              <a:defRPr sz="3100" b="1">
                <a:solidFill>
                  <a:srgbClr val="FFFFFF"/>
                </a:solidFill>
                <a:latin typeface="Microsoft YaHei"/>
              </a:defRPr>
            </a:pPr>
            <a:r>
              <a:t>Strict ACC(candidate) &gt; Strict ACC(current)</a:t>
            </a:r>
          </a:p>
        </p:txBody>
      </p:sp>
      <p:sp>
        <p:nvSpPr>
          <p:cNvPr id="18" name="Rounded Rectangle 17"/>
          <p:cNvSpPr/>
          <p:nvPr/>
        </p:nvSpPr>
        <p:spPr>
          <a:xfrm>
            <a:off x="502920" y="6455664"/>
            <a:ext cx="7790688" cy="1243584"/>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13648" y="6455664"/>
            <a:ext cx="8028431" cy="1243584"/>
          </a:xfrm>
          <a:prstGeom prst="roundRect">
            <a:avLst>
              <a:gd name="adj" fmla="val 8000"/>
            </a:avLst>
          </a:prstGeom>
          <a:solidFill>
            <a:srgbClr val="F3EFF9"/>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6665976"/>
            <a:ext cx="7278624" cy="804672"/>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接受：整批替换，候选成为下一轮起点。</a:t>
            </a:r>
          </a:p>
          <a:p>
            <a:pPr algn="l">
              <a:spcAft>
                <a:spcPts val="900"/>
              </a:spcAft>
              <a:defRPr sz="2200" b="0">
                <a:solidFill>
                  <a:srgbClr val="16345A"/>
                </a:solidFill>
                <a:latin typeface="Microsoft YaHei"/>
              </a:defRPr>
            </a:pPr>
            <a:r>
              <a:t>真实轨迹：init 66% → e02 69%。</a:t>
            </a:r>
          </a:p>
        </p:txBody>
      </p:sp>
      <p:sp>
        <p:nvSpPr>
          <p:cNvPr id="21" name="TextBox 20"/>
          <p:cNvSpPr txBox="1"/>
          <p:nvPr/>
        </p:nvSpPr>
        <p:spPr>
          <a:xfrm>
            <a:off x="8869680" y="6665976"/>
            <a:ext cx="7479792" cy="804672"/>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拒绝：保留当前版本，失败候选仍供反思。</a:t>
            </a:r>
          </a:p>
          <a:p>
            <a:pPr algn="l">
              <a:spcAft>
                <a:spcPts val="900"/>
              </a:spcAft>
              <a:defRPr sz="2200" b="0">
                <a:solidFill>
                  <a:srgbClr val="16345A"/>
                </a:solidFill>
                <a:latin typeface="Microsoft YaHei"/>
              </a:defRPr>
            </a:pPr>
            <a:r>
              <a:t>真实轨迹：e01 64%，未替换 init。</a:t>
            </a:r>
          </a:p>
        </p:txBody>
      </p:sp>
      <p:sp>
        <p:nvSpPr>
          <p:cNvPr id="22" name="TextBox 21"/>
          <p:cNvSpPr txBox="1"/>
          <p:nvPr/>
        </p:nvSpPr>
        <p:spPr>
          <a:xfrm>
            <a:off x="576072" y="8110727"/>
            <a:ext cx="16002000" cy="685800"/>
          </a:xfrm>
          <a:prstGeom prst="rect">
            <a:avLst/>
          </a:prstGeom>
          <a:noFill/>
        </p:spPr>
        <p:txBody>
          <a:bodyPr wrap="square" lIns="18288" tIns="0" rIns="18288" bIns="0">
            <a:spAutoFit/>
          </a:bodyPr>
          <a:lstStyle/>
          <a:p>
            <a:pPr algn="l">
              <a:spcAft>
                <a:spcPts val="900"/>
              </a:spcAft>
              <a:defRPr sz="2400" b="1">
                <a:solidFill>
                  <a:srgbClr val="16345A"/>
                </a:solidFill>
                <a:latin typeface="Microsoft YaHei"/>
              </a:defRPr>
            </a:pPr>
            <a:r>
              <a:t>Discovery 用于演化与验收；最多五轮后冻结 Final，再用 Dev / VLRB 检验迁移效果。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6230600" cy="594360"/>
          </a:xfrm>
          <a:prstGeom prst="rect">
            <a:avLst/>
          </a:prstGeom>
          <a:noFill/>
        </p:spPr>
        <p:txBody>
          <a:bodyPr wrap="square" lIns="0" tIns="0" rIns="0" bIns="0">
            <a:spAutoFit/>
          </a:bodyPr>
          <a:lstStyle/>
          <a:p>
            <a:pPr>
              <a:lnSpc>
                <a:spcPct val="115000"/>
              </a:lnSpc>
              <a:spcAft>
                <a:spcPts val="500"/>
              </a:spcAft>
              <a:defRPr sz="3400" b="1">
                <a:solidFill>
                  <a:srgbClr val="173455"/>
                </a:solidFill>
                <a:latin typeface="Microsoft YaHei"/>
              </a:defRPr>
            </a:pPr>
            <a:r>
              <a:rPr dirty="0" err="1">
                <a:ea typeface="Microsoft YaHei"/>
              </a:rPr>
              <a:t>核心假设与验证判据</a:t>
            </a:r>
            <a:endParaRPr dirty="0">
              <a:ea typeface="Microsoft YaHei"/>
            </a:endParaRPr>
          </a:p>
        </p:txBody>
      </p:sp>
      <p:sp>
        <p:nvSpPr>
          <p:cNvPr id="3" name="TextBox 2"/>
          <p:cNvSpPr txBox="1"/>
          <p:nvPr/>
        </p:nvSpPr>
        <p:spPr>
          <a:xfrm>
            <a:off x="457200" y="1058632"/>
            <a:ext cx="16230600" cy="566928"/>
          </a:xfrm>
          <a:prstGeom prst="rect">
            <a:avLst/>
          </a:prstGeom>
          <a:noFill/>
        </p:spPr>
        <p:txBody>
          <a:bodyPr wrap="square" lIns="0" tIns="0" rIns="0" bIns="0">
            <a:spAutoFit/>
          </a:bodyPr>
          <a:lstStyle/>
          <a:p>
            <a:pPr>
              <a:lnSpc>
                <a:spcPct val="115000"/>
              </a:lnSpc>
              <a:spcAft>
                <a:spcPts val="500"/>
              </a:spcAft>
              <a:defRPr sz="2100" b="0">
                <a:solidFill>
                  <a:srgbClr val="173455"/>
                </a:solidFill>
                <a:latin typeface="Microsoft YaHei"/>
              </a:defRPr>
            </a:pPr>
            <a:r>
              <a:rPr dirty="0" err="1">
                <a:ea typeface="Microsoft YaHei"/>
              </a:rPr>
              <a:t>研究问题：能否通过系统反馈演化</a:t>
            </a:r>
            <a:r>
              <a:rPr dirty="0">
                <a:ea typeface="Microsoft YaHei"/>
              </a:rPr>
              <a:t> Rubric </a:t>
            </a:r>
            <a:r>
              <a:rPr dirty="0" err="1">
                <a:ea typeface="Microsoft YaHei"/>
              </a:rPr>
              <a:t>子节点，使同一</a:t>
            </a:r>
            <a:r>
              <a:rPr dirty="0">
                <a:ea typeface="Microsoft YaHei"/>
              </a:rPr>
              <a:t> VLM </a:t>
            </a:r>
            <a:r>
              <a:rPr dirty="0" err="1">
                <a:ea typeface="Microsoft YaHei"/>
              </a:rPr>
              <a:t>更准确地比较候选回答</a:t>
            </a:r>
            <a:r>
              <a:rPr dirty="0">
                <a:ea typeface="Microsoft YaHei"/>
              </a:rPr>
              <a:t>？</a:t>
            </a:r>
          </a:p>
        </p:txBody>
      </p:sp>
      <p:sp>
        <p:nvSpPr>
          <p:cNvPr id="4" name="Rounded Rectangle 3"/>
          <p:cNvSpPr/>
          <p:nvPr/>
        </p:nvSpPr>
        <p:spPr>
          <a:xfrm>
            <a:off x="457200" y="1684739"/>
            <a:ext cx="5257800" cy="5440680"/>
          </a:xfrm>
          <a:prstGeom prst="roundRect">
            <a:avLst>
              <a:gd name="adj" fmla="val 3500"/>
            </a:avLst>
          </a:prstGeom>
          <a:solidFill>
            <a:srgbClr val="F3F8FE"/>
          </a:solidFill>
          <a:ln>
            <a:solidFill>
              <a:srgbClr val="377D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913340"/>
            <a:ext cx="658368" cy="475488"/>
          </a:xfrm>
          <a:prstGeom prst="roundRect">
            <a:avLst>
              <a:gd name="adj" fmla="val 3500"/>
            </a:avLst>
          </a:prstGeom>
          <a:solidFill>
            <a:srgbClr val="377DC0"/>
          </a:solidFill>
          <a:ln>
            <a:solidFill>
              <a:srgbClr val="377D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959060"/>
            <a:ext cx="502920" cy="365760"/>
          </a:xfrm>
          <a:prstGeom prst="rect">
            <a:avLst/>
          </a:prstGeom>
          <a:noFill/>
        </p:spPr>
        <p:txBody>
          <a:bodyPr wrap="square" lIns="0" tIns="0" rIns="0" bIns="0">
            <a:spAutoFit/>
          </a:bodyPr>
          <a:lstStyle/>
          <a:p>
            <a:pPr>
              <a:lnSpc>
                <a:spcPct val="115000"/>
              </a:lnSpc>
              <a:spcAft>
                <a:spcPts val="500"/>
              </a:spcAft>
              <a:defRPr sz="2000" b="1">
                <a:solidFill>
                  <a:srgbClr val="FFFFFF"/>
                </a:solidFill>
                <a:latin typeface="Microsoft YaHei"/>
              </a:defRPr>
            </a:pPr>
            <a:r>
              <a:rPr>
                <a:ea typeface="Microsoft YaHei"/>
              </a:rPr>
              <a:t>H1</a:t>
            </a:r>
          </a:p>
        </p:txBody>
      </p:sp>
      <p:sp>
        <p:nvSpPr>
          <p:cNvPr id="7" name="TextBox 6"/>
          <p:cNvSpPr txBox="1"/>
          <p:nvPr/>
        </p:nvSpPr>
        <p:spPr>
          <a:xfrm>
            <a:off x="685800" y="2571708"/>
            <a:ext cx="4800600" cy="375487"/>
          </a:xfrm>
          <a:prstGeom prst="rect">
            <a:avLst/>
          </a:prstGeom>
          <a:noFill/>
        </p:spPr>
        <p:txBody>
          <a:bodyPr wrap="square" lIns="0" tIns="0" rIns="0" bIns="0">
            <a:spAutoFit/>
          </a:bodyPr>
          <a:lstStyle/>
          <a:p>
            <a:pPr>
              <a:lnSpc>
                <a:spcPct val="115000"/>
              </a:lnSpc>
              <a:spcAft>
                <a:spcPts val="500"/>
              </a:spcAft>
              <a:defRPr sz="2300" b="1">
                <a:solidFill>
                  <a:srgbClr val="173455"/>
                </a:solidFill>
                <a:latin typeface="Microsoft YaHei"/>
              </a:defRPr>
            </a:pPr>
            <a:r>
              <a:rPr lang="zh-CN" altLang="en-US" dirty="0">
                <a:ea typeface="Microsoft YaHei"/>
              </a:rPr>
              <a:t>细粒度</a:t>
            </a:r>
            <a:r>
              <a:rPr dirty="0" err="1">
                <a:ea typeface="Microsoft YaHei"/>
              </a:rPr>
              <a:t>标准改善局部判断</a:t>
            </a:r>
            <a:endParaRPr dirty="0">
              <a:ea typeface="Microsoft YaHei"/>
            </a:endParaRPr>
          </a:p>
        </p:txBody>
      </p:sp>
      <p:sp>
        <p:nvSpPr>
          <p:cNvPr id="8" name="TextBox 7"/>
          <p:cNvSpPr txBox="1"/>
          <p:nvPr/>
        </p:nvSpPr>
        <p:spPr>
          <a:xfrm>
            <a:off x="685800" y="3239220"/>
            <a:ext cx="4800600" cy="676532"/>
          </a:xfrm>
          <a:prstGeom prst="rect">
            <a:avLst/>
          </a:prstGeom>
          <a:noFill/>
        </p:spPr>
        <p:txBody>
          <a:bodyPr wrap="square" lIns="0" tIns="0" rIns="0" bIns="0">
            <a:spAutoFit/>
          </a:bodyPr>
          <a:lstStyle/>
          <a:p>
            <a:pPr>
              <a:lnSpc>
                <a:spcPct val="115000"/>
              </a:lnSpc>
              <a:spcAft>
                <a:spcPts val="500"/>
              </a:spcAft>
              <a:defRPr sz="1800" b="0">
                <a:solidFill>
                  <a:srgbClr val="173455"/>
                </a:solidFill>
                <a:latin typeface="Microsoft YaHei"/>
              </a:defRPr>
            </a:pPr>
            <a:r>
              <a:rPr dirty="0" err="1">
                <a:ea typeface="Microsoft YaHei"/>
              </a:rPr>
              <a:t>在固定根维度下，合适的</a:t>
            </a:r>
            <a:r>
              <a:rPr lang="zh-CN" altLang="en-US" dirty="0">
                <a:ea typeface="Microsoft YaHei"/>
              </a:rPr>
              <a:t>细粒度</a:t>
            </a:r>
            <a:r>
              <a:rPr dirty="0" err="1">
                <a:ea typeface="Microsoft YaHei"/>
              </a:rPr>
              <a:t>标准</a:t>
            </a:r>
            <a:endParaRPr dirty="0">
              <a:ea typeface="Microsoft YaHei"/>
            </a:endParaRPr>
          </a:p>
          <a:p>
            <a:pPr>
              <a:lnSpc>
                <a:spcPct val="115000"/>
              </a:lnSpc>
              <a:spcAft>
                <a:spcPts val="500"/>
              </a:spcAft>
              <a:defRPr sz="1800" b="0">
                <a:solidFill>
                  <a:srgbClr val="173455"/>
                </a:solidFill>
                <a:latin typeface="Microsoft YaHei"/>
              </a:defRPr>
            </a:pPr>
            <a:r>
              <a:rPr dirty="0" err="1">
                <a:ea typeface="Microsoft YaHei"/>
              </a:rPr>
              <a:t>能够减少该维度的判断错误</a:t>
            </a:r>
            <a:r>
              <a:rPr dirty="0">
                <a:ea typeface="Microsoft YaHei"/>
              </a:rPr>
              <a:t>。</a:t>
            </a:r>
          </a:p>
        </p:txBody>
      </p:sp>
      <p:sp>
        <p:nvSpPr>
          <p:cNvPr id="9" name="TextBox 8"/>
          <p:cNvSpPr txBox="1"/>
          <p:nvPr/>
        </p:nvSpPr>
        <p:spPr>
          <a:xfrm>
            <a:off x="685800" y="4181052"/>
            <a:ext cx="4800600" cy="365760"/>
          </a:xfrm>
          <a:prstGeom prst="rect">
            <a:avLst/>
          </a:prstGeom>
          <a:noFill/>
        </p:spPr>
        <p:txBody>
          <a:bodyPr wrap="square" lIns="0" tIns="0" rIns="0" bIns="0">
            <a:spAutoFit/>
          </a:bodyPr>
          <a:lstStyle/>
          <a:p>
            <a:pPr>
              <a:lnSpc>
                <a:spcPct val="115000"/>
              </a:lnSpc>
              <a:spcAft>
                <a:spcPts val="500"/>
              </a:spcAft>
              <a:defRPr sz="1700" b="1">
                <a:solidFill>
                  <a:srgbClr val="377DC0"/>
                </a:solidFill>
                <a:latin typeface="Microsoft YaHei"/>
              </a:defRPr>
            </a:pPr>
            <a:r>
              <a:rPr>
                <a:ea typeface="Microsoft YaHei"/>
              </a:rPr>
              <a:t>如何验证</a:t>
            </a:r>
          </a:p>
        </p:txBody>
      </p:sp>
      <p:sp>
        <p:nvSpPr>
          <p:cNvPr id="10" name="TextBox 9"/>
          <p:cNvSpPr txBox="1"/>
          <p:nvPr/>
        </p:nvSpPr>
        <p:spPr>
          <a:xfrm>
            <a:off x="685800" y="4583388"/>
            <a:ext cx="4800600" cy="1097280"/>
          </a:xfrm>
          <a:prstGeom prst="rect">
            <a:avLst/>
          </a:prstGeom>
          <a:noFill/>
        </p:spPr>
        <p:txBody>
          <a:bodyPr wrap="square" lIns="0" tIns="0" rIns="0" bIns="0">
            <a:spAutoFit/>
          </a:bodyPr>
          <a:lstStyle/>
          <a:p>
            <a:pPr>
              <a:lnSpc>
                <a:spcPct val="115000"/>
              </a:lnSpc>
              <a:spcAft>
                <a:spcPts val="500"/>
              </a:spcAft>
              <a:defRPr sz="1800" b="0">
                <a:solidFill>
                  <a:srgbClr val="173455"/>
                </a:solidFill>
                <a:latin typeface="Microsoft YaHei"/>
              </a:defRPr>
            </a:pPr>
            <a:r>
              <a:rPr dirty="0" err="1">
                <a:ea typeface="Microsoft YaHei"/>
              </a:rPr>
              <a:t>固定模型与输入，比较修改前后的</a:t>
            </a:r>
            <a:endParaRPr dirty="0">
              <a:ea typeface="Microsoft YaHei"/>
            </a:endParaRPr>
          </a:p>
          <a:p>
            <a:pPr>
              <a:lnSpc>
                <a:spcPct val="115000"/>
              </a:lnSpc>
              <a:spcAft>
                <a:spcPts val="500"/>
              </a:spcAft>
              <a:defRPr sz="1800" b="0">
                <a:solidFill>
                  <a:srgbClr val="173455"/>
                </a:solidFill>
                <a:latin typeface="Microsoft YaHei"/>
              </a:defRPr>
            </a:pPr>
            <a:r>
              <a:rPr dirty="0" err="1">
                <a:ea typeface="Microsoft YaHei"/>
              </a:rPr>
              <a:t>子树报告：目标事实与候选归属</a:t>
            </a:r>
            <a:endParaRPr dirty="0">
              <a:ea typeface="Microsoft YaHei"/>
            </a:endParaRPr>
          </a:p>
          <a:p>
            <a:pPr>
              <a:lnSpc>
                <a:spcPct val="115000"/>
              </a:lnSpc>
              <a:spcAft>
                <a:spcPts val="500"/>
              </a:spcAft>
              <a:defRPr sz="1800" b="0">
                <a:solidFill>
                  <a:srgbClr val="173455"/>
                </a:solidFill>
                <a:latin typeface="Microsoft YaHei"/>
              </a:defRPr>
            </a:pPr>
            <a:r>
              <a:rPr dirty="0" err="1">
                <a:ea typeface="Microsoft YaHei"/>
              </a:rPr>
              <a:t>是否更准确，错误是否减少</a:t>
            </a:r>
            <a:r>
              <a:rPr dirty="0">
                <a:ea typeface="Microsoft YaHei"/>
              </a:rPr>
              <a:t>。</a:t>
            </a:r>
          </a:p>
        </p:txBody>
      </p:sp>
      <p:sp>
        <p:nvSpPr>
          <p:cNvPr id="11" name="TextBox 10"/>
          <p:cNvSpPr txBox="1"/>
          <p:nvPr/>
        </p:nvSpPr>
        <p:spPr>
          <a:xfrm>
            <a:off x="685800" y="5826972"/>
            <a:ext cx="4800600" cy="365760"/>
          </a:xfrm>
          <a:prstGeom prst="rect">
            <a:avLst/>
          </a:prstGeom>
          <a:noFill/>
        </p:spPr>
        <p:txBody>
          <a:bodyPr wrap="square" lIns="0" tIns="0" rIns="0" bIns="0">
            <a:spAutoFit/>
          </a:bodyPr>
          <a:lstStyle/>
          <a:p>
            <a:pPr>
              <a:lnSpc>
                <a:spcPct val="115000"/>
              </a:lnSpc>
              <a:spcAft>
                <a:spcPts val="500"/>
              </a:spcAft>
              <a:defRPr sz="1700" b="1">
                <a:solidFill>
                  <a:srgbClr val="377DC0"/>
                </a:solidFill>
                <a:latin typeface="Microsoft YaHei"/>
              </a:defRPr>
            </a:pPr>
            <a:r>
              <a:rPr>
                <a:ea typeface="Microsoft YaHei"/>
              </a:rPr>
              <a:t>不成立的信号</a:t>
            </a:r>
          </a:p>
        </p:txBody>
      </p:sp>
      <p:sp>
        <p:nvSpPr>
          <p:cNvPr id="12" name="TextBox 11"/>
          <p:cNvSpPr txBox="1"/>
          <p:nvPr/>
        </p:nvSpPr>
        <p:spPr>
          <a:xfrm>
            <a:off x="685800" y="6229308"/>
            <a:ext cx="4800600" cy="749808"/>
          </a:xfrm>
          <a:prstGeom prst="rect">
            <a:avLst/>
          </a:prstGeom>
          <a:noFill/>
        </p:spPr>
        <p:txBody>
          <a:bodyPr wrap="square" lIns="0" tIns="0" rIns="0" bIns="0">
            <a:spAutoFit/>
          </a:bodyPr>
          <a:lstStyle/>
          <a:p>
            <a:pPr>
              <a:lnSpc>
                <a:spcPct val="115000"/>
              </a:lnSpc>
              <a:spcAft>
                <a:spcPts val="500"/>
              </a:spcAft>
              <a:defRPr sz="1600" b="0">
                <a:solidFill>
                  <a:srgbClr val="536579"/>
                </a:solidFill>
                <a:latin typeface="Microsoft YaHei"/>
              </a:defRPr>
            </a:pPr>
            <a:r>
              <a:rPr dirty="0" err="1">
                <a:ea typeface="Microsoft YaHei"/>
              </a:rPr>
              <a:t>文字更长、检查更多</a:t>
            </a:r>
            <a:r>
              <a:rPr dirty="0">
                <a:ea typeface="Microsoft YaHei"/>
              </a:rPr>
              <a:t>，</a:t>
            </a:r>
          </a:p>
          <a:p>
            <a:pPr>
              <a:lnSpc>
                <a:spcPct val="115000"/>
              </a:lnSpc>
              <a:spcAft>
                <a:spcPts val="500"/>
              </a:spcAft>
              <a:defRPr sz="1600" b="0">
                <a:solidFill>
                  <a:srgbClr val="536579"/>
                </a:solidFill>
                <a:latin typeface="Microsoft YaHei"/>
              </a:defRPr>
            </a:pPr>
            <a:r>
              <a:rPr dirty="0" err="1">
                <a:ea typeface="Microsoft YaHei"/>
              </a:rPr>
              <a:t>但局部判断没有稳定改善</a:t>
            </a:r>
            <a:r>
              <a:rPr dirty="0">
                <a:ea typeface="Microsoft YaHei"/>
              </a:rPr>
              <a:t>。</a:t>
            </a:r>
          </a:p>
        </p:txBody>
      </p:sp>
      <p:sp>
        <p:nvSpPr>
          <p:cNvPr id="13" name="Rounded Rectangle 12"/>
          <p:cNvSpPr/>
          <p:nvPr/>
        </p:nvSpPr>
        <p:spPr>
          <a:xfrm>
            <a:off x="5943600" y="1684739"/>
            <a:ext cx="5257800" cy="5440680"/>
          </a:xfrm>
          <a:prstGeom prst="roundRect">
            <a:avLst>
              <a:gd name="adj" fmla="val 3500"/>
            </a:avLst>
          </a:prstGeom>
          <a:solidFill>
            <a:srgbClr val="F0FAF8"/>
          </a:solidFill>
          <a:ln>
            <a:solidFill>
              <a:srgbClr val="169A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72200" y="1913340"/>
            <a:ext cx="658368" cy="475488"/>
          </a:xfrm>
          <a:prstGeom prst="roundRect">
            <a:avLst>
              <a:gd name="adj" fmla="val 3500"/>
            </a:avLst>
          </a:prstGeom>
          <a:solidFill>
            <a:srgbClr val="169A94"/>
          </a:solidFill>
          <a:ln>
            <a:solidFill>
              <a:srgbClr val="169A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1959060"/>
            <a:ext cx="502920" cy="365760"/>
          </a:xfrm>
          <a:prstGeom prst="rect">
            <a:avLst/>
          </a:prstGeom>
          <a:noFill/>
        </p:spPr>
        <p:txBody>
          <a:bodyPr wrap="square" lIns="0" tIns="0" rIns="0" bIns="0">
            <a:spAutoFit/>
          </a:bodyPr>
          <a:lstStyle/>
          <a:p>
            <a:pPr>
              <a:lnSpc>
                <a:spcPct val="115000"/>
              </a:lnSpc>
              <a:spcAft>
                <a:spcPts val="500"/>
              </a:spcAft>
              <a:defRPr sz="2000" b="1">
                <a:solidFill>
                  <a:srgbClr val="FFFFFF"/>
                </a:solidFill>
                <a:latin typeface="Microsoft YaHei"/>
              </a:defRPr>
            </a:pPr>
            <a:r>
              <a:rPr>
                <a:ea typeface="Microsoft YaHei"/>
              </a:rPr>
              <a:t>H2</a:t>
            </a:r>
          </a:p>
        </p:txBody>
      </p:sp>
      <p:sp>
        <p:nvSpPr>
          <p:cNvPr id="16" name="TextBox 15"/>
          <p:cNvSpPr txBox="1"/>
          <p:nvPr/>
        </p:nvSpPr>
        <p:spPr>
          <a:xfrm>
            <a:off x="6172200" y="2571708"/>
            <a:ext cx="4800600" cy="530352"/>
          </a:xfrm>
          <a:prstGeom prst="rect">
            <a:avLst/>
          </a:prstGeom>
          <a:noFill/>
        </p:spPr>
        <p:txBody>
          <a:bodyPr wrap="square" lIns="0" tIns="0" rIns="0" bIns="0">
            <a:spAutoFit/>
          </a:bodyPr>
          <a:lstStyle/>
          <a:p>
            <a:pPr>
              <a:lnSpc>
                <a:spcPct val="115000"/>
              </a:lnSpc>
              <a:spcAft>
                <a:spcPts val="500"/>
              </a:spcAft>
              <a:defRPr sz="2300" b="1">
                <a:solidFill>
                  <a:srgbClr val="173455"/>
                </a:solidFill>
                <a:latin typeface="Microsoft YaHei"/>
              </a:defRPr>
            </a:pPr>
            <a:r>
              <a:rPr dirty="0" err="1">
                <a:ea typeface="Microsoft YaHei"/>
              </a:rPr>
              <a:t>互补报告改善全局选择</a:t>
            </a:r>
            <a:endParaRPr dirty="0">
              <a:ea typeface="Microsoft YaHei"/>
            </a:endParaRPr>
          </a:p>
        </p:txBody>
      </p:sp>
      <p:sp>
        <p:nvSpPr>
          <p:cNvPr id="17" name="TextBox 16"/>
          <p:cNvSpPr txBox="1"/>
          <p:nvPr/>
        </p:nvSpPr>
        <p:spPr>
          <a:xfrm>
            <a:off x="6172200" y="3239220"/>
            <a:ext cx="4800600" cy="795528"/>
          </a:xfrm>
          <a:prstGeom prst="rect">
            <a:avLst/>
          </a:prstGeom>
          <a:noFill/>
        </p:spPr>
        <p:txBody>
          <a:bodyPr wrap="square" lIns="0" tIns="0" rIns="0" bIns="0">
            <a:spAutoFit/>
          </a:bodyPr>
          <a:lstStyle/>
          <a:p>
            <a:pPr>
              <a:lnSpc>
                <a:spcPct val="115000"/>
              </a:lnSpc>
              <a:spcAft>
                <a:spcPts val="500"/>
              </a:spcAft>
              <a:defRPr sz="1800" b="0">
                <a:solidFill>
                  <a:srgbClr val="173455"/>
                </a:solidFill>
                <a:latin typeface="Microsoft YaHei"/>
              </a:defRPr>
            </a:pPr>
            <a:r>
              <a:rPr>
                <a:ea typeface="Microsoft YaHei"/>
              </a:rPr>
              <a:t>不同维度提供互补信息，Arbiter</a:t>
            </a:r>
          </a:p>
          <a:p>
            <a:pPr>
              <a:lnSpc>
                <a:spcPct val="115000"/>
              </a:lnSpc>
              <a:spcAft>
                <a:spcPts val="500"/>
              </a:spcAft>
              <a:defRPr sz="1800" b="0">
                <a:solidFill>
                  <a:srgbClr val="173455"/>
                </a:solidFill>
                <a:latin typeface="Microsoft YaHei"/>
              </a:defRPr>
            </a:pPr>
            <a:r>
              <a:rPr>
                <a:ea typeface="Microsoft YaHei"/>
              </a:rPr>
              <a:t>能够利用这些信息改善最终选择。</a:t>
            </a:r>
          </a:p>
        </p:txBody>
      </p:sp>
      <p:sp>
        <p:nvSpPr>
          <p:cNvPr id="18" name="TextBox 17"/>
          <p:cNvSpPr txBox="1"/>
          <p:nvPr/>
        </p:nvSpPr>
        <p:spPr>
          <a:xfrm>
            <a:off x="6172200" y="4181052"/>
            <a:ext cx="4800600" cy="365760"/>
          </a:xfrm>
          <a:prstGeom prst="rect">
            <a:avLst/>
          </a:prstGeom>
          <a:noFill/>
        </p:spPr>
        <p:txBody>
          <a:bodyPr wrap="square" lIns="0" tIns="0" rIns="0" bIns="0">
            <a:spAutoFit/>
          </a:bodyPr>
          <a:lstStyle/>
          <a:p>
            <a:pPr>
              <a:lnSpc>
                <a:spcPct val="115000"/>
              </a:lnSpc>
              <a:spcAft>
                <a:spcPts val="500"/>
              </a:spcAft>
              <a:defRPr sz="1700" b="1">
                <a:solidFill>
                  <a:srgbClr val="169A94"/>
                </a:solidFill>
                <a:latin typeface="Microsoft YaHei"/>
              </a:defRPr>
            </a:pPr>
            <a:r>
              <a:rPr>
                <a:ea typeface="Microsoft YaHei"/>
              </a:rPr>
              <a:t>如何验证</a:t>
            </a:r>
          </a:p>
        </p:txBody>
      </p:sp>
      <p:sp>
        <p:nvSpPr>
          <p:cNvPr id="19" name="TextBox 18"/>
          <p:cNvSpPr txBox="1"/>
          <p:nvPr/>
        </p:nvSpPr>
        <p:spPr>
          <a:xfrm>
            <a:off x="6172200" y="4583388"/>
            <a:ext cx="4800600" cy="1097280"/>
          </a:xfrm>
          <a:prstGeom prst="rect">
            <a:avLst/>
          </a:prstGeom>
          <a:noFill/>
        </p:spPr>
        <p:txBody>
          <a:bodyPr wrap="square" lIns="0" tIns="0" rIns="0" bIns="0">
            <a:spAutoFit/>
          </a:bodyPr>
          <a:lstStyle/>
          <a:p>
            <a:pPr>
              <a:lnSpc>
                <a:spcPct val="115000"/>
              </a:lnSpc>
              <a:spcAft>
                <a:spcPts val="500"/>
              </a:spcAft>
              <a:defRPr sz="1800" b="0">
                <a:solidFill>
                  <a:srgbClr val="173455"/>
                </a:solidFill>
                <a:latin typeface="Microsoft YaHei"/>
              </a:defRPr>
            </a:pPr>
            <a:r>
              <a:rPr>
                <a:ea typeface="Microsoft YaHei"/>
              </a:rPr>
              <a:t>固定 Arbiter，追踪子树报告的</a:t>
            </a:r>
          </a:p>
          <a:p>
            <a:pPr>
              <a:lnSpc>
                <a:spcPct val="115000"/>
              </a:lnSpc>
              <a:spcAft>
                <a:spcPts val="500"/>
              </a:spcAft>
              <a:defRPr sz="1800" b="0">
                <a:solidFill>
                  <a:srgbClr val="173455"/>
                </a:solidFill>
                <a:latin typeface="Microsoft YaHei"/>
              </a:defRPr>
            </a:pPr>
            <a:r>
              <a:rPr>
                <a:ea typeface="Microsoft YaHei"/>
              </a:rPr>
              <a:t>有效纠正是否传递到最终选择，</a:t>
            </a:r>
          </a:p>
          <a:p>
            <a:pPr>
              <a:lnSpc>
                <a:spcPct val="115000"/>
              </a:lnSpc>
              <a:spcAft>
                <a:spcPts val="500"/>
              </a:spcAft>
              <a:defRPr sz="1800" b="0">
                <a:solidFill>
                  <a:srgbClr val="173455"/>
                </a:solidFill>
                <a:latin typeface="Microsoft YaHei"/>
              </a:defRPr>
            </a:pPr>
            <a:r>
              <a:rPr>
                <a:ea typeface="Microsoft YaHei"/>
              </a:rPr>
              <a:t>同时统计新增错误。</a:t>
            </a:r>
          </a:p>
        </p:txBody>
      </p:sp>
      <p:sp>
        <p:nvSpPr>
          <p:cNvPr id="20" name="TextBox 19"/>
          <p:cNvSpPr txBox="1"/>
          <p:nvPr/>
        </p:nvSpPr>
        <p:spPr>
          <a:xfrm>
            <a:off x="6172200" y="5826972"/>
            <a:ext cx="4800600" cy="365760"/>
          </a:xfrm>
          <a:prstGeom prst="rect">
            <a:avLst/>
          </a:prstGeom>
          <a:noFill/>
        </p:spPr>
        <p:txBody>
          <a:bodyPr wrap="square" lIns="0" tIns="0" rIns="0" bIns="0">
            <a:spAutoFit/>
          </a:bodyPr>
          <a:lstStyle/>
          <a:p>
            <a:pPr>
              <a:lnSpc>
                <a:spcPct val="115000"/>
              </a:lnSpc>
              <a:spcAft>
                <a:spcPts val="500"/>
              </a:spcAft>
              <a:defRPr sz="1700" b="1">
                <a:solidFill>
                  <a:srgbClr val="169A94"/>
                </a:solidFill>
                <a:latin typeface="Microsoft YaHei"/>
              </a:defRPr>
            </a:pPr>
            <a:r>
              <a:rPr>
                <a:ea typeface="Microsoft YaHei"/>
              </a:rPr>
              <a:t>不成立的信号</a:t>
            </a:r>
          </a:p>
        </p:txBody>
      </p:sp>
      <p:sp>
        <p:nvSpPr>
          <p:cNvPr id="21" name="TextBox 20"/>
          <p:cNvSpPr txBox="1"/>
          <p:nvPr/>
        </p:nvSpPr>
        <p:spPr>
          <a:xfrm>
            <a:off x="6172200" y="6229308"/>
            <a:ext cx="4800600" cy="749808"/>
          </a:xfrm>
          <a:prstGeom prst="rect">
            <a:avLst/>
          </a:prstGeom>
          <a:noFill/>
        </p:spPr>
        <p:txBody>
          <a:bodyPr wrap="square" lIns="0" tIns="0" rIns="0" bIns="0">
            <a:spAutoFit/>
          </a:bodyPr>
          <a:lstStyle/>
          <a:p>
            <a:pPr>
              <a:lnSpc>
                <a:spcPct val="115000"/>
              </a:lnSpc>
              <a:spcAft>
                <a:spcPts val="500"/>
              </a:spcAft>
              <a:defRPr sz="1600" b="0">
                <a:solidFill>
                  <a:srgbClr val="536579"/>
                </a:solidFill>
                <a:latin typeface="Microsoft YaHei"/>
              </a:defRPr>
            </a:pPr>
            <a:r>
              <a:rPr>
                <a:ea typeface="Microsoft YaHei"/>
              </a:rPr>
              <a:t>局部报告已改善，最终选择</a:t>
            </a:r>
          </a:p>
          <a:p>
            <a:pPr>
              <a:lnSpc>
                <a:spcPct val="115000"/>
              </a:lnSpc>
              <a:spcAft>
                <a:spcPts val="500"/>
              </a:spcAft>
              <a:defRPr sz="1600" b="0">
                <a:solidFill>
                  <a:srgbClr val="536579"/>
                </a:solidFill>
                <a:latin typeface="Microsoft YaHei"/>
              </a:defRPr>
            </a:pPr>
            <a:r>
              <a:rPr>
                <a:ea typeface="Microsoft YaHei"/>
              </a:rPr>
              <a:t>却无改善，或新增错误抵消收益。</a:t>
            </a:r>
          </a:p>
        </p:txBody>
      </p:sp>
      <p:sp>
        <p:nvSpPr>
          <p:cNvPr id="22" name="Rounded Rectangle 21"/>
          <p:cNvSpPr/>
          <p:nvPr/>
        </p:nvSpPr>
        <p:spPr>
          <a:xfrm>
            <a:off x="11430000" y="1684739"/>
            <a:ext cx="5257800" cy="5440680"/>
          </a:xfrm>
          <a:prstGeom prst="roundRect">
            <a:avLst>
              <a:gd name="adj" fmla="val 3500"/>
            </a:avLst>
          </a:prstGeom>
          <a:solidFill>
            <a:srgbClr val="FFF8F1"/>
          </a:solidFill>
          <a:ln>
            <a:solidFill>
              <a:srgbClr val="CA7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1658600" y="1913340"/>
            <a:ext cx="658368" cy="475488"/>
          </a:xfrm>
          <a:prstGeom prst="roundRect">
            <a:avLst>
              <a:gd name="adj" fmla="val 3500"/>
            </a:avLst>
          </a:prstGeom>
          <a:solidFill>
            <a:srgbClr val="CA7534"/>
          </a:solidFill>
          <a:ln>
            <a:solidFill>
              <a:srgbClr val="CA7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750040" y="1959060"/>
            <a:ext cx="502920" cy="365760"/>
          </a:xfrm>
          <a:prstGeom prst="rect">
            <a:avLst/>
          </a:prstGeom>
          <a:noFill/>
        </p:spPr>
        <p:txBody>
          <a:bodyPr wrap="square" lIns="0" tIns="0" rIns="0" bIns="0">
            <a:spAutoFit/>
          </a:bodyPr>
          <a:lstStyle/>
          <a:p>
            <a:pPr>
              <a:lnSpc>
                <a:spcPct val="115000"/>
              </a:lnSpc>
              <a:spcAft>
                <a:spcPts val="500"/>
              </a:spcAft>
              <a:defRPr sz="2000" b="1">
                <a:solidFill>
                  <a:srgbClr val="FFFFFF"/>
                </a:solidFill>
                <a:latin typeface="Microsoft YaHei"/>
              </a:defRPr>
            </a:pPr>
            <a:r>
              <a:rPr>
                <a:ea typeface="Microsoft YaHei"/>
              </a:rPr>
              <a:t>H3</a:t>
            </a:r>
          </a:p>
        </p:txBody>
      </p:sp>
      <p:sp>
        <p:nvSpPr>
          <p:cNvPr id="25" name="TextBox 24"/>
          <p:cNvSpPr txBox="1"/>
          <p:nvPr/>
        </p:nvSpPr>
        <p:spPr>
          <a:xfrm>
            <a:off x="11658600" y="2571708"/>
            <a:ext cx="4800600" cy="530352"/>
          </a:xfrm>
          <a:prstGeom prst="rect">
            <a:avLst/>
          </a:prstGeom>
          <a:noFill/>
        </p:spPr>
        <p:txBody>
          <a:bodyPr wrap="square" lIns="0" tIns="0" rIns="0" bIns="0">
            <a:spAutoFit/>
          </a:bodyPr>
          <a:lstStyle/>
          <a:p>
            <a:pPr>
              <a:lnSpc>
                <a:spcPct val="115000"/>
              </a:lnSpc>
              <a:spcAft>
                <a:spcPts val="500"/>
              </a:spcAft>
              <a:defRPr sz="2300" b="1">
                <a:solidFill>
                  <a:srgbClr val="173455"/>
                </a:solidFill>
                <a:latin typeface="Microsoft YaHei"/>
              </a:defRPr>
            </a:pPr>
            <a:r>
              <a:rPr dirty="0" err="1">
                <a:ea typeface="Microsoft YaHei"/>
              </a:rPr>
              <a:t>系统反馈驱动可迁移演化</a:t>
            </a:r>
            <a:endParaRPr dirty="0">
              <a:ea typeface="Microsoft YaHei"/>
            </a:endParaRPr>
          </a:p>
        </p:txBody>
      </p:sp>
      <p:sp>
        <p:nvSpPr>
          <p:cNvPr id="26" name="TextBox 25"/>
          <p:cNvSpPr txBox="1"/>
          <p:nvPr/>
        </p:nvSpPr>
        <p:spPr>
          <a:xfrm>
            <a:off x="11658600" y="3239220"/>
            <a:ext cx="4800600" cy="795528"/>
          </a:xfrm>
          <a:prstGeom prst="rect">
            <a:avLst/>
          </a:prstGeom>
          <a:noFill/>
        </p:spPr>
        <p:txBody>
          <a:bodyPr wrap="square" lIns="0" tIns="0" rIns="0" bIns="0">
            <a:spAutoFit/>
          </a:bodyPr>
          <a:lstStyle/>
          <a:p>
            <a:pPr>
              <a:lnSpc>
                <a:spcPct val="115000"/>
              </a:lnSpc>
              <a:spcAft>
                <a:spcPts val="500"/>
              </a:spcAft>
              <a:defRPr sz="1800" b="0">
                <a:solidFill>
                  <a:srgbClr val="173455"/>
                </a:solidFill>
                <a:latin typeface="Microsoft YaHei"/>
              </a:defRPr>
            </a:pPr>
            <a:r>
              <a:rPr dirty="0" err="1">
                <a:ea typeface="Microsoft YaHei"/>
              </a:rPr>
              <a:t>系统错误能够指导相关子树修改</a:t>
            </a:r>
            <a:r>
              <a:rPr dirty="0">
                <a:ea typeface="Microsoft YaHei"/>
              </a:rPr>
              <a:t>，</a:t>
            </a:r>
          </a:p>
          <a:p>
            <a:pPr>
              <a:lnSpc>
                <a:spcPct val="115000"/>
              </a:lnSpc>
              <a:spcAft>
                <a:spcPts val="500"/>
              </a:spcAft>
              <a:defRPr sz="1800" b="0">
                <a:solidFill>
                  <a:srgbClr val="173455"/>
                </a:solidFill>
                <a:latin typeface="Microsoft YaHei"/>
              </a:defRPr>
            </a:pPr>
            <a:r>
              <a:rPr dirty="0" err="1">
                <a:ea typeface="Microsoft YaHei"/>
              </a:rPr>
              <a:t>形成可迁移的评价标准</a:t>
            </a:r>
            <a:r>
              <a:rPr dirty="0">
                <a:ea typeface="Microsoft YaHei"/>
              </a:rPr>
              <a:t>。</a:t>
            </a:r>
          </a:p>
        </p:txBody>
      </p:sp>
      <p:sp>
        <p:nvSpPr>
          <p:cNvPr id="27" name="TextBox 26"/>
          <p:cNvSpPr txBox="1"/>
          <p:nvPr/>
        </p:nvSpPr>
        <p:spPr>
          <a:xfrm>
            <a:off x="11658600" y="4181052"/>
            <a:ext cx="4800600" cy="365760"/>
          </a:xfrm>
          <a:prstGeom prst="rect">
            <a:avLst/>
          </a:prstGeom>
          <a:noFill/>
        </p:spPr>
        <p:txBody>
          <a:bodyPr wrap="square" lIns="0" tIns="0" rIns="0" bIns="0">
            <a:spAutoFit/>
          </a:bodyPr>
          <a:lstStyle/>
          <a:p>
            <a:pPr>
              <a:lnSpc>
                <a:spcPct val="115000"/>
              </a:lnSpc>
              <a:spcAft>
                <a:spcPts val="500"/>
              </a:spcAft>
              <a:defRPr sz="1700" b="1">
                <a:solidFill>
                  <a:srgbClr val="CA7534"/>
                </a:solidFill>
                <a:latin typeface="Microsoft YaHei"/>
              </a:defRPr>
            </a:pPr>
            <a:r>
              <a:rPr dirty="0" err="1">
                <a:ea typeface="Microsoft YaHei"/>
              </a:rPr>
              <a:t>如何验证</a:t>
            </a:r>
            <a:endParaRPr dirty="0">
              <a:ea typeface="Microsoft YaHei"/>
            </a:endParaRPr>
          </a:p>
        </p:txBody>
      </p:sp>
      <p:sp>
        <p:nvSpPr>
          <p:cNvPr id="28" name="TextBox 27"/>
          <p:cNvSpPr txBox="1"/>
          <p:nvPr/>
        </p:nvSpPr>
        <p:spPr>
          <a:xfrm>
            <a:off x="11658600" y="4583388"/>
            <a:ext cx="4800600" cy="1097280"/>
          </a:xfrm>
          <a:prstGeom prst="rect">
            <a:avLst/>
          </a:prstGeom>
          <a:noFill/>
        </p:spPr>
        <p:txBody>
          <a:bodyPr wrap="square" lIns="0" tIns="0" rIns="0" bIns="0">
            <a:spAutoFit/>
          </a:bodyPr>
          <a:lstStyle/>
          <a:p>
            <a:pPr>
              <a:lnSpc>
                <a:spcPct val="115000"/>
              </a:lnSpc>
              <a:spcAft>
                <a:spcPts val="500"/>
              </a:spcAft>
              <a:defRPr sz="1800" b="0">
                <a:solidFill>
                  <a:srgbClr val="173455"/>
                </a:solidFill>
                <a:latin typeface="Microsoft YaHei"/>
              </a:defRPr>
            </a:pPr>
            <a:r>
              <a:rPr>
                <a:ea typeface="Microsoft YaHei"/>
              </a:rPr>
              <a:t>检查反馈指向、实际修改和目标</a:t>
            </a:r>
          </a:p>
          <a:p>
            <a:pPr>
              <a:lnSpc>
                <a:spcPct val="115000"/>
              </a:lnSpc>
              <a:spcAft>
                <a:spcPts val="500"/>
              </a:spcAft>
              <a:defRPr sz="1800" b="0">
                <a:solidFill>
                  <a:srgbClr val="173455"/>
                </a:solidFill>
                <a:latin typeface="Microsoft YaHei"/>
              </a:defRPr>
            </a:pPr>
            <a:r>
              <a:rPr>
                <a:ea typeface="Microsoft YaHei"/>
              </a:rPr>
              <a:t>错误之间的联系；在独立样本上</a:t>
            </a:r>
          </a:p>
          <a:p>
            <a:pPr>
              <a:lnSpc>
                <a:spcPct val="115000"/>
              </a:lnSpc>
              <a:spcAft>
                <a:spcPts val="500"/>
              </a:spcAft>
              <a:defRPr sz="1800" b="0">
                <a:solidFill>
                  <a:srgbClr val="173455"/>
                </a:solidFill>
                <a:latin typeface="Microsoft YaHei"/>
              </a:defRPr>
            </a:pPr>
            <a:r>
              <a:rPr>
                <a:ea typeface="Microsoft YaHei"/>
              </a:rPr>
              <a:t>验证收益能否保留。</a:t>
            </a:r>
          </a:p>
        </p:txBody>
      </p:sp>
      <p:sp>
        <p:nvSpPr>
          <p:cNvPr id="29" name="TextBox 28"/>
          <p:cNvSpPr txBox="1"/>
          <p:nvPr/>
        </p:nvSpPr>
        <p:spPr>
          <a:xfrm>
            <a:off x="11658600" y="5826972"/>
            <a:ext cx="4800600" cy="365760"/>
          </a:xfrm>
          <a:prstGeom prst="rect">
            <a:avLst/>
          </a:prstGeom>
          <a:noFill/>
        </p:spPr>
        <p:txBody>
          <a:bodyPr wrap="square" lIns="0" tIns="0" rIns="0" bIns="0">
            <a:spAutoFit/>
          </a:bodyPr>
          <a:lstStyle/>
          <a:p>
            <a:pPr>
              <a:lnSpc>
                <a:spcPct val="115000"/>
              </a:lnSpc>
              <a:spcAft>
                <a:spcPts val="500"/>
              </a:spcAft>
              <a:defRPr sz="1700" b="1">
                <a:solidFill>
                  <a:srgbClr val="CA7534"/>
                </a:solidFill>
                <a:latin typeface="Microsoft YaHei"/>
              </a:defRPr>
            </a:pPr>
            <a:r>
              <a:rPr>
                <a:ea typeface="Microsoft YaHei"/>
              </a:rPr>
              <a:t>不成立的信号</a:t>
            </a:r>
          </a:p>
        </p:txBody>
      </p:sp>
      <p:sp>
        <p:nvSpPr>
          <p:cNvPr id="30" name="TextBox 29"/>
          <p:cNvSpPr txBox="1"/>
          <p:nvPr/>
        </p:nvSpPr>
        <p:spPr>
          <a:xfrm>
            <a:off x="11658600" y="6229308"/>
            <a:ext cx="4800600" cy="749808"/>
          </a:xfrm>
          <a:prstGeom prst="rect">
            <a:avLst/>
          </a:prstGeom>
          <a:noFill/>
        </p:spPr>
        <p:txBody>
          <a:bodyPr wrap="square" lIns="0" tIns="0" rIns="0" bIns="0">
            <a:spAutoFit/>
          </a:bodyPr>
          <a:lstStyle/>
          <a:p>
            <a:pPr>
              <a:lnSpc>
                <a:spcPct val="115000"/>
              </a:lnSpc>
              <a:spcAft>
                <a:spcPts val="500"/>
              </a:spcAft>
              <a:defRPr sz="1600" b="0">
                <a:solidFill>
                  <a:srgbClr val="536579"/>
                </a:solidFill>
                <a:latin typeface="Microsoft YaHei"/>
              </a:defRPr>
            </a:pPr>
            <a:r>
              <a:rPr>
                <a:ea typeface="Microsoft YaHei"/>
              </a:rPr>
              <a:t>规则只解释已见错误，</a:t>
            </a:r>
          </a:p>
          <a:p>
            <a:pPr>
              <a:lnSpc>
                <a:spcPct val="115000"/>
              </a:lnSpc>
              <a:spcAft>
                <a:spcPts val="500"/>
              </a:spcAft>
              <a:defRPr sz="1600" b="0">
                <a:solidFill>
                  <a:srgbClr val="536579"/>
                </a:solidFill>
                <a:latin typeface="Microsoft YaHei"/>
              </a:defRPr>
            </a:pPr>
            <a:r>
              <a:rPr>
                <a:ea typeface="Microsoft YaHei"/>
              </a:rPr>
              <a:t>独立样本上无收益或出现退化。</a:t>
            </a:r>
          </a:p>
        </p:txBody>
      </p:sp>
      <p:sp>
        <p:nvSpPr>
          <p:cNvPr id="31" name="Rounded Rectangle 30"/>
          <p:cNvSpPr/>
          <p:nvPr/>
        </p:nvSpPr>
        <p:spPr>
          <a:xfrm>
            <a:off x="457200" y="7417854"/>
            <a:ext cx="16230600" cy="758952"/>
          </a:xfrm>
          <a:prstGeom prst="roundRect">
            <a:avLst>
              <a:gd name="adj" fmla="val 3500"/>
            </a:avLst>
          </a:prstGeom>
          <a:solidFill>
            <a:srgbClr val="EEF3F9"/>
          </a:solidFill>
          <a:ln>
            <a:solidFill>
              <a:srgbClr val="EEF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7634720"/>
            <a:ext cx="15636240" cy="411480"/>
          </a:xfrm>
          <a:prstGeom prst="rect">
            <a:avLst/>
          </a:prstGeom>
          <a:noFill/>
        </p:spPr>
        <p:txBody>
          <a:bodyPr wrap="square" lIns="0" tIns="0" rIns="0" bIns="0">
            <a:spAutoFit/>
          </a:bodyPr>
          <a:lstStyle/>
          <a:p>
            <a:pPr>
              <a:lnSpc>
                <a:spcPct val="115000"/>
              </a:lnSpc>
              <a:spcAft>
                <a:spcPts val="500"/>
              </a:spcAft>
              <a:defRPr sz="2100" b="1">
                <a:solidFill>
                  <a:srgbClr val="173455"/>
                </a:solidFill>
                <a:latin typeface="Microsoft YaHei"/>
              </a:defRPr>
            </a:pPr>
            <a:r>
              <a:rPr dirty="0" err="1">
                <a:ea typeface="Microsoft YaHei"/>
              </a:rPr>
              <a:t>验证主线：失败模式</a:t>
            </a:r>
            <a:r>
              <a:rPr dirty="0">
                <a:ea typeface="Microsoft YaHei"/>
              </a:rPr>
              <a:t>  →  Rubric </a:t>
            </a:r>
            <a:r>
              <a:rPr dirty="0" err="1">
                <a:ea typeface="Microsoft YaHei"/>
              </a:rPr>
              <a:t>修改</a:t>
            </a:r>
            <a:r>
              <a:rPr dirty="0">
                <a:ea typeface="Microsoft YaHei"/>
              </a:rPr>
              <a:t>  →  </a:t>
            </a:r>
            <a:r>
              <a:rPr dirty="0" err="1">
                <a:ea typeface="Microsoft YaHei"/>
              </a:rPr>
              <a:t>子树报告改善</a:t>
            </a:r>
            <a:r>
              <a:rPr dirty="0">
                <a:ea typeface="Microsoft YaHei"/>
              </a:rPr>
              <a:t>  →  </a:t>
            </a:r>
            <a:r>
              <a:rPr dirty="0" err="1">
                <a:ea typeface="Microsoft YaHei"/>
              </a:rPr>
              <a:t>最终判断改善</a:t>
            </a:r>
            <a:r>
              <a:rPr dirty="0">
                <a:ea typeface="Microsoft YaHei"/>
              </a:rPr>
              <a:t>  →  </a:t>
            </a:r>
            <a:r>
              <a:rPr dirty="0" err="1">
                <a:ea typeface="Microsoft YaHei"/>
              </a:rPr>
              <a:t>独立样本验证</a:t>
            </a:r>
            <a:endParaRPr dirty="0">
              <a:ea typeface="Microsoft YaHei"/>
            </a:endParaRPr>
          </a:p>
        </p:txBody>
      </p:sp>
      <p:sp>
        <p:nvSpPr>
          <p:cNvPr id="33" name="TextBox 32"/>
          <p:cNvSpPr txBox="1"/>
          <p:nvPr/>
        </p:nvSpPr>
        <p:spPr>
          <a:xfrm>
            <a:off x="457200" y="8439912"/>
            <a:ext cx="16230600" cy="429768"/>
          </a:xfrm>
          <a:prstGeom prst="rect">
            <a:avLst/>
          </a:prstGeom>
          <a:noFill/>
        </p:spPr>
        <p:txBody>
          <a:bodyPr wrap="square" lIns="0" tIns="0" rIns="0" bIns="0">
            <a:spAutoFit/>
          </a:bodyPr>
          <a:lstStyle/>
          <a:p>
            <a:pPr>
              <a:lnSpc>
                <a:spcPct val="115000"/>
              </a:lnSpc>
              <a:spcAft>
                <a:spcPts val="500"/>
              </a:spcAft>
              <a:defRPr sz="1700" b="0">
                <a:solidFill>
                  <a:srgbClr val="536579"/>
                </a:solidFill>
                <a:latin typeface="Microsoft YaHei"/>
              </a:defRPr>
            </a:pPr>
            <a:r>
              <a:rPr>
                <a:ea typeface="Microsoft YaHei"/>
              </a:rPr>
              <a:t>设计边界：五个根维度固定，子节点可编辑；每个子树一次调用；Gold 仅用于评估与反思。</a:t>
            </a:r>
          </a:p>
        </p:txBody>
      </p:sp>
      <p:sp>
        <p:nvSpPr>
          <p:cNvPr id="34" name="TextBox 33"/>
          <p:cNvSpPr txBox="1"/>
          <p:nvPr/>
        </p:nvSpPr>
        <p:spPr>
          <a:xfrm>
            <a:off x="457200" y="8979408"/>
            <a:ext cx="16230600" cy="329184"/>
          </a:xfrm>
          <a:prstGeom prst="rect">
            <a:avLst/>
          </a:prstGeom>
          <a:noFill/>
        </p:spPr>
        <p:txBody>
          <a:bodyPr wrap="square" lIns="0" tIns="0" rIns="0" bIns="0">
            <a:spAutoFit/>
          </a:bodyPr>
          <a:lstStyle/>
          <a:p>
            <a:pPr>
              <a:lnSpc>
                <a:spcPct val="115000"/>
              </a:lnSpc>
              <a:spcAft>
                <a:spcPts val="500"/>
              </a:spcAft>
              <a:defRPr sz="1600" b="0">
                <a:solidFill>
                  <a:srgbClr val="536579"/>
                </a:solidFill>
                <a:latin typeface="Microsoft YaHei"/>
              </a:defRPr>
            </a:pPr>
            <a:r>
              <a:rPr>
                <a:ea typeface="Microsoft YaHei"/>
              </a:rPr>
              <a:t>状态：以上均为待验证假设。Discovery Strict ACC 提升是候选接受条件，不等同于泛化成立。</a:t>
            </a:r>
          </a:p>
        </p:txBody>
      </p:sp>
    </p:spTree>
    <p:extLst>
      <p:ext uri="{BB962C8B-B14F-4D97-AF65-F5344CB8AC3E}">
        <p14:creationId xmlns:p14="http://schemas.microsoft.com/office/powerpoint/2010/main" val="4242190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5544800" cy="246221"/>
          </a:xfrm>
          <a:prstGeom prst="rect">
            <a:avLst/>
          </a:prstGeom>
          <a:noFill/>
        </p:spPr>
        <p:txBody>
          <a:bodyPr wrap="square" lIns="18288" tIns="0" rIns="18288" bIns="0">
            <a:spAutoFit/>
          </a:bodyPr>
          <a:lstStyle/>
          <a:p>
            <a:pPr algn="l">
              <a:spcAft>
                <a:spcPts val="900"/>
              </a:spcAft>
              <a:defRPr sz="1600" b="1">
                <a:solidFill>
                  <a:srgbClr val="119D96"/>
                </a:solidFill>
                <a:latin typeface="Microsoft YaHei"/>
              </a:defRPr>
            </a:pPr>
            <a:r>
              <a:rPr dirty="0" err="1"/>
              <a:t>实验结果</a:t>
            </a:r>
            <a:endParaRPr dirty="0"/>
          </a:p>
        </p:txBody>
      </p:sp>
      <p:sp>
        <p:nvSpPr>
          <p:cNvPr id="3" name="TextBox 2"/>
          <p:cNvSpPr txBox="1"/>
          <p:nvPr/>
        </p:nvSpPr>
        <p:spPr>
          <a:xfrm>
            <a:off x="502920" y="914400"/>
            <a:ext cx="16184880" cy="685800"/>
          </a:xfrm>
          <a:prstGeom prst="rect">
            <a:avLst/>
          </a:prstGeom>
          <a:noFill/>
        </p:spPr>
        <p:txBody>
          <a:bodyPr wrap="square" lIns="18288" tIns="0" rIns="18288" bIns="0">
            <a:spAutoFit/>
          </a:bodyPr>
          <a:lstStyle/>
          <a:p>
            <a:pPr algn="l">
              <a:spcAft>
                <a:spcPts val="900"/>
              </a:spcAft>
              <a:defRPr sz="3300" b="1">
                <a:solidFill>
                  <a:srgbClr val="16345A"/>
                </a:solidFill>
                <a:latin typeface="Microsoft YaHei"/>
              </a:defRPr>
            </a:pPr>
            <a:r>
              <a:t>VLRB 结果总览：同时记录 Rubric、准确率与覆盖率</a:t>
            </a:r>
          </a:p>
        </p:txBody>
      </p:sp>
      <p:sp>
        <p:nvSpPr>
          <p:cNvPr id="4" name="TextBox 3"/>
          <p:cNvSpPr txBox="1"/>
          <p:nvPr/>
        </p:nvSpPr>
        <p:spPr>
          <a:xfrm>
            <a:off x="437532" y="1585448"/>
            <a:ext cx="16093440" cy="999313"/>
          </a:xfrm>
          <a:prstGeom prst="rect">
            <a:avLst/>
          </a:prstGeom>
          <a:noFill/>
        </p:spPr>
        <p:txBody>
          <a:bodyPr wrap="square" lIns="18288" tIns="0" rIns="18288" bIns="0">
            <a:spAutoFit/>
          </a:bodyPr>
          <a:lstStyle/>
          <a:p>
            <a:pPr algn="l">
              <a:lnSpc>
                <a:spcPct val="150000"/>
              </a:lnSpc>
              <a:spcAft>
                <a:spcPts val="900"/>
              </a:spcAft>
              <a:defRPr sz="2300" b="0">
                <a:solidFill>
                  <a:srgbClr val="586E87"/>
                </a:solidFill>
                <a:latin typeface="Microsoft YaHei"/>
              </a:defRPr>
            </a:pPr>
            <a:r>
              <a:rPr lang="zh-CN" altLang="en-US" dirty="0"/>
              <a:t>历史显式递归实验：使用子准则多数投票递归的聚合方式来做演化</a:t>
            </a:r>
            <a:br>
              <a:rPr lang="en-US" dirty="0"/>
            </a:br>
            <a:r>
              <a:rPr dirty="0" err="1"/>
              <a:t>当前两行使用本次初始化与演化后的</a:t>
            </a:r>
            <a:r>
              <a:rPr dirty="0"/>
              <a:t> </a:t>
            </a:r>
            <a:r>
              <a:rPr dirty="0" err="1"/>
              <a:t>Rubric。</a:t>
            </a:r>
            <a:r>
              <a:rPr lang="en-US" altLang="zh-CN" dirty="0" err="1"/>
              <a:t>Manager</a:t>
            </a:r>
            <a:r>
              <a:rPr lang="zh-CN" altLang="en-US" dirty="0"/>
              <a:t>都是</a:t>
            </a:r>
            <a:r>
              <a:rPr lang="en-US" altLang="zh-CN" dirty="0"/>
              <a:t>Qwen3.5 27B</a:t>
            </a:r>
            <a:endParaRPr dirty="0"/>
          </a:p>
        </p:txBody>
      </p:sp>
      <p:sp>
        <p:nvSpPr>
          <p:cNvPr id="5" name="Rounded Rectangle 4"/>
          <p:cNvSpPr/>
          <p:nvPr/>
        </p:nvSpPr>
        <p:spPr>
          <a:xfrm>
            <a:off x="502920" y="2743200"/>
            <a:ext cx="16139159" cy="685800"/>
          </a:xfrm>
          <a:prstGeom prst="roundRect">
            <a:avLst>
              <a:gd name="adj" fmla="val 8000"/>
            </a:avLst>
          </a:prstGeom>
          <a:solidFill>
            <a:srgbClr val="163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2926080"/>
            <a:ext cx="3593592"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方案</a:t>
            </a:r>
          </a:p>
        </p:txBody>
      </p:sp>
      <p:sp>
        <p:nvSpPr>
          <p:cNvPr id="7" name="TextBox 6"/>
          <p:cNvSpPr txBox="1"/>
          <p:nvPr/>
        </p:nvSpPr>
        <p:spPr>
          <a:xfrm>
            <a:off x="4416552" y="2926080"/>
            <a:ext cx="2770632"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Rubric</a:t>
            </a:r>
          </a:p>
        </p:txBody>
      </p:sp>
      <p:sp>
        <p:nvSpPr>
          <p:cNvPr id="8" name="TextBox 7"/>
          <p:cNvSpPr txBox="1"/>
          <p:nvPr/>
        </p:nvSpPr>
        <p:spPr>
          <a:xfrm>
            <a:off x="7388352" y="2926080"/>
            <a:ext cx="1078992"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正确数</a:t>
            </a:r>
          </a:p>
        </p:txBody>
      </p:sp>
      <p:sp>
        <p:nvSpPr>
          <p:cNvPr id="9" name="TextBox 8"/>
          <p:cNvSpPr txBox="1"/>
          <p:nvPr/>
        </p:nvSpPr>
        <p:spPr>
          <a:xfrm>
            <a:off x="8668512" y="2926080"/>
            <a:ext cx="1719072"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Strict ACC¹</a:t>
            </a:r>
          </a:p>
        </p:txBody>
      </p:sp>
      <p:sp>
        <p:nvSpPr>
          <p:cNvPr id="10" name="TextBox 9"/>
          <p:cNvSpPr txBox="1"/>
          <p:nvPr/>
        </p:nvSpPr>
        <p:spPr>
          <a:xfrm>
            <a:off x="10588752" y="2926080"/>
            <a:ext cx="1901951"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Overall ACC²</a:t>
            </a:r>
          </a:p>
        </p:txBody>
      </p:sp>
      <p:sp>
        <p:nvSpPr>
          <p:cNvPr id="11" name="TextBox 10"/>
          <p:cNvSpPr txBox="1"/>
          <p:nvPr/>
        </p:nvSpPr>
        <p:spPr>
          <a:xfrm>
            <a:off x="12691872" y="2926080"/>
            <a:ext cx="1901951"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Macro ACC²</a:t>
            </a:r>
          </a:p>
        </p:txBody>
      </p:sp>
      <p:sp>
        <p:nvSpPr>
          <p:cNvPr id="12" name="TextBox 11"/>
          <p:cNvSpPr txBox="1"/>
          <p:nvPr/>
        </p:nvSpPr>
        <p:spPr>
          <a:xfrm>
            <a:off x="14794992" y="2926080"/>
            <a:ext cx="1764792" cy="420624"/>
          </a:xfrm>
          <a:prstGeom prst="rect">
            <a:avLst/>
          </a:prstGeom>
          <a:noFill/>
        </p:spPr>
        <p:txBody>
          <a:bodyPr wrap="square" lIns="18288" tIns="0" rIns="18288" bIns="0">
            <a:spAutoFit/>
          </a:bodyPr>
          <a:lstStyle/>
          <a:p>
            <a:pPr algn="l">
              <a:spcAft>
                <a:spcPts val="900"/>
              </a:spcAft>
              <a:defRPr sz="1800" b="1">
                <a:solidFill>
                  <a:srgbClr val="FFFFFF"/>
                </a:solidFill>
                <a:latin typeface="Microsoft YaHei"/>
              </a:defRPr>
            </a:pPr>
            <a:r>
              <a:t>Coverage</a:t>
            </a:r>
          </a:p>
        </p:txBody>
      </p:sp>
      <p:sp>
        <p:nvSpPr>
          <p:cNvPr id="13" name="Rounded Rectangle 12"/>
          <p:cNvSpPr/>
          <p:nvPr/>
        </p:nvSpPr>
        <p:spPr>
          <a:xfrm>
            <a:off x="502920" y="3465576"/>
            <a:ext cx="16139159" cy="685800"/>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 y="3648456"/>
            <a:ext cx="3593592" cy="276999"/>
          </a:xfrm>
          <a:prstGeom prst="rect">
            <a:avLst/>
          </a:prstGeom>
          <a:noFill/>
        </p:spPr>
        <p:txBody>
          <a:bodyPr wrap="square" lIns="18288" tIns="0" rIns="18288" bIns="0">
            <a:spAutoFit/>
          </a:bodyPr>
          <a:lstStyle/>
          <a:p>
            <a:pPr algn="l">
              <a:spcAft>
                <a:spcPts val="900"/>
              </a:spcAft>
              <a:defRPr sz="1800" b="1">
                <a:solidFill>
                  <a:srgbClr val="16345A"/>
                </a:solidFill>
                <a:latin typeface="Microsoft YaHei"/>
              </a:defRPr>
            </a:pPr>
            <a:r>
              <a:rPr dirty="0" err="1"/>
              <a:t>历史显式递归</a:t>
            </a:r>
            <a:endParaRPr dirty="0"/>
          </a:p>
        </p:txBody>
      </p:sp>
      <p:sp>
        <p:nvSpPr>
          <p:cNvPr id="15" name="TextBox 14"/>
          <p:cNvSpPr txBox="1"/>
          <p:nvPr/>
        </p:nvSpPr>
        <p:spPr>
          <a:xfrm>
            <a:off x="4416552" y="3648456"/>
            <a:ext cx="277063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dirty="0" err="1"/>
              <a:t>历史完整</a:t>
            </a:r>
            <a:r>
              <a:rPr dirty="0"/>
              <a:t> · 28 </a:t>
            </a:r>
            <a:r>
              <a:rPr dirty="0" err="1"/>
              <a:t>节点</a:t>
            </a:r>
            <a:endParaRPr dirty="0"/>
          </a:p>
        </p:txBody>
      </p:sp>
      <p:sp>
        <p:nvSpPr>
          <p:cNvPr id="16" name="TextBox 15"/>
          <p:cNvSpPr txBox="1"/>
          <p:nvPr/>
        </p:nvSpPr>
        <p:spPr>
          <a:xfrm>
            <a:off x="7388352" y="3648456"/>
            <a:ext cx="10789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dirty="0"/>
              <a:t>886</a:t>
            </a:r>
          </a:p>
        </p:txBody>
      </p:sp>
      <p:sp>
        <p:nvSpPr>
          <p:cNvPr id="17" name="TextBox 16"/>
          <p:cNvSpPr txBox="1"/>
          <p:nvPr/>
        </p:nvSpPr>
        <p:spPr>
          <a:xfrm>
            <a:off x="8668512" y="3648456"/>
            <a:ext cx="171907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dirty="0"/>
              <a:t>71.05%</a:t>
            </a:r>
          </a:p>
        </p:txBody>
      </p:sp>
      <p:sp>
        <p:nvSpPr>
          <p:cNvPr id="18" name="TextBox 17"/>
          <p:cNvSpPr txBox="1"/>
          <p:nvPr/>
        </p:nvSpPr>
        <p:spPr>
          <a:xfrm>
            <a:off x="10588752" y="3648456"/>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71.39%</a:t>
            </a:r>
          </a:p>
        </p:txBody>
      </p:sp>
      <p:sp>
        <p:nvSpPr>
          <p:cNvPr id="19" name="TextBox 18"/>
          <p:cNvSpPr txBox="1"/>
          <p:nvPr/>
        </p:nvSpPr>
        <p:spPr>
          <a:xfrm>
            <a:off x="12691872" y="3648456"/>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dirty="0"/>
              <a:t>66.09%</a:t>
            </a:r>
          </a:p>
        </p:txBody>
      </p:sp>
      <p:sp>
        <p:nvSpPr>
          <p:cNvPr id="20" name="TextBox 19"/>
          <p:cNvSpPr txBox="1"/>
          <p:nvPr/>
        </p:nvSpPr>
        <p:spPr>
          <a:xfrm>
            <a:off x="14794992" y="3648456"/>
            <a:ext cx="17647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99.52%</a:t>
            </a:r>
          </a:p>
        </p:txBody>
      </p:sp>
      <p:sp>
        <p:nvSpPr>
          <p:cNvPr id="21" name="Rounded Rectangle 20"/>
          <p:cNvSpPr/>
          <p:nvPr/>
        </p:nvSpPr>
        <p:spPr>
          <a:xfrm>
            <a:off x="502920" y="4187952"/>
            <a:ext cx="16139159" cy="685800"/>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4370832"/>
            <a:ext cx="3593592" cy="420624"/>
          </a:xfrm>
          <a:prstGeom prst="rect">
            <a:avLst/>
          </a:prstGeom>
          <a:noFill/>
        </p:spPr>
        <p:txBody>
          <a:bodyPr wrap="square" lIns="18288" tIns="0" rIns="18288" bIns="0">
            <a:spAutoFit/>
          </a:bodyPr>
          <a:lstStyle/>
          <a:p>
            <a:pPr algn="l">
              <a:spcAft>
                <a:spcPts val="900"/>
              </a:spcAft>
              <a:defRPr sz="1800" b="1">
                <a:solidFill>
                  <a:srgbClr val="16345A"/>
                </a:solidFill>
                <a:latin typeface="Microsoft YaHei"/>
              </a:defRPr>
            </a:pPr>
            <a:r>
              <a:rPr dirty="0" err="1"/>
              <a:t>历史</a:t>
            </a:r>
            <a:r>
              <a:rPr dirty="0"/>
              <a:t> Subtree + Arbiter</a:t>
            </a:r>
          </a:p>
        </p:txBody>
      </p:sp>
      <p:sp>
        <p:nvSpPr>
          <p:cNvPr id="23" name="TextBox 22"/>
          <p:cNvSpPr txBox="1"/>
          <p:nvPr/>
        </p:nvSpPr>
        <p:spPr>
          <a:xfrm>
            <a:off x="4416552" y="4370832"/>
            <a:ext cx="2770632" cy="276999"/>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lang="zh-CN" altLang="en-US" dirty="0"/>
              <a:t>同上</a:t>
            </a:r>
            <a:r>
              <a:rPr dirty="0"/>
              <a:t>· 28 </a:t>
            </a:r>
            <a:r>
              <a:rPr dirty="0" err="1"/>
              <a:t>节点</a:t>
            </a:r>
            <a:endParaRPr dirty="0"/>
          </a:p>
        </p:txBody>
      </p:sp>
      <p:sp>
        <p:nvSpPr>
          <p:cNvPr id="24" name="TextBox 23"/>
          <p:cNvSpPr txBox="1"/>
          <p:nvPr/>
        </p:nvSpPr>
        <p:spPr>
          <a:xfrm>
            <a:off x="7388352" y="4370832"/>
            <a:ext cx="10789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879</a:t>
            </a:r>
          </a:p>
        </p:txBody>
      </p:sp>
      <p:sp>
        <p:nvSpPr>
          <p:cNvPr id="25" name="TextBox 24"/>
          <p:cNvSpPr txBox="1"/>
          <p:nvPr/>
        </p:nvSpPr>
        <p:spPr>
          <a:xfrm>
            <a:off x="8668512" y="4370832"/>
            <a:ext cx="171907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70.49%</a:t>
            </a:r>
          </a:p>
        </p:txBody>
      </p:sp>
      <p:sp>
        <p:nvSpPr>
          <p:cNvPr id="26" name="TextBox 25"/>
          <p:cNvSpPr txBox="1"/>
          <p:nvPr/>
        </p:nvSpPr>
        <p:spPr>
          <a:xfrm>
            <a:off x="10588752" y="4370832"/>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dirty="0"/>
              <a:t>72.11%</a:t>
            </a:r>
          </a:p>
        </p:txBody>
      </p:sp>
      <p:sp>
        <p:nvSpPr>
          <p:cNvPr id="27" name="TextBox 26"/>
          <p:cNvSpPr txBox="1"/>
          <p:nvPr/>
        </p:nvSpPr>
        <p:spPr>
          <a:xfrm>
            <a:off x="12691872" y="4370832"/>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65.36%</a:t>
            </a:r>
          </a:p>
        </p:txBody>
      </p:sp>
      <p:sp>
        <p:nvSpPr>
          <p:cNvPr id="28" name="TextBox 27"/>
          <p:cNvSpPr txBox="1"/>
          <p:nvPr/>
        </p:nvSpPr>
        <p:spPr>
          <a:xfrm>
            <a:off x="14794992" y="4370832"/>
            <a:ext cx="17647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97.75%</a:t>
            </a:r>
          </a:p>
        </p:txBody>
      </p:sp>
      <p:sp>
        <p:nvSpPr>
          <p:cNvPr id="29" name="Rounded Rectangle 28"/>
          <p:cNvSpPr/>
          <p:nvPr/>
        </p:nvSpPr>
        <p:spPr>
          <a:xfrm>
            <a:off x="502920" y="4910328"/>
            <a:ext cx="16139159" cy="685800"/>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 y="5093208"/>
            <a:ext cx="3593592" cy="420624"/>
          </a:xfrm>
          <a:prstGeom prst="rect">
            <a:avLst/>
          </a:prstGeom>
          <a:noFill/>
        </p:spPr>
        <p:txBody>
          <a:bodyPr wrap="square" lIns="18288" tIns="0" rIns="18288" bIns="0">
            <a:spAutoFit/>
          </a:bodyPr>
          <a:lstStyle/>
          <a:p>
            <a:pPr algn="l">
              <a:spcAft>
                <a:spcPts val="900"/>
              </a:spcAft>
              <a:defRPr sz="1800" b="1">
                <a:solidFill>
                  <a:srgbClr val="16345A"/>
                </a:solidFill>
                <a:latin typeface="Microsoft YaHei"/>
              </a:defRPr>
            </a:pPr>
            <a:r>
              <a:t>当前框架 Init</a:t>
            </a:r>
          </a:p>
        </p:txBody>
      </p:sp>
      <p:sp>
        <p:nvSpPr>
          <p:cNvPr id="31" name="TextBox 30"/>
          <p:cNvSpPr txBox="1"/>
          <p:nvPr/>
        </p:nvSpPr>
        <p:spPr>
          <a:xfrm>
            <a:off x="4416552" y="5093208"/>
            <a:ext cx="277063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rPr dirty="0" err="1"/>
              <a:t>初始</a:t>
            </a:r>
            <a:r>
              <a:rPr dirty="0"/>
              <a:t> Split · 22 </a:t>
            </a:r>
            <a:r>
              <a:rPr dirty="0" err="1"/>
              <a:t>节点</a:t>
            </a:r>
            <a:endParaRPr dirty="0"/>
          </a:p>
        </p:txBody>
      </p:sp>
      <p:sp>
        <p:nvSpPr>
          <p:cNvPr id="32" name="TextBox 31"/>
          <p:cNvSpPr txBox="1"/>
          <p:nvPr/>
        </p:nvSpPr>
        <p:spPr>
          <a:xfrm>
            <a:off x="7388352" y="5093208"/>
            <a:ext cx="10789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872</a:t>
            </a:r>
          </a:p>
        </p:txBody>
      </p:sp>
      <p:sp>
        <p:nvSpPr>
          <p:cNvPr id="33" name="TextBox 32"/>
          <p:cNvSpPr txBox="1"/>
          <p:nvPr/>
        </p:nvSpPr>
        <p:spPr>
          <a:xfrm>
            <a:off x="8668512" y="5093208"/>
            <a:ext cx="171907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69.93%</a:t>
            </a:r>
          </a:p>
        </p:txBody>
      </p:sp>
      <p:sp>
        <p:nvSpPr>
          <p:cNvPr id="34" name="TextBox 33"/>
          <p:cNvSpPr txBox="1"/>
          <p:nvPr/>
        </p:nvSpPr>
        <p:spPr>
          <a:xfrm>
            <a:off x="10588752" y="5093208"/>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70.32%</a:t>
            </a:r>
          </a:p>
        </p:txBody>
      </p:sp>
      <p:sp>
        <p:nvSpPr>
          <p:cNvPr id="35" name="TextBox 34"/>
          <p:cNvSpPr txBox="1"/>
          <p:nvPr/>
        </p:nvSpPr>
        <p:spPr>
          <a:xfrm>
            <a:off x="12691872" y="5093208"/>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65.52%</a:t>
            </a:r>
          </a:p>
        </p:txBody>
      </p:sp>
      <p:sp>
        <p:nvSpPr>
          <p:cNvPr id="36" name="TextBox 35"/>
          <p:cNvSpPr txBox="1"/>
          <p:nvPr/>
        </p:nvSpPr>
        <p:spPr>
          <a:xfrm>
            <a:off x="14794992" y="5093208"/>
            <a:ext cx="17647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99.44%</a:t>
            </a:r>
          </a:p>
        </p:txBody>
      </p:sp>
      <p:sp>
        <p:nvSpPr>
          <p:cNvPr id="37" name="Rounded Rectangle 36"/>
          <p:cNvSpPr/>
          <p:nvPr/>
        </p:nvSpPr>
        <p:spPr>
          <a:xfrm>
            <a:off x="502920" y="5632704"/>
            <a:ext cx="16139159" cy="685800"/>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1792" y="5815584"/>
            <a:ext cx="3593592" cy="420624"/>
          </a:xfrm>
          <a:prstGeom prst="rect">
            <a:avLst/>
          </a:prstGeom>
          <a:noFill/>
        </p:spPr>
        <p:txBody>
          <a:bodyPr wrap="square" lIns="18288" tIns="0" rIns="18288" bIns="0">
            <a:spAutoFit/>
          </a:bodyPr>
          <a:lstStyle/>
          <a:p>
            <a:pPr algn="l">
              <a:spcAft>
                <a:spcPts val="900"/>
              </a:spcAft>
              <a:defRPr sz="1800" b="1">
                <a:solidFill>
                  <a:srgbClr val="16345A"/>
                </a:solidFill>
                <a:latin typeface="Microsoft YaHei"/>
              </a:defRPr>
            </a:pPr>
            <a:r>
              <a:t>当前框架 Final</a:t>
            </a:r>
          </a:p>
        </p:txBody>
      </p:sp>
      <p:sp>
        <p:nvSpPr>
          <p:cNvPr id="39" name="TextBox 38"/>
          <p:cNvSpPr txBox="1"/>
          <p:nvPr/>
        </p:nvSpPr>
        <p:spPr>
          <a:xfrm>
            <a:off x="4416552" y="5815584"/>
            <a:ext cx="277063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e02 · 21 节点</a:t>
            </a:r>
          </a:p>
        </p:txBody>
      </p:sp>
      <p:sp>
        <p:nvSpPr>
          <p:cNvPr id="40" name="TextBox 39"/>
          <p:cNvSpPr txBox="1"/>
          <p:nvPr/>
        </p:nvSpPr>
        <p:spPr>
          <a:xfrm>
            <a:off x="7388352" y="5815584"/>
            <a:ext cx="10789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858</a:t>
            </a:r>
          </a:p>
        </p:txBody>
      </p:sp>
      <p:sp>
        <p:nvSpPr>
          <p:cNvPr id="41" name="TextBox 40"/>
          <p:cNvSpPr txBox="1"/>
          <p:nvPr/>
        </p:nvSpPr>
        <p:spPr>
          <a:xfrm>
            <a:off x="8668512" y="5815584"/>
            <a:ext cx="171907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68.81%</a:t>
            </a:r>
          </a:p>
        </p:txBody>
      </p:sp>
      <p:sp>
        <p:nvSpPr>
          <p:cNvPr id="42" name="TextBox 41"/>
          <p:cNvSpPr txBox="1"/>
          <p:nvPr/>
        </p:nvSpPr>
        <p:spPr>
          <a:xfrm>
            <a:off x="10588752" y="5815584"/>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69.14%</a:t>
            </a:r>
          </a:p>
        </p:txBody>
      </p:sp>
      <p:sp>
        <p:nvSpPr>
          <p:cNvPr id="43" name="TextBox 42"/>
          <p:cNvSpPr txBox="1"/>
          <p:nvPr/>
        </p:nvSpPr>
        <p:spPr>
          <a:xfrm>
            <a:off x="12691872" y="5815584"/>
            <a:ext cx="1901951"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63.93%</a:t>
            </a:r>
          </a:p>
        </p:txBody>
      </p:sp>
      <p:sp>
        <p:nvSpPr>
          <p:cNvPr id="44" name="TextBox 43"/>
          <p:cNvSpPr txBox="1"/>
          <p:nvPr/>
        </p:nvSpPr>
        <p:spPr>
          <a:xfrm>
            <a:off x="14794992" y="5815584"/>
            <a:ext cx="1764792" cy="420624"/>
          </a:xfrm>
          <a:prstGeom prst="rect">
            <a:avLst/>
          </a:prstGeom>
          <a:noFill/>
        </p:spPr>
        <p:txBody>
          <a:bodyPr wrap="square" lIns="18288" tIns="0" rIns="18288" bIns="0">
            <a:spAutoFit/>
          </a:bodyPr>
          <a:lstStyle/>
          <a:p>
            <a:pPr algn="l">
              <a:spcAft>
                <a:spcPts val="900"/>
              </a:spcAft>
              <a:defRPr sz="1800" b="0">
                <a:solidFill>
                  <a:srgbClr val="16345A"/>
                </a:solidFill>
                <a:latin typeface="Microsoft YaHei"/>
              </a:defRPr>
            </a:pPr>
            <a:r>
              <a:t>99.52%</a:t>
            </a:r>
          </a:p>
        </p:txBody>
      </p:sp>
      <p:sp>
        <p:nvSpPr>
          <p:cNvPr id="45" name="TextBox 44"/>
          <p:cNvSpPr txBox="1"/>
          <p:nvPr/>
        </p:nvSpPr>
        <p:spPr>
          <a:xfrm>
            <a:off x="685800" y="6647688"/>
            <a:ext cx="15636240" cy="393192"/>
          </a:xfrm>
          <a:prstGeom prst="rect">
            <a:avLst/>
          </a:prstGeom>
          <a:noFill/>
        </p:spPr>
        <p:txBody>
          <a:bodyPr wrap="square" lIns="18288" tIns="0" rIns="18288" bIns="0">
            <a:spAutoFit/>
          </a:bodyPr>
          <a:lstStyle/>
          <a:p>
            <a:pPr algn="l">
              <a:spcAft>
                <a:spcPts val="900"/>
              </a:spcAft>
              <a:defRPr sz="2100" b="1">
                <a:solidFill>
                  <a:srgbClr val="16345A"/>
                </a:solidFill>
                <a:latin typeface="Microsoft YaHei"/>
              </a:defRPr>
            </a:pPr>
            <a:r>
              <a:t>¹ Strict ACC = 正确数 / 全部 1247 条；弃权计为未正确。</a:t>
            </a:r>
          </a:p>
        </p:txBody>
      </p:sp>
      <p:sp>
        <p:nvSpPr>
          <p:cNvPr id="46" name="TextBox 45"/>
          <p:cNvSpPr txBox="1"/>
          <p:nvPr/>
        </p:nvSpPr>
        <p:spPr>
          <a:xfrm>
            <a:off x="685800" y="7187184"/>
            <a:ext cx="15636240" cy="69494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² Overall ACC 剔除弃权；Macro ACC 为任务组 ACC 的等权平均。</a:t>
            </a:r>
          </a:p>
          <a:p>
            <a:pPr algn="l">
              <a:spcAft>
                <a:spcPts val="900"/>
              </a:spcAft>
              <a:defRPr sz="2000" b="0">
                <a:solidFill>
                  <a:srgbClr val="16345A"/>
                </a:solidFill>
                <a:latin typeface="Microsoft YaHei"/>
              </a:defRPr>
            </a:pPr>
            <a:r>
              <a:t>Coverage = 有效偏好判断数 / 全部样本。不同分母的指标不能直接混比。</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5544800" cy="246221"/>
          </a:xfrm>
          <a:prstGeom prst="rect">
            <a:avLst/>
          </a:prstGeom>
          <a:noFill/>
        </p:spPr>
        <p:txBody>
          <a:bodyPr wrap="square" lIns="18288" tIns="0" rIns="18288" bIns="0">
            <a:spAutoFit/>
          </a:bodyPr>
          <a:lstStyle/>
          <a:p>
            <a:pPr algn="l">
              <a:spcAft>
                <a:spcPts val="900"/>
              </a:spcAft>
              <a:defRPr sz="1600" b="1">
                <a:solidFill>
                  <a:srgbClr val="119D96"/>
                </a:solidFill>
                <a:latin typeface="Microsoft YaHei"/>
              </a:defRPr>
            </a:pPr>
            <a:r>
              <a:rPr dirty="0" err="1"/>
              <a:t>实验结果</a:t>
            </a:r>
            <a:endParaRPr dirty="0"/>
          </a:p>
        </p:txBody>
      </p:sp>
      <p:sp>
        <p:nvSpPr>
          <p:cNvPr id="3" name="TextBox 2"/>
          <p:cNvSpPr txBox="1"/>
          <p:nvPr/>
        </p:nvSpPr>
        <p:spPr>
          <a:xfrm>
            <a:off x="502920" y="914400"/>
            <a:ext cx="16184880" cy="685800"/>
          </a:xfrm>
          <a:prstGeom prst="rect">
            <a:avLst/>
          </a:prstGeom>
          <a:noFill/>
        </p:spPr>
        <p:txBody>
          <a:bodyPr wrap="square" lIns="18288" tIns="0" rIns="18288" bIns="0">
            <a:spAutoFit/>
          </a:bodyPr>
          <a:lstStyle/>
          <a:p>
            <a:pPr algn="l">
              <a:spcAft>
                <a:spcPts val="900"/>
              </a:spcAft>
              <a:defRPr sz="3300" b="1">
                <a:solidFill>
                  <a:srgbClr val="16345A"/>
                </a:solidFill>
                <a:latin typeface="Microsoft YaHei"/>
              </a:defRPr>
            </a:pPr>
            <a:r>
              <a:t>五轮演化：仅 e02 通过验收，最终保留 e02</a:t>
            </a:r>
          </a:p>
        </p:txBody>
      </p:sp>
      <p:sp>
        <p:nvSpPr>
          <p:cNvPr id="4" name="TextBox 3"/>
          <p:cNvSpPr txBox="1"/>
          <p:nvPr/>
        </p:nvSpPr>
        <p:spPr>
          <a:xfrm>
            <a:off x="502920" y="1783080"/>
            <a:ext cx="16093440" cy="73152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t>Manager：Qwen3.5-27B（思考开启）；Worker / Arbiter：Qwen3-VL-8B。仅演化子准则。</a:t>
            </a:r>
          </a:p>
        </p:txBody>
      </p:sp>
      <p:sp>
        <p:nvSpPr>
          <p:cNvPr id="5" name="Rounded Rectangle 4"/>
          <p:cNvSpPr/>
          <p:nvPr/>
        </p:nvSpPr>
        <p:spPr>
          <a:xfrm>
            <a:off x="502920" y="2743200"/>
            <a:ext cx="16139159" cy="630936"/>
          </a:xfrm>
          <a:prstGeom prst="roundRect">
            <a:avLst>
              <a:gd name="adj" fmla="val 8000"/>
            </a:avLst>
          </a:prstGeom>
          <a:solidFill>
            <a:srgbClr val="163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880360"/>
            <a:ext cx="251460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阶段</a:t>
            </a:r>
          </a:p>
        </p:txBody>
      </p:sp>
      <p:sp>
        <p:nvSpPr>
          <p:cNvPr id="7" name="TextBox 6"/>
          <p:cNvSpPr txBox="1"/>
          <p:nvPr/>
        </p:nvSpPr>
        <p:spPr>
          <a:xfrm>
            <a:off x="3429000" y="2880360"/>
            <a:ext cx="342900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当前 Strict ACC</a:t>
            </a:r>
          </a:p>
        </p:txBody>
      </p:sp>
      <p:sp>
        <p:nvSpPr>
          <p:cNvPr id="8" name="TextBox 7"/>
          <p:cNvSpPr txBox="1"/>
          <p:nvPr/>
        </p:nvSpPr>
        <p:spPr>
          <a:xfrm>
            <a:off x="7086600" y="2880360"/>
            <a:ext cx="342900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候选 Strict ACC</a:t>
            </a:r>
          </a:p>
        </p:txBody>
      </p:sp>
      <p:sp>
        <p:nvSpPr>
          <p:cNvPr id="9" name="TextBox 8"/>
          <p:cNvSpPr txBox="1"/>
          <p:nvPr/>
        </p:nvSpPr>
        <p:spPr>
          <a:xfrm>
            <a:off x="10744200" y="2880360"/>
            <a:ext cx="585216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验收结果</a:t>
            </a:r>
          </a:p>
        </p:txBody>
      </p:sp>
      <p:sp>
        <p:nvSpPr>
          <p:cNvPr id="10" name="Rounded Rectangle 9"/>
          <p:cNvSpPr/>
          <p:nvPr/>
        </p:nvSpPr>
        <p:spPr>
          <a:xfrm>
            <a:off x="502920" y="3410712"/>
            <a:ext cx="16139159" cy="630936"/>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3547872"/>
            <a:ext cx="25146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Init</a:t>
            </a:r>
          </a:p>
        </p:txBody>
      </p:sp>
      <p:sp>
        <p:nvSpPr>
          <p:cNvPr id="12" name="TextBox 11"/>
          <p:cNvSpPr txBox="1"/>
          <p:nvPr/>
        </p:nvSpPr>
        <p:spPr>
          <a:xfrm>
            <a:off x="3429000" y="3547872"/>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a:t>
            </a:r>
          </a:p>
        </p:txBody>
      </p:sp>
      <p:sp>
        <p:nvSpPr>
          <p:cNvPr id="13" name="TextBox 12"/>
          <p:cNvSpPr txBox="1"/>
          <p:nvPr/>
        </p:nvSpPr>
        <p:spPr>
          <a:xfrm>
            <a:off x="7086600" y="3547872"/>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66%</a:t>
            </a:r>
          </a:p>
        </p:txBody>
      </p:sp>
      <p:sp>
        <p:nvSpPr>
          <p:cNvPr id="14" name="TextBox 13"/>
          <p:cNvSpPr txBox="1"/>
          <p:nvPr/>
        </p:nvSpPr>
        <p:spPr>
          <a:xfrm>
            <a:off x="10744200" y="3547872"/>
            <a:ext cx="58521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初始化 split 后起点</a:t>
            </a:r>
          </a:p>
        </p:txBody>
      </p:sp>
      <p:sp>
        <p:nvSpPr>
          <p:cNvPr id="15" name="Rounded Rectangle 14"/>
          <p:cNvSpPr/>
          <p:nvPr/>
        </p:nvSpPr>
        <p:spPr>
          <a:xfrm>
            <a:off x="502920" y="4078224"/>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215384"/>
            <a:ext cx="25146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e01</a:t>
            </a:r>
          </a:p>
        </p:txBody>
      </p:sp>
      <p:sp>
        <p:nvSpPr>
          <p:cNvPr id="17" name="TextBox 16"/>
          <p:cNvSpPr txBox="1"/>
          <p:nvPr/>
        </p:nvSpPr>
        <p:spPr>
          <a:xfrm>
            <a:off x="3429000" y="4215384"/>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66%</a:t>
            </a:r>
          </a:p>
        </p:txBody>
      </p:sp>
      <p:sp>
        <p:nvSpPr>
          <p:cNvPr id="18" name="TextBox 17"/>
          <p:cNvSpPr txBox="1"/>
          <p:nvPr/>
        </p:nvSpPr>
        <p:spPr>
          <a:xfrm>
            <a:off x="7086600" y="4215384"/>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64%</a:t>
            </a:r>
          </a:p>
        </p:txBody>
      </p:sp>
      <p:sp>
        <p:nvSpPr>
          <p:cNvPr id="19" name="TextBox 18"/>
          <p:cNvSpPr txBox="1"/>
          <p:nvPr/>
        </p:nvSpPr>
        <p:spPr>
          <a:xfrm>
            <a:off x="10744200" y="4215384"/>
            <a:ext cx="58521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拒绝 → 保留当前版本</a:t>
            </a:r>
          </a:p>
        </p:txBody>
      </p:sp>
      <p:sp>
        <p:nvSpPr>
          <p:cNvPr id="20" name="Rounded Rectangle 19"/>
          <p:cNvSpPr/>
          <p:nvPr/>
        </p:nvSpPr>
        <p:spPr>
          <a:xfrm>
            <a:off x="502920" y="4745736"/>
            <a:ext cx="16139159" cy="630936"/>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4882896"/>
            <a:ext cx="25146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e02</a:t>
            </a:r>
          </a:p>
        </p:txBody>
      </p:sp>
      <p:sp>
        <p:nvSpPr>
          <p:cNvPr id="22" name="TextBox 21"/>
          <p:cNvSpPr txBox="1"/>
          <p:nvPr/>
        </p:nvSpPr>
        <p:spPr>
          <a:xfrm>
            <a:off x="3429000" y="4882896"/>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66%</a:t>
            </a:r>
          </a:p>
        </p:txBody>
      </p:sp>
      <p:sp>
        <p:nvSpPr>
          <p:cNvPr id="23" name="TextBox 22"/>
          <p:cNvSpPr txBox="1"/>
          <p:nvPr/>
        </p:nvSpPr>
        <p:spPr>
          <a:xfrm>
            <a:off x="7086600" y="4882896"/>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a:t>
            </a:r>
          </a:p>
        </p:txBody>
      </p:sp>
      <p:sp>
        <p:nvSpPr>
          <p:cNvPr id="24" name="TextBox 23"/>
          <p:cNvSpPr txBox="1"/>
          <p:nvPr/>
        </p:nvSpPr>
        <p:spPr>
          <a:xfrm>
            <a:off x="10744200" y="4882896"/>
            <a:ext cx="58521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接受 → 更新当前版本</a:t>
            </a:r>
          </a:p>
        </p:txBody>
      </p:sp>
      <p:sp>
        <p:nvSpPr>
          <p:cNvPr id="25" name="Rounded Rectangle 24"/>
          <p:cNvSpPr/>
          <p:nvPr/>
        </p:nvSpPr>
        <p:spPr>
          <a:xfrm>
            <a:off x="502920" y="5413248"/>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5550408"/>
            <a:ext cx="25146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e03</a:t>
            </a:r>
          </a:p>
        </p:txBody>
      </p:sp>
      <p:sp>
        <p:nvSpPr>
          <p:cNvPr id="27" name="TextBox 26"/>
          <p:cNvSpPr txBox="1"/>
          <p:nvPr/>
        </p:nvSpPr>
        <p:spPr>
          <a:xfrm>
            <a:off x="3429000" y="5550408"/>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a:t>
            </a:r>
          </a:p>
        </p:txBody>
      </p:sp>
      <p:sp>
        <p:nvSpPr>
          <p:cNvPr id="28" name="TextBox 27"/>
          <p:cNvSpPr txBox="1"/>
          <p:nvPr/>
        </p:nvSpPr>
        <p:spPr>
          <a:xfrm>
            <a:off x="7086600" y="5550408"/>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a:t>
            </a:r>
          </a:p>
        </p:txBody>
      </p:sp>
      <p:sp>
        <p:nvSpPr>
          <p:cNvPr id="29" name="TextBox 28"/>
          <p:cNvSpPr txBox="1"/>
          <p:nvPr/>
        </p:nvSpPr>
        <p:spPr>
          <a:xfrm>
            <a:off x="10744200" y="5550408"/>
            <a:ext cx="58521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拒绝 → 保留当前版本</a:t>
            </a:r>
          </a:p>
        </p:txBody>
      </p:sp>
      <p:sp>
        <p:nvSpPr>
          <p:cNvPr id="30" name="Rounded Rectangle 29"/>
          <p:cNvSpPr/>
          <p:nvPr/>
        </p:nvSpPr>
        <p:spPr>
          <a:xfrm>
            <a:off x="502920" y="6080760"/>
            <a:ext cx="16139159" cy="630936"/>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6217920"/>
            <a:ext cx="25146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e04</a:t>
            </a:r>
          </a:p>
        </p:txBody>
      </p:sp>
      <p:sp>
        <p:nvSpPr>
          <p:cNvPr id="32" name="TextBox 31"/>
          <p:cNvSpPr txBox="1"/>
          <p:nvPr/>
        </p:nvSpPr>
        <p:spPr>
          <a:xfrm>
            <a:off x="3429000" y="6217920"/>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a:t>
            </a:r>
          </a:p>
        </p:txBody>
      </p:sp>
      <p:sp>
        <p:nvSpPr>
          <p:cNvPr id="33" name="TextBox 32"/>
          <p:cNvSpPr txBox="1"/>
          <p:nvPr/>
        </p:nvSpPr>
        <p:spPr>
          <a:xfrm>
            <a:off x="7086600" y="6217920"/>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66%</a:t>
            </a:r>
          </a:p>
        </p:txBody>
      </p:sp>
      <p:sp>
        <p:nvSpPr>
          <p:cNvPr id="34" name="TextBox 33"/>
          <p:cNvSpPr txBox="1"/>
          <p:nvPr/>
        </p:nvSpPr>
        <p:spPr>
          <a:xfrm>
            <a:off x="10744200" y="6217920"/>
            <a:ext cx="58521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拒绝 → 保留当前版本</a:t>
            </a:r>
          </a:p>
        </p:txBody>
      </p:sp>
      <p:sp>
        <p:nvSpPr>
          <p:cNvPr id="35" name="Rounded Rectangle 34"/>
          <p:cNvSpPr/>
          <p:nvPr/>
        </p:nvSpPr>
        <p:spPr>
          <a:xfrm>
            <a:off x="502920" y="6748272"/>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6885432"/>
            <a:ext cx="25146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e05</a:t>
            </a:r>
          </a:p>
        </p:txBody>
      </p:sp>
      <p:sp>
        <p:nvSpPr>
          <p:cNvPr id="37" name="TextBox 36"/>
          <p:cNvSpPr txBox="1"/>
          <p:nvPr/>
        </p:nvSpPr>
        <p:spPr>
          <a:xfrm>
            <a:off x="3429000" y="6885432"/>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a:t>
            </a:r>
          </a:p>
        </p:txBody>
      </p:sp>
      <p:sp>
        <p:nvSpPr>
          <p:cNvPr id="38" name="TextBox 37"/>
          <p:cNvSpPr txBox="1"/>
          <p:nvPr/>
        </p:nvSpPr>
        <p:spPr>
          <a:xfrm>
            <a:off x="7086600" y="6885432"/>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62%</a:t>
            </a:r>
          </a:p>
        </p:txBody>
      </p:sp>
      <p:sp>
        <p:nvSpPr>
          <p:cNvPr id="39" name="TextBox 38"/>
          <p:cNvSpPr txBox="1"/>
          <p:nvPr/>
        </p:nvSpPr>
        <p:spPr>
          <a:xfrm>
            <a:off x="10744200" y="6885432"/>
            <a:ext cx="58521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拒绝 → 保留当前版本</a:t>
            </a:r>
          </a:p>
        </p:txBody>
      </p:sp>
      <p:sp>
        <p:nvSpPr>
          <p:cNvPr id="40" name="TextBox 39"/>
          <p:cNvSpPr txBox="1"/>
          <p:nvPr/>
        </p:nvSpPr>
        <p:spPr>
          <a:xfrm>
            <a:off x="731520" y="7772400"/>
            <a:ext cx="15544800" cy="640080"/>
          </a:xfrm>
          <a:prstGeom prst="rect">
            <a:avLst/>
          </a:prstGeom>
          <a:noFill/>
        </p:spPr>
        <p:txBody>
          <a:bodyPr wrap="square" lIns="18288" tIns="0" rIns="18288" bIns="0">
            <a:spAutoFit/>
          </a:bodyPr>
          <a:lstStyle/>
          <a:p>
            <a:pPr algn="l">
              <a:spcAft>
                <a:spcPts val="900"/>
              </a:spcAft>
              <a:defRPr sz="2500" b="1">
                <a:solidFill>
                  <a:srgbClr val="119D96"/>
                </a:solidFill>
                <a:latin typeface="Microsoft YaHei"/>
              </a:defRPr>
            </a:pPr>
            <a:r>
              <a:t>Discovery 100：66% → 69%（+3 个百分点）；改对 9 条、改错 6 条。</a:t>
            </a:r>
          </a:p>
        </p:txBody>
      </p:sp>
      <p:sp>
        <p:nvSpPr>
          <p:cNvPr id="41" name="TextBox 40"/>
          <p:cNvSpPr txBox="1"/>
          <p:nvPr/>
        </p:nvSpPr>
        <p:spPr>
          <a:xfrm>
            <a:off x="548640" y="8805672"/>
            <a:ext cx="16002000" cy="411480"/>
          </a:xfrm>
          <a:prstGeom prst="rect">
            <a:avLst/>
          </a:prstGeom>
          <a:noFill/>
        </p:spPr>
        <p:txBody>
          <a:bodyPr wrap="square" lIns="18288" tIns="0" rIns="18288" bIns="0">
            <a:spAutoFit/>
          </a:bodyPr>
          <a:lstStyle/>
          <a:p>
            <a:pPr algn="l">
              <a:spcAft>
                <a:spcPts val="900"/>
              </a:spcAft>
              <a:defRPr sz="1500" b="0">
                <a:solidFill>
                  <a:srgbClr val="586E87"/>
                </a:solidFill>
                <a:latin typeface="Microsoft YaHei"/>
              </a:defRPr>
            </a:pPr>
            <a:r>
              <a:t>裸根 R0 为 69%：最终仅恢复到裸根水平。来源：fw6_27b/report.json 与 e01–e05/summary.json。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5544800" cy="246221"/>
          </a:xfrm>
          <a:prstGeom prst="rect">
            <a:avLst/>
          </a:prstGeom>
          <a:noFill/>
        </p:spPr>
        <p:txBody>
          <a:bodyPr wrap="square" lIns="18288" tIns="0" rIns="18288" bIns="0">
            <a:spAutoFit/>
          </a:bodyPr>
          <a:lstStyle/>
          <a:p>
            <a:pPr algn="l">
              <a:spcAft>
                <a:spcPts val="900"/>
              </a:spcAft>
              <a:defRPr sz="1600" b="1">
                <a:solidFill>
                  <a:srgbClr val="119D96"/>
                </a:solidFill>
                <a:latin typeface="Microsoft YaHei"/>
              </a:defRPr>
            </a:pPr>
            <a:r>
              <a:rPr dirty="0" err="1"/>
              <a:t>实验结果</a:t>
            </a:r>
            <a:endParaRPr dirty="0"/>
          </a:p>
        </p:txBody>
      </p:sp>
      <p:sp>
        <p:nvSpPr>
          <p:cNvPr id="3" name="TextBox 2"/>
          <p:cNvSpPr txBox="1"/>
          <p:nvPr/>
        </p:nvSpPr>
        <p:spPr>
          <a:xfrm>
            <a:off x="502920" y="914400"/>
            <a:ext cx="16184880" cy="685800"/>
          </a:xfrm>
          <a:prstGeom prst="rect">
            <a:avLst/>
          </a:prstGeom>
          <a:noFill/>
        </p:spPr>
        <p:txBody>
          <a:bodyPr wrap="square" lIns="18288" tIns="0" rIns="18288" bIns="0">
            <a:spAutoFit/>
          </a:bodyPr>
          <a:lstStyle/>
          <a:p>
            <a:pPr algn="l">
              <a:spcAft>
                <a:spcPts val="900"/>
              </a:spcAft>
              <a:defRPr sz="3300" b="1">
                <a:solidFill>
                  <a:srgbClr val="16345A"/>
                </a:solidFill>
                <a:latin typeface="Microsoft YaHei"/>
              </a:defRPr>
            </a:pPr>
            <a:r>
              <a:t>演化集提升，尚未转化为外部评测收益</a:t>
            </a:r>
          </a:p>
        </p:txBody>
      </p:sp>
      <p:sp>
        <p:nvSpPr>
          <p:cNvPr id="4" name="TextBox 3"/>
          <p:cNvSpPr txBox="1"/>
          <p:nvPr/>
        </p:nvSpPr>
        <p:spPr>
          <a:xfrm>
            <a:off x="502920" y="1783080"/>
            <a:ext cx="16093440" cy="731520"/>
          </a:xfrm>
          <a:prstGeom prst="rect">
            <a:avLst/>
          </a:prstGeom>
          <a:noFill/>
        </p:spPr>
        <p:txBody>
          <a:bodyPr wrap="square" lIns="18288" tIns="0" rIns="18288" bIns="0">
            <a:spAutoFit/>
          </a:bodyPr>
          <a:lstStyle/>
          <a:p>
            <a:pPr algn="l">
              <a:spcAft>
                <a:spcPts val="900"/>
              </a:spcAft>
              <a:defRPr sz="2300" b="0">
                <a:solidFill>
                  <a:srgbClr val="586E87"/>
                </a:solidFill>
                <a:latin typeface="Microsoft YaHei"/>
              </a:defRPr>
            </a:pPr>
            <a:r>
              <a:t>Final 为 e02 接受版本；Dev / VLRB 不参与本轮准则选择。以下主表均使用 Strict ACC。</a:t>
            </a:r>
          </a:p>
        </p:txBody>
      </p:sp>
      <p:sp>
        <p:nvSpPr>
          <p:cNvPr id="5" name="Rounded Rectangle 4"/>
          <p:cNvSpPr/>
          <p:nvPr/>
        </p:nvSpPr>
        <p:spPr>
          <a:xfrm>
            <a:off x="502920" y="2743200"/>
            <a:ext cx="16139159" cy="630936"/>
          </a:xfrm>
          <a:prstGeom prst="roundRect">
            <a:avLst>
              <a:gd name="adj" fmla="val 8000"/>
            </a:avLst>
          </a:prstGeom>
          <a:solidFill>
            <a:srgbClr val="163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880360"/>
            <a:ext cx="434340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评测集合</a:t>
            </a:r>
          </a:p>
        </p:txBody>
      </p:sp>
      <p:sp>
        <p:nvSpPr>
          <p:cNvPr id="7" name="TextBox 6"/>
          <p:cNvSpPr txBox="1"/>
          <p:nvPr/>
        </p:nvSpPr>
        <p:spPr>
          <a:xfrm>
            <a:off x="5257800" y="2880360"/>
            <a:ext cx="342900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Init</a:t>
            </a:r>
          </a:p>
        </p:txBody>
      </p:sp>
      <p:sp>
        <p:nvSpPr>
          <p:cNvPr id="8" name="TextBox 7"/>
          <p:cNvSpPr txBox="1"/>
          <p:nvPr/>
        </p:nvSpPr>
        <p:spPr>
          <a:xfrm>
            <a:off x="8915400" y="2880360"/>
            <a:ext cx="342900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Final</a:t>
            </a:r>
          </a:p>
        </p:txBody>
      </p:sp>
      <p:sp>
        <p:nvSpPr>
          <p:cNvPr id="9" name="TextBox 8"/>
          <p:cNvSpPr txBox="1"/>
          <p:nvPr/>
        </p:nvSpPr>
        <p:spPr>
          <a:xfrm>
            <a:off x="12573000" y="2880360"/>
            <a:ext cx="4023360" cy="393192"/>
          </a:xfrm>
          <a:prstGeom prst="rect">
            <a:avLst/>
          </a:prstGeom>
          <a:noFill/>
        </p:spPr>
        <p:txBody>
          <a:bodyPr wrap="square" lIns="18288" tIns="0" rIns="18288" bIns="0">
            <a:spAutoFit/>
          </a:bodyPr>
          <a:lstStyle/>
          <a:p>
            <a:pPr algn="l">
              <a:spcAft>
                <a:spcPts val="900"/>
              </a:spcAft>
              <a:defRPr sz="2100" b="1">
                <a:solidFill>
                  <a:srgbClr val="FFFFFF"/>
                </a:solidFill>
                <a:latin typeface="Microsoft YaHei"/>
              </a:defRPr>
            </a:pPr>
            <a:r>
              <a:t>变化</a:t>
            </a:r>
          </a:p>
        </p:txBody>
      </p:sp>
      <p:sp>
        <p:nvSpPr>
          <p:cNvPr id="10" name="Rounded Rectangle 9"/>
          <p:cNvSpPr/>
          <p:nvPr/>
        </p:nvSpPr>
        <p:spPr>
          <a:xfrm>
            <a:off x="502920" y="3410712"/>
            <a:ext cx="16139159" cy="630936"/>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3547872"/>
            <a:ext cx="43434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Discovery · 100</a:t>
            </a:r>
          </a:p>
        </p:txBody>
      </p:sp>
      <p:sp>
        <p:nvSpPr>
          <p:cNvPr id="12" name="TextBox 11"/>
          <p:cNvSpPr txBox="1"/>
          <p:nvPr/>
        </p:nvSpPr>
        <p:spPr>
          <a:xfrm>
            <a:off x="5257800" y="3547872"/>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66.00%</a:t>
            </a:r>
          </a:p>
        </p:txBody>
      </p:sp>
      <p:sp>
        <p:nvSpPr>
          <p:cNvPr id="13" name="TextBox 12"/>
          <p:cNvSpPr txBox="1"/>
          <p:nvPr/>
        </p:nvSpPr>
        <p:spPr>
          <a:xfrm>
            <a:off x="8915400" y="3547872"/>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69.00%</a:t>
            </a:r>
          </a:p>
        </p:txBody>
      </p:sp>
      <p:sp>
        <p:nvSpPr>
          <p:cNvPr id="14" name="TextBox 13"/>
          <p:cNvSpPr txBox="1"/>
          <p:nvPr/>
        </p:nvSpPr>
        <p:spPr>
          <a:xfrm>
            <a:off x="12573000" y="3547872"/>
            <a:ext cx="40233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+3.00 pp</a:t>
            </a:r>
          </a:p>
        </p:txBody>
      </p:sp>
      <p:sp>
        <p:nvSpPr>
          <p:cNvPr id="15" name="Rounded Rectangle 14"/>
          <p:cNvSpPr/>
          <p:nvPr/>
        </p:nvSpPr>
        <p:spPr>
          <a:xfrm>
            <a:off x="502920" y="4078224"/>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215384"/>
            <a:ext cx="43434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Dev · 150</a:t>
            </a:r>
          </a:p>
        </p:txBody>
      </p:sp>
      <p:sp>
        <p:nvSpPr>
          <p:cNvPr id="17" name="TextBox 16"/>
          <p:cNvSpPr txBox="1"/>
          <p:nvPr/>
        </p:nvSpPr>
        <p:spPr>
          <a:xfrm>
            <a:off x="5257800" y="4215384"/>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74.00%</a:t>
            </a:r>
          </a:p>
        </p:txBody>
      </p:sp>
      <p:sp>
        <p:nvSpPr>
          <p:cNvPr id="18" name="TextBox 17"/>
          <p:cNvSpPr txBox="1"/>
          <p:nvPr/>
        </p:nvSpPr>
        <p:spPr>
          <a:xfrm>
            <a:off x="8915400" y="4215384"/>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70.67%</a:t>
            </a:r>
          </a:p>
        </p:txBody>
      </p:sp>
      <p:sp>
        <p:nvSpPr>
          <p:cNvPr id="19" name="TextBox 18"/>
          <p:cNvSpPr txBox="1"/>
          <p:nvPr/>
        </p:nvSpPr>
        <p:spPr>
          <a:xfrm>
            <a:off x="12573000" y="4215384"/>
            <a:ext cx="40233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−3.33 pp</a:t>
            </a:r>
          </a:p>
        </p:txBody>
      </p:sp>
      <p:sp>
        <p:nvSpPr>
          <p:cNvPr id="20" name="Rounded Rectangle 19"/>
          <p:cNvSpPr/>
          <p:nvPr/>
        </p:nvSpPr>
        <p:spPr>
          <a:xfrm>
            <a:off x="502920" y="4745736"/>
            <a:ext cx="16139159" cy="630936"/>
          </a:xfrm>
          <a:prstGeom prst="roundRect">
            <a:avLst>
              <a:gd name="adj" fmla="val 8000"/>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4882896"/>
            <a:ext cx="43434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VLRB · 1247</a:t>
            </a:r>
          </a:p>
        </p:txBody>
      </p:sp>
      <p:sp>
        <p:nvSpPr>
          <p:cNvPr id="22" name="TextBox 21"/>
          <p:cNvSpPr txBox="1"/>
          <p:nvPr/>
        </p:nvSpPr>
        <p:spPr>
          <a:xfrm>
            <a:off x="5257800" y="4882896"/>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69.93%</a:t>
            </a:r>
          </a:p>
        </p:txBody>
      </p:sp>
      <p:sp>
        <p:nvSpPr>
          <p:cNvPr id="23" name="TextBox 22"/>
          <p:cNvSpPr txBox="1"/>
          <p:nvPr/>
        </p:nvSpPr>
        <p:spPr>
          <a:xfrm>
            <a:off x="8915400" y="4882896"/>
            <a:ext cx="342900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68.81%</a:t>
            </a:r>
          </a:p>
        </p:txBody>
      </p:sp>
      <p:sp>
        <p:nvSpPr>
          <p:cNvPr id="24" name="TextBox 23"/>
          <p:cNvSpPr txBox="1"/>
          <p:nvPr/>
        </p:nvSpPr>
        <p:spPr>
          <a:xfrm>
            <a:off x="12573000" y="4882896"/>
            <a:ext cx="4023360" cy="393192"/>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−1.12 pp</a:t>
            </a:r>
          </a:p>
        </p:txBody>
      </p:sp>
      <p:sp>
        <p:nvSpPr>
          <p:cNvPr id="25" name="Rounded Rectangle 24"/>
          <p:cNvSpPr/>
          <p:nvPr/>
        </p:nvSpPr>
        <p:spPr>
          <a:xfrm>
            <a:off x="502920" y="5806440"/>
            <a:ext cx="7818120" cy="2011680"/>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6080760"/>
            <a:ext cx="7269480" cy="457200"/>
          </a:xfrm>
          <a:prstGeom prst="rect">
            <a:avLst/>
          </a:prstGeom>
          <a:noFill/>
        </p:spPr>
        <p:txBody>
          <a:bodyPr wrap="square" lIns="18288" tIns="0" rIns="18288" bIns="0">
            <a:spAutoFit/>
          </a:bodyPr>
          <a:lstStyle/>
          <a:p>
            <a:pPr algn="l">
              <a:spcAft>
                <a:spcPts val="900"/>
              </a:spcAft>
              <a:defRPr sz="2500" b="1">
                <a:solidFill>
                  <a:srgbClr val="119D96"/>
                </a:solidFill>
                <a:latin typeface="Microsoft YaHei"/>
              </a:defRPr>
            </a:pPr>
            <a:r>
              <a:t>VLRB 配对变化</a:t>
            </a:r>
          </a:p>
        </p:txBody>
      </p:sp>
      <p:sp>
        <p:nvSpPr>
          <p:cNvPr id="27" name="TextBox 26"/>
          <p:cNvSpPr txBox="1"/>
          <p:nvPr/>
        </p:nvSpPr>
        <p:spPr>
          <a:xfrm>
            <a:off x="777240" y="6720840"/>
            <a:ext cx="7269480" cy="914400"/>
          </a:xfrm>
          <a:prstGeom prst="rect">
            <a:avLst/>
          </a:prstGeom>
          <a:noFill/>
        </p:spPr>
        <p:txBody>
          <a:bodyPr wrap="square" lIns="18288" tIns="0" rIns="18288" bIns="0">
            <a:spAutoFit/>
          </a:bodyPr>
          <a:lstStyle/>
          <a:p>
            <a:pPr algn="l">
              <a:spcAft>
                <a:spcPts val="900"/>
              </a:spcAft>
              <a:defRPr sz="2100" b="0">
                <a:solidFill>
                  <a:srgbClr val="16345A"/>
                </a:solidFill>
                <a:latin typeface="Microsoft YaHei"/>
              </a:defRPr>
            </a:pPr>
            <a:r>
              <a:t>改对 56 条，改错 70 条，净减少 14 条正确。</a:t>
            </a:r>
          </a:p>
          <a:p>
            <a:pPr algn="l">
              <a:spcAft>
                <a:spcPts val="900"/>
              </a:spcAft>
              <a:defRPr sz="2100" b="0">
                <a:solidFill>
                  <a:srgbClr val="16345A"/>
                </a:solidFill>
                <a:latin typeface="Microsoft YaHei"/>
              </a:defRPr>
            </a:pPr>
            <a:r>
              <a:t>McNemar 双侧 p = 0.247，未达显著。</a:t>
            </a:r>
          </a:p>
        </p:txBody>
      </p:sp>
      <p:sp>
        <p:nvSpPr>
          <p:cNvPr id="28" name="Rounded Rectangle 27"/>
          <p:cNvSpPr/>
          <p:nvPr/>
        </p:nvSpPr>
        <p:spPr>
          <a:xfrm>
            <a:off x="8641080" y="5806440"/>
            <a:ext cx="8001000" cy="2011680"/>
          </a:xfrm>
          <a:prstGeom prst="roundRect">
            <a:avLst>
              <a:gd name="adj" fmla="val 8000"/>
            </a:avLst>
          </a:prstGeom>
          <a:solidFill>
            <a:srgbClr val="FFF6EE"/>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15400" y="6080760"/>
            <a:ext cx="7452360" cy="457200"/>
          </a:xfrm>
          <a:prstGeom prst="rect">
            <a:avLst/>
          </a:prstGeom>
          <a:noFill/>
        </p:spPr>
        <p:txBody>
          <a:bodyPr wrap="square" lIns="18288" tIns="0" rIns="18288" bIns="0">
            <a:spAutoFit/>
          </a:bodyPr>
          <a:lstStyle/>
          <a:p>
            <a:pPr algn="l">
              <a:spcAft>
                <a:spcPts val="900"/>
              </a:spcAft>
              <a:defRPr sz="2500" b="1">
                <a:solidFill>
                  <a:srgbClr val="D67B32"/>
                </a:solidFill>
                <a:latin typeface="Microsoft YaHei"/>
              </a:defRPr>
            </a:pPr>
            <a:r>
              <a:t>当前结论</a:t>
            </a:r>
          </a:p>
        </p:txBody>
      </p:sp>
      <p:sp>
        <p:nvSpPr>
          <p:cNvPr id="30" name="TextBox 29"/>
          <p:cNvSpPr txBox="1"/>
          <p:nvPr/>
        </p:nvSpPr>
        <p:spPr>
          <a:xfrm>
            <a:off x="8915400" y="6720840"/>
            <a:ext cx="7452360" cy="91440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支持：演化集上找到更优候选。</a:t>
            </a:r>
          </a:p>
          <a:p>
            <a:pPr algn="l">
              <a:spcAft>
                <a:spcPts val="900"/>
              </a:spcAft>
              <a:defRPr sz="2200" b="0">
                <a:solidFill>
                  <a:srgbClr val="16345A"/>
                </a:solidFill>
                <a:latin typeface="Microsoft YaHei"/>
              </a:defRPr>
            </a:pPr>
            <a:r>
              <a:t>不支持：已获得稳定、可迁移的提升。</a:t>
            </a:r>
          </a:p>
        </p:txBody>
      </p:sp>
      <p:sp>
        <p:nvSpPr>
          <p:cNvPr id="31" name="TextBox 30"/>
          <p:cNvSpPr txBox="1"/>
          <p:nvPr/>
        </p:nvSpPr>
        <p:spPr>
          <a:xfrm>
            <a:off x="548640" y="8805672"/>
            <a:ext cx="16002000" cy="411480"/>
          </a:xfrm>
          <a:prstGeom prst="rect">
            <a:avLst/>
          </a:prstGeom>
          <a:noFill/>
        </p:spPr>
        <p:txBody>
          <a:bodyPr wrap="square" lIns="18288" tIns="0" rIns="18288" bIns="0">
            <a:spAutoFit/>
          </a:bodyPr>
          <a:lstStyle/>
          <a:p>
            <a:pPr algn="l">
              <a:spcAft>
                <a:spcPts val="900"/>
              </a:spcAft>
              <a:defRPr sz="1500" b="0">
                <a:solidFill>
                  <a:srgbClr val="586E87"/>
                </a:solidFill>
                <a:latin typeface="Microsoft YaHei"/>
              </a:defRPr>
            </a:pPr>
            <a:r>
              <a:t>Discovery / Dev：K=1；VLRB：K=3，official 投票口径。Overall ACC（剔除弃权）70.32% → 69.14%。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3183CB"/>
                </a:solidFill>
                <a:latin typeface="Microsoft YaHei"/>
              </a:defRPr>
            </a:pPr>
            <a:r>
              <a:t>附录 · Init Rubric 完整中文译文   1 / 5   ·   初始化 split 后，演化前</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完整性与覆盖度</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Root：回应用户问题中任务的完整范围，覆盖提示中指定的所有主要要素，以及相关的视觉方面和上下文线索。</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01  提示约束遵守</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当提示指定格式、禁止性约束或特定输出结构时适用。检查候选回答是否严格遵守这些规则。在完整性方面，无论内容量如何，遵守所有明确约束的候选回答都应获得比违反约束的回答更高的评价。</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02  视觉依据有效性</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适用于所有视觉描述。检查文本中声称的物体、属性和空间关系是否与图像证据相符。虚构的细节或误识别的物体不能算作有效覆盖。在完整性方面，视觉陈述具有事实依据的候选回答，应获得比内容量更大但准确性更低的回答更高的评价。</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03  任务要素利用</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适用于推理问题或包含多个部分的问题。检查是否利用了所有提供的数据要素，包括数字、标签和文字，以及是否回应了所有子问题。遗漏必需的数值约束或视觉标记，构成覆盖不完整。利用所有相关任务要素的候选回答，应获得比遗漏关键数据或子问题的回答更高的评价。</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原文来源：output/fw6_27b/init/rubric.json；5 个固定 root + 17 条子准则 = 22 节点。完整翻译，不改写规则。</a:t>
            </a:r>
          </a:p>
        </p:txBody>
      </p:sp>
    </p:spTree>
    <p:extLst>
      <p:ext uri="{BB962C8B-B14F-4D97-AF65-F5344CB8AC3E}">
        <p14:creationId xmlns:p14="http://schemas.microsoft.com/office/powerpoint/2010/main" val="2546793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119D96"/>
                </a:solidFill>
                <a:latin typeface="Microsoft YaHei"/>
              </a:defRPr>
            </a:pPr>
            <a:r>
              <a:t>附录 · Init Rubric 完整中文译文   2 / 5   ·   初始化 split 后，演化前</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视觉依据与细节</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Root：引用图像中可观察到的元素，例如物体、空间关系、颜色或文字，并以这些细节作为描述或分析的依据。</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01  视觉陈述准确性</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核验所有明确提及的视觉元素，包括物体、文字、颜色和空间关系，是否确实存在于图像中并被正确描述。对于幻觉或误识别，应给予比遗漏无关细节更严重的惩罚。确保具体属性，例如数量和状态，与可观察证据相符，以区分准确描述与编造。</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02  图表标签一致性</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对于包含图表或几何图形的图像，确认文本中的变量和计算是否正确对应视觉标签、线段和标注。核验推理中使用的几何关系是否与视觉标记一致，例如角弧和边的标记，而不是仅依赖抽象假设或提示文本。</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03  视觉依据的相关性与充分性</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评估视觉引用是否在逻辑上支持所请求的具体陈述或任务。接受根据可见证据得出的有效推断，而不要求穷尽式描述整个场景。确保所引用的细节足够具体，能够将目标对象与其他可能对象区分开，并直接关联分析，而不是无关的可见文字。</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原文来源：output/fw6_27b/init/rubric.json；5 个固定 root + 17 条子准则 = 22 节点。完整翻译，不改写规则。</a:t>
            </a:r>
          </a:p>
        </p:txBody>
      </p:sp>
    </p:spTree>
    <p:extLst>
      <p:ext uri="{BB962C8B-B14F-4D97-AF65-F5344CB8AC3E}">
        <p14:creationId xmlns:p14="http://schemas.microsoft.com/office/powerpoint/2010/main" val="3847930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D67B32"/>
                </a:solidFill>
                <a:latin typeface="Microsoft YaHei"/>
              </a:defRPr>
            </a:pPr>
            <a:r>
              <a:t>附录 · Init Rubric 完整中文译文   3 / 5   ·   初始化 split 后，演化前</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事实性／无幻觉</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Root：避免视觉或事实错误，确保所有细节和陈述都在图像中有所呈现，或得到提示的合理支持。</a:t>
            </a:r>
          </a:p>
        </p:txBody>
      </p:sp>
      <p:sp>
        <p:nvSpPr>
          <p:cNvPr id="6" name="Rounded Rectangle 5"/>
          <p:cNvSpPr/>
          <p:nvPr/>
        </p:nvSpPr>
        <p:spPr>
          <a:xfrm>
            <a:off x="502920" y="3063240"/>
            <a:ext cx="7909560" cy="2743200"/>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7452360"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01  视觉证据核验</a:t>
            </a:r>
          </a:p>
        </p:txBody>
      </p:sp>
      <p:sp>
        <p:nvSpPr>
          <p:cNvPr id="8" name="TextBox 7"/>
          <p:cNvSpPr txBox="1"/>
          <p:nvPr/>
        </p:nvSpPr>
        <p:spPr>
          <a:xfrm>
            <a:off x="731520" y="3758184"/>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根据视觉证据核验候选回答关于图像内容的所有陈述，包括物体、数量、空间关系、遮挡和身份。确保你的分析准确反映候选回答的明确文本和输入中的指代，以防评判模型产生幻觉。</a:t>
            </a:r>
          </a:p>
        </p:txBody>
      </p:sp>
      <p:sp>
        <p:nvSpPr>
          <p:cNvPr id="9" name="Rounded Rectangle 8"/>
          <p:cNvSpPr/>
          <p:nvPr/>
        </p:nvSpPr>
        <p:spPr>
          <a:xfrm>
            <a:off x="8732520" y="3063240"/>
            <a:ext cx="7909560" cy="2743200"/>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0" y="3218688"/>
            <a:ext cx="7452360"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02  错误分类与依据</a:t>
            </a:r>
          </a:p>
        </p:txBody>
      </p:sp>
      <p:sp>
        <p:nvSpPr>
          <p:cNvPr id="11" name="TextBox 10"/>
          <p:cNvSpPr txBox="1"/>
          <p:nvPr/>
        </p:nvSpPr>
        <p:spPr>
          <a:xfrm>
            <a:off x="8961120" y="3758184"/>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区分幻觉（编造的视觉细节）、遗漏（缺失的可见细节）与合理推断。不要把外部知识或有帮助的建议当作幻觉进行惩罚。相比基于否定进行推理的候选回答，应优先选择具有直接视觉依据的候选回答。</a:t>
            </a:r>
          </a:p>
        </p:txBody>
      </p:sp>
      <p:sp>
        <p:nvSpPr>
          <p:cNvPr id="12" name="Rounded Rectangle 11"/>
          <p:cNvSpPr/>
          <p:nvPr/>
        </p:nvSpPr>
        <p:spPr>
          <a:xfrm>
            <a:off x="502920" y="6053328"/>
            <a:ext cx="7909560" cy="2743200"/>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208776"/>
            <a:ext cx="7452360"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03  几何与计算一致性</a:t>
            </a:r>
          </a:p>
        </p:txBody>
      </p:sp>
      <p:sp>
        <p:nvSpPr>
          <p:cNvPr id="14" name="TextBox 13"/>
          <p:cNvSpPr txBox="1"/>
          <p:nvPr/>
        </p:nvSpPr>
        <p:spPr>
          <a:xfrm>
            <a:off x="731520" y="6748272"/>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对于几何或计算任务，核验公式、性质和结果是否符合图中的设定与数学规则。确保所选选项与计算结果一致，并且几何对象的归属关系正确。</a:t>
            </a:r>
          </a:p>
        </p:txBody>
      </p:sp>
      <p:sp>
        <p:nvSpPr>
          <p:cNvPr id="15" name="Rounded Rectangle 14"/>
          <p:cNvSpPr/>
          <p:nvPr/>
        </p:nvSpPr>
        <p:spPr>
          <a:xfrm>
            <a:off x="8732520" y="6053328"/>
            <a:ext cx="7909560" cy="2743200"/>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0" y="6208776"/>
            <a:ext cx="7452360"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04  评价范围遵守</a:t>
            </a:r>
          </a:p>
        </p:txBody>
      </p:sp>
      <p:sp>
        <p:nvSpPr>
          <p:cNvPr id="17" name="TextBox 16"/>
          <p:cNvSpPr txBox="1"/>
          <p:nvPr/>
        </p:nvSpPr>
        <p:spPr>
          <a:xfrm>
            <a:off x="8961120" y="6748272"/>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将评价限制在视觉与事实准确性上。排除风格、格式、字数和指令遵循约束等因素。如果两个候选回答具有相同的事实错误，则报告“None”；不要使用非事实性准则打破平局。</a:t>
            </a:r>
          </a:p>
        </p:txBody>
      </p:sp>
      <p:sp>
        <p:nvSpPr>
          <p:cNvPr id="18" name="TextBox 17"/>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原文来源：output/fw6_27b/init/rubric.json；5 个固定 root + 17 条子准则 = 22 节点。完整翻译，不改写规则。</a:t>
            </a:r>
          </a:p>
        </p:txBody>
      </p:sp>
    </p:spTree>
    <p:extLst>
      <p:ext uri="{BB962C8B-B14F-4D97-AF65-F5344CB8AC3E}">
        <p14:creationId xmlns:p14="http://schemas.microsoft.com/office/powerpoint/2010/main" val="1761620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8660BE"/>
                </a:solidFill>
                <a:latin typeface="Microsoft YaHei"/>
              </a:defRPr>
            </a:pPr>
            <a:r>
              <a:t>附录 · Init Rubric 完整中文译文   4 / 5   ·   初始化 split 后，演化前</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创造性与表达力</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Root：在适当情况下展现想象力和原创性，或在分析性任务中展现精确且体现知识的表达，同时保持与情境相适应。</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8660BE"/>
                </a:solidFill>
                <a:latin typeface="Microsoft YaHei"/>
              </a:defRPr>
            </a:pPr>
            <a:r>
              <a:t>01  任务类型匹配</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判断问题意图是倾向于创造性展开，还是分析性精确。对于开放式或描述性任务，应优先考虑想象力和原创性。对于事实、数学或识别任务，应优先考虑精确且体现知识的表达。惩罚不匹配的情况，例如对事实性问题施加创作性修饰，或对简单分类任务给出过度冗长的回答。</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8660BE"/>
                </a:solidFill>
                <a:latin typeface="Microsoft YaHei"/>
              </a:defRPr>
            </a:pPr>
            <a:r>
              <a:t>02  基于证据的表达</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在评价表达质量之前，根据图像证据核验所有视觉、数学和特定领域的陈述。不要把虚构细节、错误计算或推测性的外部联系当作创造性或精确性给予奖励。对于分析性任务，应确保推理步骤内部一致且逻辑合理；如果事实依据存在问题，应优先考虑连贯的思路，而不是风格性修饰。</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8660BE"/>
                </a:solidFill>
                <a:latin typeface="Microsoft YaHei"/>
              </a:defRPr>
            </a:pPr>
            <a:r>
              <a:t>03  情境适当性与约束</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将语气、相关性以及对明确格式约束的遵守纳入情境适当性的评价。确保添加的背景内容能够改善回答，而不是引入冗余信息或违反提示规则，例如字数和结构要求。对于直接明了的任务，相比削弱分析焦点的冗长展开，应优先选择简洁、直接的解释。</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原文来源：output/fw6_27b/init/rubric.json；5 个固定 root + 17 条子准则 = 22 节点。完整翻译，不改写规则。</a:t>
            </a:r>
          </a:p>
        </p:txBody>
      </p:sp>
    </p:spTree>
    <p:extLst>
      <p:ext uri="{BB962C8B-B14F-4D97-AF65-F5344CB8AC3E}">
        <p14:creationId xmlns:p14="http://schemas.microsoft.com/office/powerpoint/2010/main" val="2246438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3183CB"/>
                </a:solidFill>
                <a:latin typeface="Microsoft YaHei"/>
              </a:defRPr>
            </a:pPr>
            <a:r>
              <a:t>附录 · Init Rubric 完整中文译文   5 / 5   ·   初始化 split 后，演化前</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清晰性与连贯性</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Root：清楚且合乎逻辑地传达思想，语言流畅、结构组织良好，信息衔接顺畅。</a:t>
            </a:r>
          </a:p>
        </p:txBody>
      </p:sp>
      <p:sp>
        <p:nvSpPr>
          <p:cNvPr id="6" name="Rounded Rectangle 5"/>
          <p:cNvSpPr/>
          <p:nvPr/>
        </p:nvSpPr>
        <p:spPr>
          <a:xfrm>
            <a:off x="502920" y="3063240"/>
            <a:ext cx="7909560" cy="2743200"/>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7452360"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01  清晰性独立于准确性</a:t>
            </a:r>
          </a:p>
        </p:txBody>
      </p:sp>
      <p:sp>
        <p:nvSpPr>
          <p:cNvPr id="8" name="TextBox 7"/>
          <p:cNvSpPr txBox="1"/>
          <p:nvPr/>
        </p:nvSpPr>
        <p:spPr>
          <a:xfrm>
            <a:off x="731520" y="3758184"/>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将语言流畅性和内部逻辑一致性与外部事实正确性或视觉依据分开评价。在比较沟通质量时应用此检查；只有当错误造成内部矛盾或打断推理衔接时，才惩罚清晰性，而不是仅仅因为事实不正确。</a:t>
            </a:r>
          </a:p>
        </p:txBody>
      </p:sp>
      <p:sp>
        <p:nvSpPr>
          <p:cNvPr id="9" name="Rounded Rectangle 8"/>
          <p:cNvSpPr/>
          <p:nvPr/>
        </p:nvSpPr>
        <p:spPr>
          <a:xfrm>
            <a:off x="8732520" y="3063240"/>
            <a:ext cx="7909560" cy="2743200"/>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0" y="3218688"/>
            <a:ext cx="7452360"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02  结构遵守与组织</a:t>
            </a:r>
          </a:p>
        </p:txBody>
      </p:sp>
      <p:sp>
        <p:nvSpPr>
          <p:cNvPr id="11" name="TextBox 10"/>
          <p:cNvSpPr txBox="1"/>
          <p:nvPr/>
        </p:nvSpPr>
        <p:spPr>
          <a:xfrm>
            <a:off x="8961120" y="3758184"/>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核验回答是否遵守明确的格式约束，例如列表结构、句子数量和标点要求。在评价组织结构时应用此检查；相比内容量更多但格式较差的回答，应优先选择保持有序结构且符合提示要求的回答。</a:t>
            </a:r>
          </a:p>
        </p:txBody>
      </p:sp>
      <p:sp>
        <p:nvSpPr>
          <p:cNvPr id="12" name="Rounded Rectangle 11"/>
          <p:cNvSpPr/>
          <p:nvPr/>
        </p:nvSpPr>
        <p:spPr>
          <a:xfrm>
            <a:off x="502920" y="6053328"/>
            <a:ext cx="7909560" cy="2743200"/>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208776"/>
            <a:ext cx="7452360"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03  信息密度与衔接</a:t>
            </a:r>
          </a:p>
        </p:txBody>
      </p:sp>
      <p:sp>
        <p:nvSpPr>
          <p:cNvPr id="14" name="TextBox 13"/>
          <p:cNvSpPr txBox="1"/>
          <p:nvPr/>
        </p:nvSpPr>
        <p:spPr>
          <a:xfrm>
            <a:off x="731520" y="6748272"/>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评估展开内容是在帮助还是妨碍核心信息的传达。在评价篇幅时应用此检查；如果简短表达直接明了，应将其视为连贯，并惩罚那些不增加逻辑价值、却遮蔽主旨的不必要冗长内容或填充性短语。</a:t>
            </a:r>
          </a:p>
        </p:txBody>
      </p:sp>
      <p:sp>
        <p:nvSpPr>
          <p:cNvPr id="15" name="Rounded Rectangle 14"/>
          <p:cNvSpPr/>
          <p:nvPr/>
        </p:nvSpPr>
        <p:spPr>
          <a:xfrm>
            <a:off x="8732520" y="6053328"/>
            <a:ext cx="7909560" cy="2743200"/>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0" y="6208776"/>
            <a:ext cx="7452360"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04  语义精确性与范围</a:t>
            </a:r>
          </a:p>
        </p:txBody>
      </p:sp>
      <p:sp>
        <p:nvSpPr>
          <p:cNvPr id="17" name="TextBox 16"/>
          <p:cNvSpPr txBox="1"/>
          <p:nvPr/>
        </p:nvSpPr>
        <p:spPr>
          <a:xfrm>
            <a:off x="8961120" y="6748272"/>
            <a:ext cx="7452360" cy="1965960"/>
          </a:xfrm>
          <a:prstGeom prst="rect">
            <a:avLst/>
          </a:prstGeom>
          <a:noFill/>
        </p:spPr>
        <p:txBody>
          <a:bodyPr wrap="square" lIns="18288" tIns="0" rIns="18288" bIns="0">
            <a:spAutoFit/>
          </a:bodyPr>
          <a:lstStyle/>
          <a:p>
            <a:pPr algn="l">
              <a:spcAft>
                <a:spcPts val="900"/>
              </a:spcAft>
              <a:defRPr sz="1900" b="0">
                <a:solidFill>
                  <a:srgbClr val="16345A"/>
                </a:solidFill>
                <a:latin typeface="Microsoft YaHei"/>
              </a:defRPr>
            </a:pPr>
            <a:r>
              <a:t>检查表层语法之外的对象范围歧义与术语精确性。在比较措辞时应用此检查；当结构清晰性相当时，相比流畅但含糊的概括，应优先选择使用具体、明确指代的回答。</a:t>
            </a:r>
          </a:p>
        </p:txBody>
      </p:sp>
      <p:sp>
        <p:nvSpPr>
          <p:cNvPr id="18" name="TextBox 17"/>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原文来源：output/fw6_27b/init/rubric.json；5 个固定 root + 17 条子准则 = 22 节点。完整翻译，不改写规则。</a:t>
            </a:r>
          </a:p>
        </p:txBody>
      </p:sp>
    </p:spTree>
    <p:extLst>
      <p:ext uri="{BB962C8B-B14F-4D97-AF65-F5344CB8AC3E}">
        <p14:creationId xmlns:p14="http://schemas.microsoft.com/office/powerpoint/2010/main" val="177353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3183CB"/>
                </a:solidFill>
                <a:latin typeface="Microsoft YaHei"/>
              </a:defRPr>
            </a:pPr>
            <a:r>
              <a:t>附录 · 最终 e02 Rubric 完整中文译文   1 / 5</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完整性与覆盖度</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Root：回应用户问题中任务的完整范围，覆盖提示中指定的所有主要要素，以及相关的视觉方面和上下文线索。</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01  提示约束遵守</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当提示指定格式、禁止性约束或特定输出结构时适用。核验回答是否严格遵守所有明确规则，例如标点符号、禁用词和字数要求。遵守这些约束是完整性的必要条件；无论内容量或视觉细节密度如何，违反约束都应导致更低的评价。</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02  任务要素利用</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适用于所有问题。检查候选回答是否直接回答了所有具体问题，或完成了核心指令，而没有添加未经要求的建议或假设情境。完整性由是否满足明确的任务要求决定；添加未被要求的内容不会提高完整性，如果这些内容遮蔽了主要答案，还可能降低完整性。</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03  视觉依据有效性</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适用于视觉描述。核验文本中声称的物体、属性和关系是否与图像证据相符。幻觉会降低完整性。不过，视觉细节密度的重要性低于任务完成情况；相比不服务于主要任务的冗长描述，应优先选择准确而简洁的视觉陈述。</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原文来源：output/fw6_27b/state.json → rubric；保留全部规则与限定条件，仅翻译，不改写实验准则。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119D96"/>
                </a:solidFill>
                <a:latin typeface="Microsoft YaHei"/>
              </a:defRPr>
            </a:pPr>
            <a:r>
              <a:t>附录 · 最终 e02 Rubric 完整中文译文   2 / 5</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视觉依据与细节</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Root：引用图像中可观察到的元素，例如物体、空间关系、颜色或文字，并以这些细节作为描述或分析的依据。</a:t>
            </a:r>
          </a:p>
        </p:txBody>
      </p:sp>
      <p:sp>
        <p:nvSpPr>
          <p:cNvPr id="6" name="Rounded Rectangle 5"/>
          <p:cNvSpPr/>
          <p:nvPr/>
        </p:nvSpPr>
        <p:spPr>
          <a:xfrm>
            <a:off x="502920" y="3063240"/>
            <a:ext cx="7909560" cy="2743200"/>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7452360"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01  视觉事实性与推断有效性</a:t>
            </a:r>
          </a:p>
        </p:txBody>
      </p:sp>
      <p:sp>
        <p:nvSpPr>
          <p:cNvPr id="8" name="TextBox 7"/>
          <p:cNvSpPr txBox="1"/>
          <p:nvPr/>
        </p:nvSpPr>
        <p:spPr>
          <a:xfrm>
            <a:off x="731520" y="3758184"/>
            <a:ext cx="7452360" cy="1965960"/>
          </a:xfrm>
          <a:prstGeom prst="rect">
            <a:avLst/>
          </a:prstGeom>
          <a:noFill/>
        </p:spPr>
        <p:txBody>
          <a:bodyPr wrap="square" lIns="18288" tIns="0" rIns="18288" bIns="0">
            <a:spAutoFit/>
          </a:bodyPr>
          <a:lstStyle/>
          <a:p>
            <a:pPr algn="l">
              <a:spcAft>
                <a:spcPts val="900"/>
              </a:spcAft>
              <a:defRPr sz="1850" b="0">
                <a:solidFill>
                  <a:srgbClr val="16345A"/>
                </a:solidFill>
                <a:latin typeface="Microsoft YaHei"/>
              </a:defRPr>
            </a:pPr>
            <a:r>
              <a:t>根据可观察证据核验明确的视觉陈述，包括物体、属性和文字。区分编造（幻觉）与根据可见特征得出的有效推断，例如形状、纹理、上下文和活动。对于编造不存在的元素，应给予比误分类已存在的元素，或作出有视觉线索支持的合理情境解释更严重的惩罚。在判断对象身份的陈述时，应优先使用对象本身的特定证据，而不是图像表现媒介的特定线索。</a:t>
            </a:r>
          </a:p>
        </p:txBody>
      </p:sp>
      <p:sp>
        <p:nvSpPr>
          <p:cNvPr id="9" name="Rounded Rectangle 8"/>
          <p:cNvSpPr/>
          <p:nvPr/>
        </p:nvSpPr>
        <p:spPr>
          <a:xfrm>
            <a:off x="8732520" y="3063240"/>
            <a:ext cx="7909560" cy="2743200"/>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0" y="3218688"/>
            <a:ext cx="7452360"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02  空间与数量核验</a:t>
            </a:r>
          </a:p>
        </p:txBody>
      </p:sp>
      <p:sp>
        <p:nvSpPr>
          <p:cNvPr id="11" name="TextBox 10"/>
          <p:cNvSpPr txBox="1"/>
          <p:nvPr/>
        </p:nvSpPr>
        <p:spPr>
          <a:xfrm>
            <a:off x="8961120" y="3758184"/>
            <a:ext cx="7452360" cy="1965960"/>
          </a:xfrm>
          <a:prstGeom prst="rect">
            <a:avLst/>
          </a:prstGeom>
          <a:noFill/>
        </p:spPr>
        <p:txBody>
          <a:bodyPr wrap="square" lIns="18288" tIns="0" rIns="18288" bIns="0">
            <a:spAutoFit/>
          </a:bodyPr>
          <a:lstStyle/>
          <a:p>
            <a:pPr algn="l">
              <a:spcAft>
                <a:spcPts val="900"/>
              </a:spcAft>
              <a:defRPr sz="1850" b="0">
                <a:solidFill>
                  <a:srgbClr val="16345A"/>
                </a:solidFill>
                <a:latin typeface="Microsoft YaHei"/>
              </a:defRPr>
            </a:pPr>
            <a:r>
              <a:t>在评价候选回答的准确性之前，独立核验物体数量、空间关系和深度线索，例如遮挡和尺度。区分二维位置与三维深度，并利用视觉尺度证据核验空间形容词，例如“高大”与“位置高”。在计数或识别物体状态时，应考虑部分遮挡的影响。</a:t>
            </a:r>
          </a:p>
        </p:txBody>
      </p:sp>
      <p:sp>
        <p:nvSpPr>
          <p:cNvPr id="12" name="Rounded Rectangle 11"/>
          <p:cNvSpPr/>
          <p:nvPr/>
        </p:nvSpPr>
        <p:spPr>
          <a:xfrm>
            <a:off x="502920" y="6053328"/>
            <a:ext cx="7909560" cy="2743200"/>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208776"/>
            <a:ext cx="7452360"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03  图表标签与几何一致性</a:t>
            </a:r>
          </a:p>
        </p:txBody>
      </p:sp>
      <p:sp>
        <p:nvSpPr>
          <p:cNvPr id="14" name="TextBox 13"/>
          <p:cNvSpPr txBox="1"/>
          <p:nvPr/>
        </p:nvSpPr>
        <p:spPr>
          <a:xfrm>
            <a:off x="731520" y="6748272"/>
            <a:ext cx="7452360" cy="1965960"/>
          </a:xfrm>
          <a:prstGeom prst="rect">
            <a:avLst/>
          </a:prstGeom>
          <a:noFill/>
        </p:spPr>
        <p:txBody>
          <a:bodyPr wrap="square" lIns="18288" tIns="0" rIns="18288" bIns="0">
            <a:spAutoFit/>
          </a:bodyPr>
          <a:lstStyle/>
          <a:p>
            <a:pPr algn="l">
              <a:spcAft>
                <a:spcPts val="900"/>
              </a:spcAft>
              <a:defRPr sz="1850" b="0">
                <a:solidFill>
                  <a:srgbClr val="16345A"/>
                </a:solidFill>
                <a:latin typeface="Microsoft YaHei"/>
              </a:defRPr>
            </a:pPr>
            <a:r>
              <a:t>对于包含图表或几何图形的图像，确认文本中的变量和计算是否正确对应视觉标签、线段和标注。核验推理中使用的几何关系是否与视觉标记一致，例如角弧和边的标记，而不是仅依赖抽象假设或提示文本。</a:t>
            </a:r>
          </a:p>
        </p:txBody>
      </p:sp>
      <p:sp>
        <p:nvSpPr>
          <p:cNvPr id="15" name="Rounded Rectangle 14"/>
          <p:cNvSpPr/>
          <p:nvPr/>
        </p:nvSpPr>
        <p:spPr>
          <a:xfrm>
            <a:off x="8732520" y="6053328"/>
            <a:ext cx="7909560" cy="2743200"/>
          </a:xfrm>
          <a:prstGeom prst="roundRect">
            <a:avLst>
              <a:gd name="adj" fmla="val 8000"/>
            </a:avLst>
          </a:prstGeom>
          <a:solidFill>
            <a:srgbClr val="F2F6FB"/>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0" y="6208776"/>
            <a:ext cx="7452360" cy="393192"/>
          </a:xfrm>
          <a:prstGeom prst="rect">
            <a:avLst/>
          </a:prstGeom>
          <a:noFill/>
        </p:spPr>
        <p:txBody>
          <a:bodyPr wrap="square" lIns="18288" tIns="0" rIns="18288" bIns="0">
            <a:spAutoFit/>
          </a:bodyPr>
          <a:lstStyle/>
          <a:p>
            <a:pPr algn="l">
              <a:spcAft>
                <a:spcPts val="900"/>
              </a:spcAft>
              <a:defRPr sz="2200" b="1">
                <a:solidFill>
                  <a:srgbClr val="119D96"/>
                </a:solidFill>
                <a:latin typeface="Microsoft YaHei"/>
              </a:defRPr>
            </a:pPr>
            <a:r>
              <a:t>04  视觉依据的相关性与约束优先级</a:t>
            </a:r>
          </a:p>
        </p:txBody>
      </p:sp>
      <p:sp>
        <p:nvSpPr>
          <p:cNvPr id="17" name="TextBox 16"/>
          <p:cNvSpPr txBox="1"/>
          <p:nvPr/>
        </p:nvSpPr>
        <p:spPr>
          <a:xfrm>
            <a:off x="8961120" y="6748272"/>
            <a:ext cx="7452360" cy="1965960"/>
          </a:xfrm>
          <a:prstGeom prst="rect">
            <a:avLst/>
          </a:prstGeom>
          <a:noFill/>
        </p:spPr>
        <p:txBody>
          <a:bodyPr wrap="square" lIns="18288" tIns="0" rIns="18288" bIns="0">
            <a:spAutoFit/>
          </a:bodyPr>
          <a:lstStyle/>
          <a:p>
            <a:pPr algn="l">
              <a:spcAft>
                <a:spcPts val="900"/>
              </a:spcAft>
              <a:defRPr sz="1850" b="0">
                <a:solidFill>
                  <a:srgbClr val="16345A"/>
                </a:solidFill>
                <a:latin typeface="Microsoft YaHei"/>
              </a:defRPr>
            </a:pPr>
            <a:r>
              <a:t>评估所引用的视觉细节是否在逻辑上支持所请求的具体陈述或任务。确保作为依据的元素与分析相关，而不是无关的可见文字。如果两个候选回答的视觉依据都较弱，应优先选择更好地满足其他明确提示约束的候选回答，而不是默认输出“None”。</a:t>
            </a:r>
          </a:p>
        </p:txBody>
      </p:sp>
      <p:sp>
        <p:nvSpPr>
          <p:cNvPr id="18" name="TextBox 17"/>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原文来源：output/fw6_27b/state.json → rubric；保留全部规则与限定条件，仅翻译，不改写实验准则。</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D67B32"/>
                </a:solidFill>
                <a:latin typeface="Microsoft YaHei"/>
              </a:defRPr>
            </a:pPr>
            <a:r>
              <a:t>附录 · 最终 e02 Rubric 完整中文译文   3 / 5</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事实性／无幻觉</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Root：避免视觉或事实错误，确保所有细节和陈述都在图像中有所呈现，或得到提示的合理支持。</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01  视觉依据核验</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根据视觉证据核验候选回答关于图像内容的所有陈述，包括物体、数量和标签。明确确认实体是否存在以及标签所指向的对象，以防评判模型对真实情况产生幻觉。这能确保比较基于实际图像内容，而不是评判模型的假设。</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02  错误严重程度与分类</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区分幻觉（编造的细节）、遗漏（缺失的可见细节）与有效术语。在数学任务中，无论对几何关系的解释有何差异，都应优先选择结果在数学上自洽的候选回答，例如得到有效实数的回答，而不是包含不可能成立的推导的回答。这能确保具有有效数学一致性的候选回答优于得出不可能结果的候选回答。</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D67B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D67B32"/>
                </a:solidFill>
                <a:latin typeface="Microsoft YaHei"/>
              </a:defRPr>
            </a:pPr>
            <a:r>
              <a:t>03  评价范围边界约束</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将评价严格限制在视觉与事实准确性上。排除风格、冗长程度、字数和格式约束等因素。只有当事实错误在类型、数量和严重程度上完全相同时，才报告“None”。这能防止非事实性准则影响偏好，并确保“None”仅用于事实表现真正等价的情况。</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原文来源：output/fw6_27b/state.json → rubric；保留全部规则与限定条件，仅翻译，不改写实验准则。</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8660BE"/>
                </a:solidFill>
                <a:latin typeface="Microsoft YaHei"/>
              </a:defRPr>
            </a:pPr>
            <a:r>
              <a:t>附录 · 最终 e02 Rubric 完整中文译文   4 / 5</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创造性与表达力</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Root：在适当情况下展现想象力和原创性，或在分析性任务中展现精确且体现知识的表达，同时保持与情境相适应。</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8660BE"/>
                </a:solidFill>
                <a:latin typeface="Microsoft YaHei"/>
              </a:defRPr>
            </a:pPr>
            <a:r>
              <a:t>01  任务类型与细节适当性</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判断问题需要创造性展开还是分析性精确。对于分析性任务，应优先考虑语义准确性和必要的领域背景，而不是简短程度；仅惩罚削弱焦点的冗余信息。对于识别任务，除非明确要求展开，否则应优先选择简洁的标签式回答。</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8660BE"/>
                </a:solidFill>
                <a:latin typeface="Microsoft YaHei"/>
              </a:defRPr>
            </a:pPr>
            <a:r>
              <a:t>02  证据依据与事实完整性</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根据所提供的证据核验所有视觉、数学和领域知识陈述。无论表达质量如何，都应惩罚幻觉和事实错误。区分缺乏支持的推测与描述性任务中为保持视觉描述完整性而使用的轻微保留性措辞。</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866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8660BE"/>
                </a:solidFill>
                <a:latin typeface="Microsoft YaHei"/>
              </a:defRPr>
            </a:pPr>
            <a:r>
              <a:t>03  语义精确性与上下文相关性</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对于事实性回答，应优先考虑语义准确性，而不是精确的关键词匹配。根据额外背景内容与问题意图的相关性对其进行评价；保留提供有效信息的领域细节，同时惩罚无关展开。确保遵守明确的格式约束。</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原文来源：output/fw6_27b/state.json → rubric；保留全部规则与限定条件，仅翻译，不改写实验准则。</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5544800" cy="320040"/>
          </a:xfrm>
          <a:prstGeom prst="rect">
            <a:avLst/>
          </a:prstGeom>
          <a:noFill/>
        </p:spPr>
        <p:txBody>
          <a:bodyPr wrap="square" lIns="18288" tIns="0" rIns="18288" bIns="0">
            <a:spAutoFit/>
          </a:bodyPr>
          <a:lstStyle/>
          <a:p>
            <a:pPr algn="l">
              <a:spcAft>
                <a:spcPts val="900"/>
              </a:spcAft>
              <a:defRPr sz="1600" b="1">
                <a:solidFill>
                  <a:srgbClr val="3183CB"/>
                </a:solidFill>
                <a:latin typeface="Microsoft YaHei"/>
              </a:defRPr>
            </a:pPr>
            <a:r>
              <a:t>附录 · 最终 e02 Rubric 完整中文译文   5 / 5</a:t>
            </a:r>
          </a:p>
        </p:txBody>
      </p:sp>
      <p:sp>
        <p:nvSpPr>
          <p:cNvPr id="3" name="TextBox 2"/>
          <p:cNvSpPr txBox="1"/>
          <p:nvPr/>
        </p:nvSpPr>
        <p:spPr>
          <a:xfrm>
            <a:off x="502920" y="841248"/>
            <a:ext cx="16139159" cy="640080"/>
          </a:xfrm>
          <a:prstGeom prst="rect">
            <a:avLst/>
          </a:prstGeom>
          <a:noFill/>
        </p:spPr>
        <p:txBody>
          <a:bodyPr wrap="square" lIns="18288" tIns="0" rIns="18288" bIns="0">
            <a:spAutoFit/>
          </a:bodyPr>
          <a:lstStyle/>
          <a:p>
            <a:pPr algn="l">
              <a:spcAft>
                <a:spcPts val="900"/>
              </a:spcAft>
              <a:defRPr sz="3400" b="1">
                <a:solidFill>
                  <a:srgbClr val="16345A"/>
                </a:solidFill>
                <a:latin typeface="Microsoft YaHei"/>
              </a:defRPr>
            </a:pPr>
            <a:r>
              <a:t>清晰性与连贯性</a:t>
            </a:r>
          </a:p>
        </p:txBody>
      </p:sp>
      <p:sp>
        <p:nvSpPr>
          <p:cNvPr id="4" name="Rounded Rectangle 3"/>
          <p:cNvSpPr/>
          <p:nvPr/>
        </p:nvSpPr>
        <p:spPr>
          <a:xfrm>
            <a:off x="502920" y="1737360"/>
            <a:ext cx="16139159" cy="1051560"/>
          </a:xfrm>
          <a:prstGeom prst="roundRect">
            <a:avLst>
              <a:gd name="adj" fmla="val 8000"/>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920240"/>
            <a:ext cx="15636240" cy="777240"/>
          </a:xfrm>
          <a:prstGeom prst="rect">
            <a:avLst/>
          </a:prstGeom>
          <a:noFill/>
        </p:spPr>
        <p:txBody>
          <a:bodyPr wrap="square" lIns="18288" tIns="0" rIns="18288" bIns="0">
            <a:spAutoFit/>
          </a:bodyPr>
          <a:lstStyle/>
          <a:p>
            <a:pPr algn="l">
              <a:spcAft>
                <a:spcPts val="900"/>
              </a:spcAft>
              <a:defRPr sz="2200" b="0">
                <a:solidFill>
                  <a:srgbClr val="16345A"/>
                </a:solidFill>
                <a:latin typeface="Microsoft YaHei"/>
              </a:defRPr>
            </a:pPr>
            <a:r>
              <a:t>Root：清楚且合乎逻辑地传达思想，语言流畅、结构组织良好，信息衔接顺畅。</a:t>
            </a:r>
          </a:p>
        </p:txBody>
      </p:sp>
      <p:sp>
        <p:nvSpPr>
          <p:cNvPr id="6" name="Rounded Rectangle 5"/>
          <p:cNvSpPr/>
          <p:nvPr/>
        </p:nvSpPr>
        <p:spPr>
          <a:xfrm>
            <a:off x="502920" y="3063240"/>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18688"/>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01  清晰性独立于准确性</a:t>
            </a:r>
          </a:p>
        </p:txBody>
      </p:sp>
      <p:sp>
        <p:nvSpPr>
          <p:cNvPr id="8" name="TextBox 7"/>
          <p:cNvSpPr txBox="1"/>
          <p:nvPr/>
        </p:nvSpPr>
        <p:spPr>
          <a:xfrm>
            <a:off x="731520" y="3758184"/>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将语言流畅性和内部逻辑一致性与外部事实正确性分开评价。只有在文本内部存在矛盾或推理衔接被打断时，才对清晰性进行惩罚；不要因为事实不准确、视觉依据不匹配或数学错误而惩罚清晰性。</a:t>
            </a:r>
          </a:p>
        </p:txBody>
      </p:sp>
      <p:sp>
        <p:nvSpPr>
          <p:cNvPr id="9" name="Rounded Rectangle 8"/>
          <p:cNvSpPr/>
          <p:nvPr/>
        </p:nvSpPr>
        <p:spPr>
          <a:xfrm>
            <a:off x="502920" y="4910328"/>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065776"/>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02  结构遵守与约束</a:t>
            </a:r>
          </a:p>
        </p:txBody>
      </p:sp>
      <p:sp>
        <p:nvSpPr>
          <p:cNvPr id="11" name="TextBox 10"/>
          <p:cNvSpPr txBox="1"/>
          <p:nvPr/>
        </p:nvSpPr>
        <p:spPr>
          <a:xfrm>
            <a:off x="731520" y="5605272"/>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核验回答是否遵守明确的格式约束，例如列表结构、句子数量和标点符号。相比内容量更多但格式较差的回答，应优先选择保持有序结构且符合提示要求的回答。</a:t>
            </a:r>
          </a:p>
        </p:txBody>
      </p:sp>
      <p:sp>
        <p:nvSpPr>
          <p:cNvPr id="12" name="Rounded Rectangle 11"/>
          <p:cNvSpPr/>
          <p:nvPr/>
        </p:nvSpPr>
        <p:spPr>
          <a:xfrm>
            <a:off x="502920" y="6757416"/>
            <a:ext cx="16139159" cy="1655064"/>
          </a:xfrm>
          <a:prstGeom prst="roundRect">
            <a:avLst>
              <a:gd name="adj" fmla="val 8000"/>
            </a:avLst>
          </a:prstGeom>
          <a:solidFill>
            <a:srgbClr val="F2F6FB"/>
          </a:solidFill>
          <a:ln w="12700">
            <a:solidFill>
              <a:srgbClr val="3183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912864"/>
            <a:ext cx="15681959" cy="393192"/>
          </a:xfrm>
          <a:prstGeom prst="rect">
            <a:avLst/>
          </a:prstGeom>
          <a:noFill/>
        </p:spPr>
        <p:txBody>
          <a:bodyPr wrap="square" lIns="18288" tIns="0" rIns="18288" bIns="0">
            <a:spAutoFit/>
          </a:bodyPr>
          <a:lstStyle/>
          <a:p>
            <a:pPr algn="l">
              <a:spcAft>
                <a:spcPts val="900"/>
              </a:spcAft>
              <a:defRPr sz="2200" b="1">
                <a:solidFill>
                  <a:srgbClr val="3183CB"/>
                </a:solidFill>
                <a:latin typeface="Microsoft YaHei"/>
              </a:defRPr>
            </a:pPr>
            <a:r>
              <a:t>03  信息密度与视觉上下文</a:t>
            </a:r>
          </a:p>
        </p:txBody>
      </p:sp>
      <p:sp>
        <p:nvSpPr>
          <p:cNvPr id="14" name="TextBox 13"/>
          <p:cNvSpPr txBox="1"/>
          <p:nvPr/>
        </p:nvSpPr>
        <p:spPr>
          <a:xfrm>
            <a:off x="731520" y="7452360"/>
            <a:ext cx="15681959" cy="877824"/>
          </a:xfrm>
          <a:prstGeom prst="rect">
            <a:avLst/>
          </a:prstGeom>
          <a:noFill/>
        </p:spPr>
        <p:txBody>
          <a:bodyPr wrap="square" lIns="18288" tIns="0" rIns="18288" bIns="0">
            <a:spAutoFit/>
          </a:bodyPr>
          <a:lstStyle/>
          <a:p>
            <a:pPr algn="l">
              <a:spcAft>
                <a:spcPts val="900"/>
              </a:spcAft>
              <a:defRPr sz="2000" b="0">
                <a:solidFill>
                  <a:srgbClr val="16345A"/>
                </a:solidFill>
                <a:latin typeface="Microsoft YaHei"/>
              </a:defRPr>
            </a:pPr>
            <a:r>
              <a:t>评估展开内容是在帮助还是妨碍核心信息的表达。将必要的视觉上下文和具体指代视为有助于连贯性的细节；仅惩罚那些不增加逻辑价值、却遮蔽主旨的不必要冗长内容、填充性内容或模糊术语。</a:t>
            </a:r>
          </a:p>
        </p:txBody>
      </p:sp>
      <p:sp>
        <p:nvSpPr>
          <p:cNvPr id="15" name="TextBox 14"/>
          <p:cNvSpPr txBox="1"/>
          <p:nvPr/>
        </p:nvSpPr>
        <p:spPr>
          <a:xfrm>
            <a:off x="548640" y="9070848"/>
            <a:ext cx="15910559" cy="274320"/>
          </a:xfrm>
          <a:prstGeom prst="rect">
            <a:avLst/>
          </a:prstGeom>
          <a:noFill/>
        </p:spPr>
        <p:txBody>
          <a:bodyPr wrap="square" lIns="18288" tIns="0" rIns="18288" bIns="0">
            <a:spAutoFit/>
          </a:bodyPr>
          <a:lstStyle/>
          <a:p>
            <a:pPr algn="l">
              <a:spcAft>
                <a:spcPts val="900"/>
              </a:spcAft>
              <a:defRPr sz="1400" b="0">
                <a:solidFill>
                  <a:srgbClr val="586E87"/>
                </a:solidFill>
                <a:latin typeface="Microsoft YaHei"/>
              </a:defRPr>
            </a:pPr>
            <a:r>
              <a:t>原文来源：output/fw6_27b/state.json → rubric；保留全部规则与限定条件，仅翻译，不改写实验准则。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5544800" cy="320040"/>
          </a:xfrm>
          <a:prstGeom prst="rect">
            <a:avLst/>
          </a:prstGeom>
          <a:noFill/>
        </p:spPr>
        <p:txBody>
          <a:bodyPr wrap="square" lIns="18288" rIns="18288" tIns="0" bIns="0">
            <a:spAutoFit/>
          </a:bodyPr>
          <a:lstStyle/>
          <a:p>
            <a:pPr algn="l">
              <a:spcAft>
                <a:spcPts val="900"/>
              </a:spcAft>
              <a:defRPr sz="1600" b="1">
                <a:solidFill>
                  <a:srgbClr val="119D96"/>
                </a:solidFill>
                <a:latin typeface="Microsoft YaHei"/>
              </a:defRPr>
            </a:pPr>
            <a:r>
              <a:t>实验结果 · 显式递归对照已完成</a:t>
            </a:r>
          </a:p>
        </p:txBody>
      </p:sp>
      <p:sp>
        <p:nvSpPr>
          <p:cNvPr id="3" name="TextBox 2"/>
          <p:cNvSpPr txBox="1"/>
          <p:nvPr/>
        </p:nvSpPr>
        <p:spPr>
          <a:xfrm>
            <a:off x="502920" y="914400"/>
            <a:ext cx="16184880" cy="685800"/>
          </a:xfrm>
          <a:prstGeom prst="rect">
            <a:avLst/>
          </a:prstGeom>
          <a:noFill/>
        </p:spPr>
        <p:txBody>
          <a:bodyPr wrap="square" lIns="18288" rIns="18288" tIns="0" bIns="0">
            <a:spAutoFit/>
          </a:bodyPr>
          <a:lstStyle/>
          <a:p>
            <a:pPr algn="l">
              <a:spcAft>
                <a:spcPts val="900"/>
              </a:spcAft>
              <a:defRPr sz="3200" b="1">
                <a:solidFill>
                  <a:srgbClr val="16345A"/>
                </a:solidFill>
                <a:latin typeface="Microsoft YaHei"/>
              </a:defRPr>
            </a:pPr>
            <a:r>
              <a:t>冻结 Rubric 对照：递归未带来提升，Init 与 Final 持平</a:t>
            </a:r>
          </a:p>
        </p:txBody>
      </p:sp>
      <p:sp>
        <p:nvSpPr>
          <p:cNvPr id="4" name="TextBox 3"/>
          <p:cNvSpPr txBox="1"/>
          <p:nvPr/>
        </p:nvSpPr>
        <p:spPr>
          <a:xfrm>
            <a:off x="502920" y="1783080"/>
            <a:ext cx="16093440" cy="731520"/>
          </a:xfrm>
          <a:prstGeom prst="rect">
            <a:avLst/>
          </a:prstGeom>
          <a:noFill/>
        </p:spPr>
        <p:txBody>
          <a:bodyPr wrap="square" lIns="18288" rIns="18288" tIns="0" bIns="0">
            <a:spAutoFit/>
          </a:bodyPr>
          <a:lstStyle/>
          <a:p>
            <a:pPr algn="l">
              <a:spcAft>
                <a:spcPts val="900"/>
              </a:spcAft>
              <a:defRPr sz="2300" b="0">
                <a:solidFill>
                  <a:srgbClr val="586E87"/>
                </a:solidFill>
                <a:latin typeface="Microsoft YaHei"/>
              </a:defRPr>
            </a:pPr>
            <a:r>
              <a:t>相同 VLRB 1247 条、K=3 与 A/B 顺序；两条流程的调用粒度及提示词不同。</a:t>
            </a:r>
          </a:p>
        </p:txBody>
      </p:sp>
      <p:sp>
        <p:nvSpPr>
          <p:cNvPr id="5" name="Rounded Rectangle 4"/>
          <p:cNvSpPr/>
          <p:nvPr/>
        </p:nvSpPr>
        <p:spPr>
          <a:xfrm>
            <a:off x="502920" y="2743200"/>
            <a:ext cx="16139159" cy="630936"/>
          </a:xfrm>
          <a:prstGeom prst="roundRect">
            <a:avLst>
              <a:gd name="adj" fmla="val 8000"/>
            </a:avLst>
          </a:prstGeom>
          <a:solidFill>
            <a:srgbClr val="163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2889504"/>
            <a:ext cx="5257800" cy="402336"/>
          </a:xfrm>
          <a:prstGeom prst="rect">
            <a:avLst/>
          </a:prstGeom>
          <a:noFill/>
        </p:spPr>
        <p:txBody>
          <a:bodyPr wrap="square" lIns="18288" rIns="18288" tIns="0" bIns="0">
            <a:spAutoFit/>
          </a:bodyPr>
          <a:lstStyle/>
          <a:p>
            <a:pPr algn="l">
              <a:spcAft>
                <a:spcPts val="900"/>
              </a:spcAft>
              <a:defRPr sz="2000" b="1">
                <a:solidFill>
                  <a:srgbClr val="FFFFFF"/>
                </a:solidFill>
                <a:latin typeface="Microsoft YaHei"/>
              </a:defRPr>
            </a:pPr>
            <a:r>
              <a:t>Rubric / 判断流程</a:t>
            </a:r>
          </a:p>
        </p:txBody>
      </p:sp>
      <p:sp>
        <p:nvSpPr>
          <p:cNvPr id="7" name="TextBox 6"/>
          <p:cNvSpPr txBox="1"/>
          <p:nvPr/>
        </p:nvSpPr>
        <p:spPr>
          <a:xfrm>
            <a:off x="6108192" y="2889504"/>
            <a:ext cx="1280160" cy="402336"/>
          </a:xfrm>
          <a:prstGeom prst="rect">
            <a:avLst/>
          </a:prstGeom>
          <a:noFill/>
        </p:spPr>
        <p:txBody>
          <a:bodyPr wrap="square" lIns="18288" rIns="18288" tIns="0" bIns="0">
            <a:spAutoFit/>
          </a:bodyPr>
          <a:lstStyle/>
          <a:p>
            <a:pPr algn="l">
              <a:spcAft>
                <a:spcPts val="900"/>
              </a:spcAft>
              <a:defRPr sz="2000" b="1">
                <a:solidFill>
                  <a:srgbClr val="FFFFFF"/>
                </a:solidFill>
                <a:latin typeface="Microsoft YaHei"/>
              </a:defRPr>
            </a:pPr>
            <a:r>
              <a:t>正确数</a:t>
            </a:r>
          </a:p>
        </p:txBody>
      </p:sp>
      <p:sp>
        <p:nvSpPr>
          <p:cNvPr id="8" name="TextBox 7"/>
          <p:cNvSpPr txBox="1"/>
          <p:nvPr/>
        </p:nvSpPr>
        <p:spPr>
          <a:xfrm>
            <a:off x="7616952" y="2889504"/>
            <a:ext cx="2057400" cy="402336"/>
          </a:xfrm>
          <a:prstGeom prst="rect">
            <a:avLst/>
          </a:prstGeom>
          <a:noFill/>
        </p:spPr>
        <p:txBody>
          <a:bodyPr wrap="square" lIns="18288" rIns="18288" tIns="0" bIns="0">
            <a:spAutoFit/>
          </a:bodyPr>
          <a:lstStyle/>
          <a:p>
            <a:pPr algn="l">
              <a:spcAft>
                <a:spcPts val="900"/>
              </a:spcAft>
              <a:defRPr sz="2000" b="1">
                <a:solidFill>
                  <a:srgbClr val="FFFFFF"/>
                </a:solidFill>
                <a:latin typeface="Microsoft YaHei"/>
              </a:defRPr>
            </a:pPr>
            <a:r>
              <a:t>Strict ACC</a:t>
            </a:r>
          </a:p>
        </p:txBody>
      </p:sp>
      <p:sp>
        <p:nvSpPr>
          <p:cNvPr id="9" name="TextBox 8"/>
          <p:cNvSpPr txBox="1"/>
          <p:nvPr/>
        </p:nvSpPr>
        <p:spPr>
          <a:xfrm>
            <a:off x="9902952" y="2889504"/>
            <a:ext cx="2057400" cy="402336"/>
          </a:xfrm>
          <a:prstGeom prst="rect">
            <a:avLst/>
          </a:prstGeom>
          <a:noFill/>
        </p:spPr>
        <p:txBody>
          <a:bodyPr wrap="square" lIns="18288" rIns="18288" tIns="0" bIns="0">
            <a:spAutoFit/>
          </a:bodyPr>
          <a:lstStyle/>
          <a:p>
            <a:pPr algn="l">
              <a:spcAft>
                <a:spcPts val="900"/>
              </a:spcAft>
              <a:defRPr sz="2000" b="1">
                <a:solidFill>
                  <a:srgbClr val="FFFFFF"/>
                </a:solidFill>
                <a:latin typeface="Microsoft YaHei"/>
              </a:defRPr>
            </a:pPr>
            <a:r>
              <a:t>Overall ACC</a:t>
            </a:r>
          </a:p>
        </p:txBody>
      </p:sp>
      <p:sp>
        <p:nvSpPr>
          <p:cNvPr id="10" name="TextBox 9"/>
          <p:cNvSpPr txBox="1"/>
          <p:nvPr/>
        </p:nvSpPr>
        <p:spPr>
          <a:xfrm>
            <a:off x="12188952" y="2889504"/>
            <a:ext cx="2057400" cy="402336"/>
          </a:xfrm>
          <a:prstGeom prst="rect">
            <a:avLst/>
          </a:prstGeom>
          <a:noFill/>
        </p:spPr>
        <p:txBody>
          <a:bodyPr wrap="square" lIns="18288" rIns="18288" tIns="0" bIns="0">
            <a:spAutoFit/>
          </a:bodyPr>
          <a:lstStyle/>
          <a:p>
            <a:pPr algn="l">
              <a:spcAft>
                <a:spcPts val="900"/>
              </a:spcAft>
              <a:defRPr sz="2000" b="1">
                <a:solidFill>
                  <a:srgbClr val="FFFFFF"/>
                </a:solidFill>
                <a:latin typeface="Microsoft YaHei"/>
              </a:defRPr>
            </a:pPr>
            <a:r>
              <a:t>Macro ACC</a:t>
            </a:r>
          </a:p>
        </p:txBody>
      </p:sp>
      <p:sp>
        <p:nvSpPr>
          <p:cNvPr id="11" name="TextBox 10"/>
          <p:cNvSpPr txBox="1"/>
          <p:nvPr/>
        </p:nvSpPr>
        <p:spPr>
          <a:xfrm>
            <a:off x="14474952" y="2889504"/>
            <a:ext cx="2057400" cy="402336"/>
          </a:xfrm>
          <a:prstGeom prst="rect">
            <a:avLst/>
          </a:prstGeom>
          <a:noFill/>
        </p:spPr>
        <p:txBody>
          <a:bodyPr wrap="square" lIns="18288" rIns="18288" tIns="0" bIns="0">
            <a:spAutoFit/>
          </a:bodyPr>
          <a:lstStyle/>
          <a:p>
            <a:pPr algn="l">
              <a:spcAft>
                <a:spcPts val="900"/>
              </a:spcAft>
              <a:defRPr sz="2000" b="1">
                <a:solidFill>
                  <a:srgbClr val="FFFFFF"/>
                </a:solidFill>
                <a:latin typeface="Microsoft YaHei"/>
              </a:defRPr>
            </a:pPr>
            <a:r>
              <a:t>Coverage</a:t>
            </a:r>
          </a:p>
        </p:txBody>
      </p:sp>
      <p:sp>
        <p:nvSpPr>
          <p:cNvPr id="12" name="Rounded Rectangle 11"/>
          <p:cNvSpPr/>
          <p:nvPr/>
        </p:nvSpPr>
        <p:spPr>
          <a:xfrm>
            <a:off x="502920" y="3410712"/>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557016"/>
            <a:ext cx="52578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Init · Subtree + Arbiter</a:t>
            </a:r>
          </a:p>
        </p:txBody>
      </p:sp>
      <p:sp>
        <p:nvSpPr>
          <p:cNvPr id="14" name="TextBox 13"/>
          <p:cNvSpPr txBox="1"/>
          <p:nvPr/>
        </p:nvSpPr>
        <p:spPr>
          <a:xfrm>
            <a:off x="6108192" y="3557016"/>
            <a:ext cx="128016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872</a:t>
            </a:r>
          </a:p>
        </p:txBody>
      </p:sp>
      <p:sp>
        <p:nvSpPr>
          <p:cNvPr id="15" name="TextBox 14"/>
          <p:cNvSpPr txBox="1"/>
          <p:nvPr/>
        </p:nvSpPr>
        <p:spPr>
          <a:xfrm>
            <a:off x="7616952" y="3557016"/>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69.93%</a:t>
            </a:r>
          </a:p>
        </p:txBody>
      </p:sp>
      <p:sp>
        <p:nvSpPr>
          <p:cNvPr id="16" name="TextBox 15"/>
          <p:cNvSpPr txBox="1"/>
          <p:nvPr/>
        </p:nvSpPr>
        <p:spPr>
          <a:xfrm>
            <a:off x="9902952" y="3557016"/>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70.32%</a:t>
            </a:r>
          </a:p>
        </p:txBody>
      </p:sp>
      <p:sp>
        <p:nvSpPr>
          <p:cNvPr id="17" name="TextBox 16"/>
          <p:cNvSpPr txBox="1"/>
          <p:nvPr/>
        </p:nvSpPr>
        <p:spPr>
          <a:xfrm>
            <a:off x="12188952" y="3557016"/>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65.52%</a:t>
            </a:r>
          </a:p>
        </p:txBody>
      </p:sp>
      <p:sp>
        <p:nvSpPr>
          <p:cNvPr id="18" name="TextBox 17"/>
          <p:cNvSpPr txBox="1"/>
          <p:nvPr/>
        </p:nvSpPr>
        <p:spPr>
          <a:xfrm>
            <a:off x="14474952" y="3557016"/>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99.44%</a:t>
            </a:r>
          </a:p>
        </p:txBody>
      </p:sp>
      <p:sp>
        <p:nvSpPr>
          <p:cNvPr id="19" name="Rounded Rectangle 18"/>
          <p:cNvSpPr/>
          <p:nvPr/>
        </p:nvSpPr>
        <p:spPr>
          <a:xfrm>
            <a:off x="502920" y="4078224"/>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4224528"/>
            <a:ext cx="52578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Init · 显式递归</a:t>
            </a:r>
          </a:p>
        </p:txBody>
      </p:sp>
      <p:sp>
        <p:nvSpPr>
          <p:cNvPr id="21" name="TextBox 20"/>
          <p:cNvSpPr txBox="1"/>
          <p:nvPr/>
        </p:nvSpPr>
        <p:spPr>
          <a:xfrm>
            <a:off x="6108192" y="4224528"/>
            <a:ext cx="128016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813</a:t>
            </a:r>
          </a:p>
        </p:txBody>
      </p:sp>
      <p:sp>
        <p:nvSpPr>
          <p:cNvPr id="22" name="TextBox 21"/>
          <p:cNvSpPr txBox="1"/>
          <p:nvPr/>
        </p:nvSpPr>
        <p:spPr>
          <a:xfrm>
            <a:off x="7616952" y="4224528"/>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65.20%</a:t>
            </a:r>
          </a:p>
        </p:txBody>
      </p:sp>
      <p:sp>
        <p:nvSpPr>
          <p:cNvPr id="23" name="TextBox 22"/>
          <p:cNvSpPr txBox="1"/>
          <p:nvPr/>
        </p:nvSpPr>
        <p:spPr>
          <a:xfrm>
            <a:off x="9902952" y="4224528"/>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65.56%</a:t>
            </a:r>
          </a:p>
        </p:txBody>
      </p:sp>
      <p:sp>
        <p:nvSpPr>
          <p:cNvPr id="24" name="TextBox 23"/>
          <p:cNvSpPr txBox="1"/>
          <p:nvPr/>
        </p:nvSpPr>
        <p:spPr>
          <a:xfrm>
            <a:off x="12188952" y="4224528"/>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61.09%</a:t>
            </a:r>
          </a:p>
        </p:txBody>
      </p:sp>
      <p:sp>
        <p:nvSpPr>
          <p:cNvPr id="25" name="TextBox 24"/>
          <p:cNvSpPr txBox="1"/>
          <p:nvPr/>
        </p:nvSpPr>
        <p:spPr>
          <a:xfrm>
            <a:off x="14474952" y="4224528"/>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99.44%</a:t>
            </a:r>
          </a:p>
        </p:txBody>
      </p:sp>
      <p:sp>
        <p:nvSpPr>
          <p:cNvPr id="26" name="Rounded Rectangle 25"/>
          <p:cNvSpPr/>
          <p:nvPr/>
        </p:nvSpPr>
        <p:spPr>
          <a:xfrm>
            <a:off x="502920" y="4745736"/>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4892040"/>
            <a:ext cx="52578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Final · Subtree + Arbiter</a:t>
            </a:r>
          </a:p>
        </p:txBody>
      </p:sp>
      <p:sp>
        <p:nvSpPr>
          <p:cNvPr id="28" name="TextBox 27"/>
          <p:cNvSpPr txBox="1"/>
          <p:nvPr/>
        </p:nvSpPr>
        <p:spPr>
          <a:xfrm>
            <a:off x="6108192" y="4892040"/>
            <a:ext cx="128016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858</a:t>
            </a:r>
          </a:p>
        </p:txBody>
      </p:sp>
      <p:sp>
        <p:nvSpPr>
          <p:cNvPr id="29" name="TextBox 28"/>
          <p:cNvSpPr txBox="1"/>
          <p:nvPr/>
        </p:nvSpPr>
        <p:spPr>
          <a:xfrm>
            <a:off x="7616952" y="4892040"/>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68.81%</a:t>
            </a:r>
          </a:p>
        </p:txBody>
      </p:sp>
      <p:sp>
        <p:nvSpPr>
          <p:cNvPr id="30" name="TextBox 29"/>
          <p:cNvSpPr txBox="1"/>
          <p:nvPr/>
        </p:nvSpPr>
        <p:spPr>
          <a:xfrm>
            <a:off x="9902952" y="4892040"/>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69.14%</a:t>
            </a:r>
          </a:p>
        </p:txBody>
      </p:sp>
      <p:sp>
        <p:nvSpPr>
          <p:cNvPr id="31" name="TextBox 30"/>
          <p:cNvSpPr txBox="1"/>
          <p:nvPr/>
        </p:nvSpPr>
        <p:spPr>
          <a:xfrm>
            <a:off x="12188952" y="4892040"/>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63.93%</a:t>
            </a:r>
          </a:p>
        </p:txBody>
      </p:sp>
      <p:sp>
        <p:nvSpPr>
          <p:cNvPr id="32" name="TextBox 31"/>
          <p:cNvSpPr txBox="1"/>
          <p:nvPr/>
        </p:nvSpPr>
        <p:spPr>
          <a:xfrm>
            <a:off x="14474952" y="4892040"/>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99.52%</a:t>
            </a:r>
          </a:p>
        </p:txBody>
      </p:sp>
      <p:sp>
        <p:nvSpPr>
          <p:cNvPr id="33" name="Rounded Rectangle 32"/>
          <p:cNvSpPr/>
          <p:nvPr/>
        </p:nvSpPr>
        <p:spPr>
          <a:xfrm>
            <a:off x="502920" y="5413248"/>
            <a:ext cx="16139159" cy="630936"/>
          </a:xfrm>
          <a:prstGeom prst="roundRect">
            <a:avLst>
              <a:gd name="adj" fmla="val 8000"/>
            </a:avLst>
          </a:prstGeom>
          <a:solidFill>
            <a:srgbClr val="F2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5559552"/>
            <a:ext cx="52578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Final · 显式递归</a:t>
            </a:r>
          </a:p>
        </p:txBody>
      </p:sp>
      <p:sp>
        <p:nvSpPr>
          <p:cNvPr id="35" name="TextBox 34"/>
          <p:cNvSpPr txBox="1"/>
          <p:nvPr/>
        </p:nvSpPr>
        <p:spPr>
          <a:xfrm>
            <a:off x="6108192" y="5559552"/>
            <a:ext cx="128016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813</a:t>
            </a:r>
          </a:p>
        </p:txBody>
      </p:sp>
      <p:sp>
        <p:nvSpPr>
          <p:cNvPr id="36" name="TextBox 35"/>
          <p:cNvSpPr txBox="1"/>
          <p:nvPr/>
        </p:nvSpPr>
        <p:spPr>
          <a:xfrm>
            <a:off x="7616952" y="5559552"/>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65.20%</a:t>
            </a:r>
          </a:p>
        </p:txBody>
      </p:sp>
      <p:sp>
        <p:nvSpPr>
          <p:cNvPr id="37" name="TextBox 36"/>
          <p:cNvSpPr txBox="1"/>
          <p:nvPr/>
        </p:nvSpPr>
        <p:spPr>
          <a:xfrm>
            <a:off x="9902952" y="5559552"/>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65.51%</a:t>
            </a:r>
          </a:p>
        </p:txBody>
      </p:sp>
      <p:sp>
        <p:nvSpPr>
          <p:cNvPr id="38" name="TextBox 37"/>
          <p:cNvSpPr txBox="1"/>
          <p:nvPr/>
        </p:nvSpPr>
        <p:spPr>
          <a:xfrm>
            <a:off x="12188952" y="5559552"/>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60.47%</a:t>
            </a:r>
          </a:p>
        </p:txBody>
      </p:sp>
      <p:sp>
        <p:nvSpPr>
          <p:cNvPr id="39" name="TextBox 38"/>
          <p:cNvSpPr txBox="1"/>
          <p:nvPr/>
        </p:nvSpPr>
        <p:spPr>
          <a:xfrm>
            <a:off x="14474952" y="5559552"/>
            <a:ext cx="2057400" cy="402336"/>
          </a:xfrm>
          <a:prstGeom prst="rect">
            <a:avLst/>
          </a:prstGeom>
          <a:noFill/>
        </p:spPr>
        <p:txBody>
          <a:bodyPr wrap="square" lIns="18288" rIns="18288" tIns="0" bIns="0">
            <a:spAutoFit/>
          </a:bodyPr>
          <a:lstStyle/>
          <a:p>
            <a:pPr algn="l">
              <a:spcAft>
                <a:spcPts val="900"/>
              </a:spcAft>
              <a:defRPr sz="2000" b="0">
                <a:solidFill>
                  <a:srgbClr val="16345A"/>
                </a:solidFill>
                <a:latin typeface="Microsoft YaHei"/>
              </a:defRPr>
            </a:pPr>
            <a:r>
              <a:t>99.52%</a:t>
            </a:r>
          </a:p>
        </p:txBody>
      </p:sp>
      <p:sp>
        <p:nvSpPr>
          <p:cNvPr id="40" name="Rounded Rectangle 39"/>
          <p:cNvSpPr/>
          <p:nvPr/>
        </p:nvSpPr>
        <p:spPr>
          <a:xfrm>
            <a:off x="502920" y="6400800"/>
            <a:ext cx="16139159" cy="1691640"/>
          </a:xfrm>
          <a:prstGeom prst="roundRect">
            <a:avLst>
              <a:gd name="adj" fmla="val 8000"/>
            </a:avLst>
          </a:prstGeom>
          <a:solidFill>
            <a:srgbClr val="F0F8F7"/>
          </a:solidFill>
          <a:ln w="1270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6611112"/>
            <a:ext cx="15544800" cy="411480"/>
          </a:xfrm>
          <a:prstGeom prst="rect">
            <a:avLst/>
          </a:prstGeom>
          <a:noFill/>
        </p:spPr>
        <p:txBody>
          <a:bodyPr wrap="square" lIns="18288" rIns="18288" tIns="0" bIns="0">
            <a:spAutoFit/>
          </a:bodyPr>
          <a:lstStyle/>
          <a:p>
            <a:pPr algn="l">
              <a:spcAft>
                <a:spcPts val="900"/>
              </a:spcAft>
              <a:defRPr sz="2500" b="1">
                <a:solidFill>
                  <a:srgbClr val="119D96"/>
                </a:solidFill>
                <a:latin typeface="Microsoft YaHei"/>
              </a:defRPr>
            </a:pPr>
            <a:r>
              <a:t>递归 Init → Final：改对 32 条、改错 32 条，正确总数均为 813</a:t>
            </a:r>
          </a:p>
        </p:txBody>
      </p:sp>
      <p:sp>
        <p:nvSpPr>
          <p:cNvPr id="42" name="TextBox 41"/>
          <p:cNvSpPr txBox="1"/>
          <p:nvPr/>
        </p:nvSpPr>
        <p:spPr>
          <a:xfrm>
            <a:off x="777240" y="7251192"/>
            <a:ext cx="15544800" cy="685800"/>
          </a:xfrm>
          <a:prstGeom prst="rect">
            <a:avLst/>
          </a:prstGeom>
          <a:noFill/>
        </p:spPr>
        <p:txBody>
          <a:bodyPr wrap="square" lIns="18288" rIns="18288" tIns="0" bIns="0">
            <a:spAutoFit/>
          </a:bodyPr>
          <a:lstStyle/>
          <a:p>
            <a:pPr algn="l">
              <a:spcAft>
                <a:spcPts val="900"/>
              </a:spcAft>
              <a:defRPr sz="2200" b="0">
                <a:solidFill>
                  <a:srgbClr val="16345A"/>
                </a:solidFill>
                <a:latin typeface="Microsoft YaHei"/>
              </a:defRPr>
            </a:pPr>
            <a:r>
              <a:t>相同 Init 下递归少判对 59 条；相同 Final 下少判对 45 条。</a:t>
            </a:r>
          </a:p>
          <a:p>
            <a:pPr algn="l">
              <a:spcAft>
                <a:spcPts val="900"/>
              </a:spcAft>
              <a:defRPr sz="2200" b="0">
                <a:solidFill>
                  <a:srgbClr val="16345A"/>
                </a:solidFill>
                <a:latin typeface="Microsoft YaHei"/>
              </a:defRPr>
            </a:pPr>
            <a:r>
              <a:t>本次结果不支持“换成递归就能恢复性能”；不能将差异单独归因于聚合规则。</a:t>
            </a:r>
          </a:p>
        </p:txBody>
      </p:sp>
      <p:sp>
        <p:nvSpPr>
          <p:cNvPr id="43" name="TextBox 42"/>
          <p:cNvSpPr txBox="1"/>
          <p:nvPr/>
        </p:nvSpPr>
        <p:spPr>
          <a:xfrm>
            <a:off x="548640" y="8705088"/>
            <a:ext cx="16002000" cy="457200"/>
          </a:xfrm>
          <a:prstGeom prst="rect">
            <a:avLst/>
          </a:prstGeom>
          <a:noFill/>
        </p:spPr>
        <p:txBody>
          <a:bodyPr wrap="square" lIns="18288" rIns="18288" tIns="0" bIns="0">
            <a:spAutoFit/>
          </a:bodyPr>
          <a:lstStyle/>
          <a:p>
            <a:pPr algn="l">
              <a:spcAft>
                <a:spcPts val="900"/>
              </a:spcAft>
              <a:defRPr sz="1600" b="0">
                <a:solidFill>
                  <a:srgbClr val="586E87"/>
                </a:solidFill>
                <a:latin typeface="Microsoft YaHei"/>
              </a:defRPr>
            </a:pPr>
            <a:r>
              <a:t>来源：fw6_27b/recursive/report.json；全部重试完成。Strict 含弃权，Overall 剔除弃权。</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3962</TotalTime>
  <Words>4276</Words>
  <Application>Microsoft Office PowerPoint</Application>
  <DocSecurity>0</DocSecurity>
  <PresentationFormat>自定义</PresentationFormat>
  <Paragraphs>597</Paragraphs>
  <Slides>22</Slides>
  <Notes>21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22</vt:i4>
      </vt:variant>
    </vt:vector>
  </HeadingPairs>
  <TitlesOfParts>
    <vt:vector size="26" baseType="lpstr">
      <vt:lpstr>Microsoft YaHei</vt: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wenqx</cp:lastModifiedBy>
  <cp:revision>52</cp:revision>
  <dcterms:created xsi:type="dcterms:W3CDTF">2026-09-09T09:53:05Z</dcterms:created>
  <dcterms:modified xsi:type="dcterms:W3CDTF">2026-09-18T10:21:19Z</dcterms:modified>
</cp:coreProperties>
</file>