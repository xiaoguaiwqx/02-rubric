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1313" r:id="rId2"/>
    <p:sldId id="1288" r:id="rId3"/>
    <p:sldId id="1295" r:id="rId4"/>
    <p:sldId id="1293" r:id="rId5"/>
    <p:sldId id="1291" r:id="rId6"/>
    <p:sldId id="1292" r:id="rId7"/>
    <p:sldId id="1300" r:id="rId8"/>
    <p:sldId id="1301" r:id="rId9"/>
    <p:sldId id="1302" r:id="rId10"/>
    <p:sldId id="1303" r:id="rId11"/>
    <p:sldId id="1317" r:id="rId12"/>
    <p:sldId id="1307" r:id="rId13"/>
    <p:sldId id="1311" r:id="rId14"/>
    <p:sldId id="1312" r:id="rId15"/>
    <p:sldId id="1316" r:id="rId16"/>
    <p:sldId id="1308" r:id="rId17"/>
    <p:sldId id="1318" r:id="rId18"/>
    <p:sldId id="1319" r:id="rId19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2506" autoAdjust="0"/>
  </p:normalViewPr>
  <p:slideViewPr>
    <p:cSldViewPr snapToGrid="0">
      <p:cViewPr varScale="1">
        <p:scale>
          <a:sx n="90" d="100"/>
          <a:sy n="90" d="100"/>
        </p:scale>
        <p:origin x="180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806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066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1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051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2008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2026/10/5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02.137.255:3000/wenqx/02-DD-LLM/src/branch/main/research/EvoRubrics/Rubric_vlrb_hallucination100_generated_roots.md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general_final_generated_roots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reasoning_final_generated_roots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iaoguaiwqx/02-Rubric/blob/init-split-prompts/experiments/evolving_structured_rubrics/init_split.py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904956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301468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341586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341464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344953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356840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82443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344038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76042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41701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41701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41701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41701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292675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62169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45369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66005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>
            <a:cxnSpLocks/>
          </p:cNvCxnSpPr>
          <p:nvPr/>
        </p:nvCxnSpPr>
        <p:spPr>
          <a:xfrm>
            <a:off x="6079265" y="4307242"/>
            <a:ext cx="0" cy="55071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ounded Rectangle 90">
            <a:extLst>
              <a:ext uri="{FF2B5EF4-FFF2-40B4-BE49-F238E27FC236}">
                <a16:creationId xmlns:a16="http://schemas.microsoft.com/office/drawing/2014/main" id="{2EE6D187-09C2-498F-B76C-B06D31208D48}"/>
              </a:ext>
            </a:extLst>
          </p:cNvPr>
          <p:cNvSpPr/>
          <p:nvPr/>
        </p:nvSpPr>
        <p:spPr>
          <a:xfrm>
            <a:off x="824416" y="205267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352" name="Connector 1101">
            <a:extLst>
              <a:ext uri="{FF2B5EF4-FFF2-40B4-BE49-F238E27FC236}">
                <a16:creationId xmlns:a16="http://schemas.microsoft.com/office/drawing/2014/main" id="{DE5CE417-B43A-4C61-9ED5-39D66ED9FD40}"/>
              </a:ext>
            </a:extLst>
          </p:cNvPr>
          <p:cNvCxnSpPr>
            <a:cxnSpLocks/>
          </p:cNvCxnSpPr>
          <p:nvPr/>
        </p:nvCxnSpPr>
        <p:spPr>
          <a:xfrm>
            <a:off x="2219593" y="2652841"/>
            <a:ext cx="0" cy="225953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48308"/>
            <a:ext cx="6967728" cy="77559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latin typeface="Microsoft YaHei"/>
              </a:rPr>
              <a:t>从训练</a:t>
            </a:r>
            <a:r>
              <a:rPr sz="1600" dirty="0">
                <a:latin typeface="Microsoft YaHei"/>
              </a:rPr>
              <a:t> 100 </a:t>
            </a:r>
            <a:r>
              <a:rPr sz="1600" dirty="0" err="1">
                <a:latin typeface="Microsoft YaHei"/>
              </a:rPr>
              <a:t>条抽</a:t>
            </a:r>
            <a:r>
              <a:rPr sz="1600" dirty="0">
                <a:latin typeface="Microsoft YaHei"/>
              </a:rPr>
              <a:t> 5 </a:t>
            </a:r>
            <a:r>
              <a:rPr sz="1600" dirty="0" err="1">
                <a:latin typeface="Microsoft YaHei"/>
              </a:rPr>
              <a:t>条图文比较，Manager</a:t>
            </a:r>
            <a:r>
              <a:rPr sz="1600" dirty="0">
                <a:latin typeface="Microsoft YaHei"/>
              </a:rPr>
              <a:t> </a:t>
            </a:r>
            <a:r>
              <a:rPr sz="1600" dirty="0" err="1">
                <a:latin typeface="Microsoft YaHei"/>
              </a:rPr>
              <a:t>连续预热</a:t>
            </a:r>
            <a:r>
              <a:rPr lang="zh-CN" altLang="en-US" sz="1600" dirty="0">
                <a:latin typeface="Microsoft YaHei"/>
              </a:rPr>
              <a:t>（每次解释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600" dirty="0">
                <a:latin typeface="Microsoft YaHei"/>
              </a:rPr>
              <a:t>）</a:t>
            </a:r>
            <a:r>
              <a:rPr sz="1600" dirty="0">
                <a:latin typeface="Microsoft YaHei"/>
              </a:rPr>
              <a:t>，</a:t>
            </a:r>
            <a:r>
              <a:rPr sz="1600" dirty="0" err="1">
                <a:latin typeface="Microsoft YaHei"/>
              </a:rPr>
              <a:t>再归纳出五个可复用的</a:t>
            </a:r>
            <a:r>
              <a:rPr sz="1600" dirty="0"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70580"/>
            <a:ext cx="8229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偏好归纳五根：</a:t>
            </a:r>
            <a:r>
              <a:rPr lang="en-US" altLang="zh-CN" sz="2750" b="1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与子准则的效果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933/1247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74.82%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851/1147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74.19%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544/648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83.95%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98/181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54.14%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627/749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83.71%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1" name="Factor row 6 background 0"/>
          <p:cNvSpPr/>
          <p:nvPr/>
        </p:nvSpPr>
        <p:spPr>
          <a:xfrm>
            <a:off x="685800" y="9646920"/>
            <a:ext cx="17373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2" name="Factor row 6 config 0"/>
          <p:cNvSpPr txBox="1"/>
          <p:nvPr/>
        </p:nvSpPr>
        <p:spPr>
          <a:xfrm>
            <a:off x="731520" y="969264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393" name="Factor row 6 background 1"/>
          <p:cNvSpPr/>
          <p:nvPr/>
        </p:nvSpPr>
        <p:spPr>
          <a:xfrm>
            <a:off x="2423160" y="9646920"/>
            <a:ext cx="12344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4" name="Factor row 6 config 1"/>
          <p:cNvSpPr txBox="1"/>
          <p:nvPr/>
        </p:nvSpPr>
        <p:spPr>
          <a:xfrm>
            <a:off x="2468880" y="969264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</a:p>
        </p:txBody>
      </p:sp>
      <p:sp>
        <p:nvSpPr>
          <p:cNvPr id="395" name="Factor row 6 background 2"/>
          <p:cNvSpPr/>
          <p:nvPr/>
        </p:nvSpPr>
        <p:spPr>
          <a:xfrm>
            <a:off x="3657600" y="9646920"/>
            <a:ext cx="15087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6" name="Factor row 6 config 2"/>
          <p:cNvSpPr txBox="1"/>
          <p:nvPr/>
        </p:nvSpPr>
        <p:spPr>
          <a:xfrm>
            <a:off x="3703320" y="969264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7" name="Factor row 6 background 3"/>
          <p:cNvSpPr/>
          <p:nvPr/>
        </p:nvSpPr>
        <p:spPr>
          <a:xfrm>
            <a:off x="5166360" y="9646920"/>
            <a:ext cx="11430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8" name="Factor row 6 config 3"/>
          <p:cNvSpPr txBox="1"/>
          <p:nvPr/>
        </p:nvSpPr>
        <p:spPr>
          <a:xfrm>
            <a:off x="5212080" y="969264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9" name="Factor row 6 background 4"/>
          <p:cNvSpPr/>
          <p:nvPr/>
        </p:nvSpPr>
        <p:spPr>
          <a:xfrm>
            <a:off x="630936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0" name="Factor row 6 count 4"/>
          <p:cNvSpPr txBox="1"/>
          <p:nvPr/>
        </p:nvSpPr>
        <p:spPr>
          <a:xfrm>
            <a:off x="633679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945/1247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1" name="Factor row 6 percentage 4"/>
          <p:cNvSpPr txBox="1"/>
          <p:nvPr/>
        </p:nvSpPr>
        <p:spPr>
          <a:xfrm>
            <a:off x="633679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75.78%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2" name="Factor row 6 background 5"/>
          <p:cNvSpPr/>
          <p:nvPr/>
        </p:nvSpPr>
        <p:spPr>
          <a:xfrm>
            <a:off x="7772400" y="9646920"/>
            <a:ext cx="15544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3" name="Factor row 6 count 5"/>
          <p:cNvSpPr txBox="1"/>
          <p:nvPr/>
        </p:nvSpPr>
        <p:spPr>
          <a:xfrm>
            <a:off x="7799832" y="982065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861/1147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4" name="Factor row 6 percentage 5"/>
          <p:cNvSpPr txBox="1"/>
          <p:nvPr/>
        </p:nvSpPr>
        <p:spPr>
          <a:xfrm>
            <a:off x="7799832" y="1009497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5" name="Factor row 6 background 6"/>
          <p:cNvSpPr/>
          <p:nvPr/>
        </p:nvSpPr>
        <p:spPr>
          <a:xfrm>
            <a:off x="9326880" y="9646920"/>
            <a:ext cx="11887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6" name="Factor row 6 count 6"/>
          <p:cNvSpPr txBox="1"/>
          <p:nvPr/>
        </p:nvSpPr>
        <p:spPr>
          <a:xfrm>
            <a:off x="9354312" y="982065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7" name="Factor row 6 percentage 6"/>
          <p:cNvSpPr txBox="1"/>
          <p:nvPr/>
        </p:nvSpPr>
        <p:spPr>
          <a:xfrm>
            <a:off x="9354312" y="1009497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8" name="Factor row 6 background 7"/>
          <p:cNvSpPr/>
          <p:nvPr/>
        </p:nvSpPr>
        <p:spPr>
          <a:xfrm>
            <a:off x="1051560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9" name="Factor row 6 count 7"/>
          <p:cNvSpPr txBox="1"/>
          <p:nvPr/>
        </p:nvSpPr>
        <p:spPr>
          <a:xfrm>
            <a:off x="1054303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545/648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0" name="Factor row 6 percentage 7"/>
          <p:cNvSpPr txBox="1"/>
          <p:nvPr/>
        </p:nvSpPr>
        <p:spPr>
          <a:xfrm>
            <a:off x="1054303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1" name="Factor row 6 background 8"/>
          <p:cNvSpPr/>
          <p:nvPr/>
        </p:nvSpPr>
        <p:spPr>
          <a:xfrm>
            <a:off x="11978640" y="9646920"/>
            <a:ext cx="13258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2" name="Factor row 6 count 8"/>
          <p:cNvSpPr txBox="1"/>
          <p:nvPr/>
        </p:nvSpPr>
        <p:spPr>
          <a:xfrm>
            <a:off x="12006072" y="982065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102/181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3" name="Factor row 6 percentage 8"/>
          <p:cNvSpPr txBox="1"/>
          <p:nvPr/>
        </p:nvSpPr>
        <p:spPr>
          <a:xfrm>
            <a:off x="12006072" y="1009497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56.35%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Factor row 6 background 9"/>
          <p:cNvSpPr/>
          <p:nvPr/>
        </p:nvSpPr>
        <p:spPr>
          <a:xfrm>
            <a:off x="13304520" y="9646920"/>
            <a:ext cx="16459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5" name="Factor row 6 count 9"/>
          <p:cNvSpPr txBox="1"/>
          <p:nvPr/>
        </p:nvSpPr>
        <p:spPr>
          <a:xfrm>
            <a:off x="13331952" y="982065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630/749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6" name="Factor row 6 percentage 9"/>
          <p:cNvSpPr txBox="1"/>
          <p:nvPr/>
        </p:nvSpPr>
        <p:spPr>
          <a:xfrm>
            <a:off x="13331952" y="1009497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7" name="Factor row 6 background 10"/>
          <p:cNvSpPr/>
          <p:nvPr/>
        </p:nvSpPr>
        <p:spPr>
          <a:xfrm>
            <a:off x="14950440" y="9646920"/>
            <a:ext cx="13716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8" name="Factor row 6 count 10"/>
          <p:cNvSpPr txBox="1"/>
          <p:nvPr/>
        </p:nvSpPr>
        <p:spPr>
          <a:xfrm>
            <a:off x="14977872" y="982065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213/317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Factor row 6 percentage 10"/>
          <p:cNvSpPr txBox="1"/>
          <p:nvPr/>
        </p:nvSpPr>
        <p:spPr>
          <a:xfrm>
            <a:off x="14977872" y="1009497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67.19%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>
              <a:lnSpc>
                <a:spcPct val="150000"/>
              </a:lnSpc>
            </a:pP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偏好归纳五根：仅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Root create 73.32%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，初始子准则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，五轮演化后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75.07%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。</a:t>
            </a:r>
            <a:endParaRPr lang="en-US" altLang="zh-CN" sz="1350" b="0" dirty="0">
              <a:solidFill>
                <a:srgbClr val="516C85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9237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3033" y="283085"/>
            <a:ext cx="630510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-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按领域学习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Rubric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 dirty="0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演化集：POVID</a:t>
            </a:r>
            <a:r>
              <a:rPr sz="1750" b="0" dirty="0">
                <a:solidFill>
                  <a:srgbClr val="1D3E62"/>
                </a:solidFill>
                <a:latin typeface="Microsoft YaHei"/>
              </a:rPr>
              <a:t> 90 · RLAIF-V 48</a:t>
            </a:r>
          </a:p>
          <a:p>
            <a:pPr>
              <a:spcAft>
                <a:spcPts val="0"/>
              </a:spcAft>
            </a:pPr>
            <a:r>
              <a:rPr sz="1750" b="0" dirty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视觉事实性与幻觉判断</a:t>
            </a:r>
            <a:endParaRPr sz="1750" b="0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13DE31A-2B85-4F3D-9521-B131507C220F}"/>
              </a:ext>
            </a:extLst>
          </p:cNvPr>
          <p:cNvSpPr txBox="1"/>
          <p:nvPr/>
        </p:nvSpPr>
        <p:spPr>
          <a:xfrm>
            <a:off x="594360" y="11117953"/>
            <a:ext cx="1545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2"/>
              </a:rPr>
              <a:t>http://10.102.137.255:3000/wenqx/02-DD-LLM/src/branch/main/research/EvoRubrics/Rubric_vlrb_hallucination100_generated_roots.md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08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D56DEB5-B9E3-42A9-A64E-377D950C743D}"/>
              </a:ext>
            </a:extLst>
          </p:cNvPr>
          <p:cNvSpPr txBox="1"/>
          <p:nvPr/>
        </p:nvSpPr>
        <p:spPr>
          <a:xfrm>
            <a:off x="545876" y="11117953"/>
            <a:ext cx="1781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http://10.102.137.255:3000/wenqx/02-DD-LLM/src/branch/main/research/EvoRubrics/Rubric_vlrb_general_final_generated_roots.md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86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900" b="1" dirty="0">
                <a:solidFill>
                  <a:srgbClr val="193758"/>
                </a:solidFill>
                <a:latin typeface="Microsoft YaHei"/>
              </a:rPr>
              <a:t>Reasoning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视觉解释准确性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9970"/>
            <a:ext cx="2212848" cy="5109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验证几何元素的角色与参照系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交叉核对数据提取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4777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dirty="0">
                <a:latin typeface="system-ui-zh-cn"/>
              </a:rPr>
              <a:t> 将视觉错误与后续执行错误分开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772599"/>
            <a:ext cx="2315262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验证领域约定的映射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方法应用正确性</a:t>
            </a:r>
          </a:p>
        </p:txBody>
      </p:sp>
      <p:cxnSp>
        <p:nvCxnSpPr>
          <p:cNvPr id="37" name="Connector 36"/>
          <p:cNvCxnSpPr>
            <a:cxnSpLocks/>
            <a:endCxn id="51" idx="0"/>
          </p:cNvCxnSpPr>
          <p:nvPr/>
        </p:nvCxnSpPr>
        <p:spPr>
          <a:xfrm flipH="1">
            <a:off x="4087367" y="3749039"/>
            <a:ext cx="2" cy="411662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dirty="0">
                <a:latin typeface="system-ui-zh-cn"/>
              </a:rPr>
              <a:t>验证方法选择是否成立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验证变量的角色映射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检查算法执行顺序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检查领域约定的使用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推理逻辑一致性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dirty="0">
                <a:latin typeface="system-ui-zh-cn"/>
              </a:rPr>
              <a:t> 核对前提的一致性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验证步骤之间的依赖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核对语境映射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保证最终结论与推导一致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最终答案推到准确性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>
            <a:cxnSpLocks/>
            <a:endCxn id="91" idx="4"/>
          </p:cNvCxnSpPr>
          <p:nvPr/>
        </p:nvCxnSpPr>
        <p:spPr>
          <a:xfrm flipH="1">
            <a:off x="10634471" y="3749039"/>
            <a:ext cx="2" cy="307969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核对模型与已陈述前提的一致性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核对计算及数值传递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确保最终选择与推导结果一致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解释清晰度与教学性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>
            <a:cxnSpLocks/>
            <a:endCxn id="113" idx="0"/>
          </p:cNvCxnSpPr>
          <p:nvPr/>
        </p:nvCxnSpPr>
        <p:spPr>
          <a:xfrm flipH="1">
            <a:off x="13908023" y="3749039"/>
            <a:ext cx="2" cy="2991917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清楚指出视觉依据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说明选择方法的理由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dirty="0">
                <a:latin typeface="system-ui-zh-cn"/>
              </a:rPr>
              <a:t>透明说明结果不一致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dirty="0">
                <a:latin typeface="system-ui-zh-cn"/>
              </a:rPr>
              <a:t>区分逻辑错误与数值准确性错误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D126ADA-5A8F-4454-9DD3-A72AD2E23186}"/>
              </a:ext>
            </a:extLst>
          </p:cNvPr>
          <p:cNvSpPr txBox="1"/>
          <p:nvPr/>
        </p:nvSpPr>
        <p:spPr>
          <a:xfrm>
            <a:off x="594360" y="11113703"/>
            <a:ext cx="1691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http://10.102.137.255:3000/wenqx/02-DD-LLM/src/branch/main/research/EvoRubrics/Rubric_vlrb_reasoning_final_generated_roots.md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560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General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latin typeface="Microsoft YaHei"/>
              </a:rPr>
              <a:t>Hallucination</a:t>
            </a:r>
            <a:r>
              <a:rPr lang="zh-CN" altLang="en-US" sz="1930" b="1" dirty="0">
                <a:latin typeface="Microsoft YaHei"/>
              </a:rPr>
              <a:t>类专属</a:t>
            </a:r>
            <a:endParaRPr sz="1930" b="1" dirty="0"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Reasoning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62/145</a:t>
            </a:r>
            <a:endParaRPr sz="2050"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411/599</a:t>
            </a:r>
            <a:endParaRPr sz="2050"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64.23%</a:t>
            </a:r>
            <a:endParaRPr sz="1850"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450" name="文本框 449">
            <a:extLst>
              <a:ext uri="{FF2B5EF4-FFF2-40B4-BE49-F238E27FC236}">
                <a16:creationId xmlns:a16="http://schemas.microsoft.com/office/drawing/2014/main" id="{2240D9A7-52FE-4EA9-9FD3-7556CFC8F03F}"/>
              </a:ext>
            </a:extLst>
          </p:cNvPr>
          <p:cNvSpPr txBox="1"/>
          <p:nvPr/>
        </p:nvSpPr>
        <p:spPr>
          <a:xfrm>
            <a:off x="777062" y="10924143"/>
            <a:ext cx="13472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提示词代码 ：</a:t>
            </a:r>
            <a:r>
              <a:rPr lang="en-US" altLang="zh-CN" dirty="0">
                <a:hlinkClick r:id="rId3"/>
              </a:rPr>
              <a:t>https://github.com/xiaoguaiwqx/02-Rubric/blob/init-split-prompts/experiments/evolving_structured_rubrics/init_split.py</a:t>
            </a:r>
            <a:endParaRPr lang="zh-CN" altLang="en-US" dirty="0"/>
          </a:p>
        </p:txBody>
      </p:sp>
      <p:sp>
        <p:nvSpPr>
          <p:cNvPr id="451" name="Rounded Rectangle 4">
            <a:extLst>
              <a:ext uri="{FF2B5EF4-FFF2-40B4-BE49-F238E27FC236}">
                <a16:creationId xmlns:a16="http://schemas.microsoft.com/office/drawing/2014/main" id="{495E3C3B-A5F0-4615-A0B7-9AAE1835C9A7}"/>
              </a:ext>
            </a:extLst>
          </p:cNvPr>
          <p:cNvSpPr/>
          <p:nvPr/>
        </p:nvSpPr>
        <p:spPr>
          <a:xfrm>
            <a:off x="6340839" y="3183840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5">
            <a:extLst>
              <a:ext uri="{FF2B5EF4-FFF2-40B4-BE49-F238E27FC236}">
                <a16:creationId xmlns:a16="http://schemas.microsoft.com/office/drawing/2014/main" id="{6621833C-DB1A-4FCC-9702-543CC03DD21E}"/>
              </a:ext>
            </a:extLst>
          </p:cNvPr>
          <p:cNvSpPr txBox="1"/>
          <p:nvPr/>
        </p:nvSpPr>
        <p:spPr>
          <a:xfrm>
            <a:off x="6477999" y="3293568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453" name="组合 452">
            <a:extLst>
              <a:ext uri="{FF2B5EF4-FFF2-40B4-BE49-F238E27FC236}">
                <a16:creationId xmlns:a16="http://schemas.microsoft.com/office/drawing/2014/main" id="{97A7FD05-70DA-488C-AF15-8A436F281BF1}"/>
              </a:ext>
            </a:extLst>
          </p:cNvPr>
          <p:cNvGrpSpPr>
            <a:grpSpLocks noChangeAspect="1"/>
          </p:cNvGrpSpPr>
          <p:nvPr/>
        </p:nvGrpSpPr>
        <p:grpSpPr>
          <a:xfrm>
            <a:off x="6408170" y="3694749"/>
            <a:ext cx="695141" cy="648000"/>
            <a:chOff x="448056" y="1794303"/>
            <a:chExt cx="562264" cy="524134"/>
          </a:xfrm>
        </p:grpSpPr>
        <p:sp>
          <p:nvSpPr>
            <p:cNvPr id="454" name="Rounded Rectangle 6">
              <a:extLst>
                <a:ext uri="{FF2B5EF4-FFF2-40B4-BE49-F238E27FC236}">
                  <a16:creationId xmlns:a16="http://schemas.microsoft.com/office/drawing/2014/main" id="{B669E1A7-683A-4036-912C-4161C2DA36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5" name="Connector 7">
              <a:extLst>
                <a:ext uri="{FF2B5EF4-FFF2-40B4-BE49-F238E27FC236}">
                  <a16:creationId xmlns:a16="http://schemas.microsoft.com/office/drawing/2014/main" id="{3FA68614-8DAF-4B33-827B-9205ED1F55B6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Connector 8">
              <a:extLst>
                <a:ext uri="{FF2B5EF4-FFF2-40B4-BE49-F238E27FC236}">
                  <a16:creationId xmlns:a16="http://schemas.microsoft.com/office/drawing/2014/main" id="{A2A57D03-8DE3-4E4C-B07A-D5124626C4AF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9">
              <a:extLst>
                <a:ext uri="{FF2B5EF4-FFF2-40B4-BE49-F238E27FC236}">
                  <a16:creationId xmlns:a16="http://schemas.microsoft.com/office/drawing/2014/main" id="{FCCCB693-6FC4-42E8-A903-96196842C77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10">
              <a:extLst>
                <a:ext uri="{FF2B5EF4-FFF2-40B4-BE49-F238E27FC236}">
                  <a16:creationId xmlns:a16="http://schemas.microsoft.com/office/drawing/2014/main" id="{6A47A9F6-644F-4096-80B4-79175029C0DE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9" name="Rounded Rectangle 16">
              <a:extLst>
                <a:ext uri="{FF2B5EF4-FFF2-40B4-BE49-F238E27FC236}">
                  <a16:creationId xmlns:a16="http://schemas.microsoft.com/office/drawing/2014/main" id="{0B4B76C5-0E28-4048-A9BA-90C49C69356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0" name="Connector 17">
              <a:extLst>
                <a:ext uri="{FF2B5EF4-FFF2-40B4-BE49-F238E27FC236}">
                  <a16:creationId xmlns:a16="http://schemas.microsoft.com/office/drawing/2014/main" id="{B1244667-E2BF-4DA0-AEE6-5350EB108A3B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Connector 18">
              <a:extLst>
                <a:ext uri="{FF2B5EF4-FFF2-40B4-BE49-F238E27FC236}">
                  <a16:creationId xmlns:a16="http://schemas.microsoft.com/office/drawing/2014/main" id="{81C0D9B7-C0F6-42EC-858A-5E7CDD833F9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19">
              <a:extLst>
                <a:ext uri="{FF2B5EF4-FFF2-40B4-BE49-F238E27FC236}">
                  <a16:creationId xmlns:a16="http://schemas.microsoft.com/office/drawing/2014/main" id="{168308DA-F4DB-4804-8BB1-04F7D0C3E373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20">
              <a:extLst>
                <a:ext uri="{FF2B5EF4-FFF2-40B4-BE49-F238E27FC236}">
                  <a16:creationId xmlns:a16="http://schemas.microsoft.com/office/drawing/2014/main" id="{3B7D2508-5A1C-4DBA-A9FC-A66357225648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4" name="Rounded Rectangle 26">
              <a:extLst>
                <a:ext uri="{FF2B5EF4-FFF2-40B4-BE49-F238E27FC236}">
                  <a16:creationId xmlns:a16="http://schemas.microsoft.com/office/drawing/2014/main" id="{EC33D975-BEBB-498A-A745-7C10727DB11E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5" name="Connector 27">
              <a:extLst>
                <a:ext uri="{FF2B5EF4-FFF2-40B4-BE49-F238E27FC236}">
                  <a16:creationId xmlns:a16="http://schemas.microsoft.com/office/drawing/2014/main" id="{765BBF0E-C9EA-4637-A0B1-149412BD7049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Connector 28">
              <a:extLst>
                <a:ext uri="{FF2B5EF4-FFF2-40B4-BE49-F238E27FC236}">
                  <a16:creationId xmlns:a16="http://schemas.microsoft.com/office/drawing/2014/main" id="{91AE99F5-C344-4EA8-BBD4-603B647EA0CB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29">
              <a:extLst>
                <a:ext uri="{FF2B5EF4-FFF2-40B4-BE49-F238E27FC236}">
                  <a16:creationId xmlns:a16="http://schemas.microsoft.com/office/drawing/2014/main" id="{587C9EDC-F9BB-49F9-9A61-29A3F259F9BD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30">
              <a:extLst>
                <a:ext uri="{FF2B5EF4-FFF2-40B4-BE49-F238E27FC236}">
                  <a16:creationId xmlns:a16="http://schemas.microsoft.com/office/drawing/2014/main" id="{B6F515F0-1D82-46F8-B7B3-1F7BD0E9AF84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9" name="Rounded Rectangle 36">
              <a:extLst>
                <a:ext uri="{FF2B5EF4-FFF2-40B4-BE49-F238E27FC236}">
                  <a16:creationId xmlns:a16="http://schemas.microsoft.com/office/drawing/2014/main" id="{674B6D15-1AA1-46F5-BD22-62912AD911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0" name="Connector 37">
              <a:extLst>
                <a:ext uri="{FF2B5EF4-FFF2-40B4-BE49-F238E27FC236}">
                  <a16:creationId xmlns:a16="http://schemas.microsoft.com/office/drawing/2014/main" id="{90137608-16E2-430B-AD35-4DD279E7BA95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Connector 38">
              <a:extLst>
                <a:ext uri="{FF2B5EF4-FFF2-40B4-BE49-F238E27FC236}">
                  <a16:creationId xmlns:a16="http://schemas.microsoft.com/office/drawing/2014/main" id="{D79925C3-507F-4F86-9D64-3AF38FEB572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39">
              <a:extLst>
                <a:ext uri="{FF2B5EF4-FFF2-40B4-BE49-F238E27FC236}">
                  <a16:creationId xmlns:a16="http://schemas.microsoft.com/office/drawing/2014/main" id="{1F161F1C-00C6-431E-BFDF-D95698E18032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40">
              <a:extLst>
                <a:ext uri="{FF2B5EF4-FFF2-40B4-BE49-F238E27FC236}">
                  <a16:creationId xmlns:a16="http://schemas.microsoft.com/office/drawing/2014/main" id="{9D762436-2F9D-47FA-8226-D6B90E16CA93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4" name="Rounded Rectangle 46">
              <a:extLst>
                <a:ext uri="{FF2B5EF4-FFF2-40B4-BE49-F238E27FC236}">
                  <a16:creationId xmlns:a16="http://schemas.microsoft.com/office/drawing/2014/main" id="{7344CB15-30CB-4842-82B1-91E0A452964D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5" name="Connector 47">
              <a:extLst>
                <a:ext uri="{FF2B5EF4-FFF2-40B4-BE49-F238E27FC236}">
                  <a16:creationId xmlns:a16="http://schemas.microsoft.com/office/drawing/2014/main" id="{50FBC253-9CAD-46F0-8C32-E6EBFD90CF4F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Connector 48">
              <a:extLst>
                <a:ext uri="{FF2B5EF4-FFF2-40B4-BE49-F238E27FC236}">
                  <a16:creationId xmlns:a16="http://schemas.microsoft.com/office/drawing/2014/main" id="{372032ED-9549-4135-AED0-3EAA1B84CE3D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Connector 49">
              <a:extLst>
                <a:ext uri="{FF2B5EF4-FFF2-40B4-BE49-F238E27FC236}">
                  <a16:creationId xmlns:a16="http://schemas.microsoft.com/office/drawing/2014/main" id="{B7933A7C-E6EF-44F4-BF8F-738F8D8F62D4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Connector 50">
              <a:extLst>
                <a:ext uri="{FF2B5EF4-FFF2-40B4-BE49-F238E27FC236}">
                  <a16:creationId xmlns:a16="http://schemas.microsoft.com/office/drawing/2014/main" id="{068B4188-C3E0-4B43-8F69-D0C2A186AFB1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9" name="Rounded Rectangle 56">
              <a:extLst>
                <a:ext uri="{FF2B5EF4-FFF2-40B4-BE49-F238E27FC236}">
                  <a16:creationId xmlns:a16="http://schemas.microsoft.com/office/drawing/2014/main" id="{FC671A96-ACE1-4B2F-90EC-B2E97C30753F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0" name="Connector 57">
              <a:extLst>
                <a:ext uri="{FF2B5EF4-FFF2-40B4-BE49-F238E27FC236}">
                  <a16:creationId xmlns:a16="http://schemas.microsoft.com/office/drawing/2014/main" id="{E795C48A-1B0F-4548-878D-AAE4FED2DB77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Connector 58">
              <a:extLst>
                <a:ext uri="{FF2B5EF4-FFF2-40B4-BE49-F238E27FC236}">
                  <a16:creationId xmlns:a16="http://schemas.microsoft.com/office/drawing/2014/main" id="{DE6594AD-7F5B-4390-A92A-131128D806E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Connector 59">
              <a:extLst>
                <a:ext uri="{FF2B5EF4-FFF2-40B4-BE49-F238E27FC236}">
                  <a16:creationId xmlns:a16="http://schemas.microsoft.com/office/drawing/2014/main" id="{B872FE32-0D01-4811-8839-6C8EDA3990F4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Connector 60">
              <a:extLst>
                <a:ext uri="{FF2B5EF4-FFF2-40B4-BE49-F238E27FC236}">
                  <a16:creationId xmlns:a16="http://schemas.microsoft.com/office/drawing/2014/main" id="{87493D39-5039-4437-8B08-A56614EE1AA3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4" name="组合 483">
            <a:extLst>
              <a:ext uri="{FF2B5EF4-FFF2-40B4-BE49-F238E27FC236}">
                <a16:creationId xmlns:a16="http://schemas.microsoft.com/office/drawing/2014/main" id="{D83CB436-27EC-4AB1-8FC5-D011FD79CB78}"/>
              </a:ext>
            </a:extLst>
          </p:cNvPr>
          <p:cNvGrpSpPr>
            <a:grpSpLocks noChangeAspect="1"/>
          </p:cNvGrpSpPr>
          <p:nvPr/>
        </p:nvGrpSpPr>
        <p:grpSpPr>
          <a:xfrm>
            <a:off x="7522641" y="3693526"/>
            <a:ext cx="695141" cy="648000"/>
            <a:chOff x="1545336" y="1794303"/>
            <a:chExt cx="562264" cy="524134"/>
          </a:xfrm>
        </p:grpSpPr>
        <p:sp>
          <p:nvSpPr>
            <p:cNvPr id="485" name="Rounded Rectangle 11">
              <a:extLst>
                <a:ext uri="{FF2B5EF4-FFF2-40B4-BE49-F238E27FC236}">
                  <a16:creationId xmlns:a16="http://schemas.microsoft.com/office/drawing/2014/main" id="{456F4591-E5D2-4BA9-B413-89D59EF4D46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6" name="Connector 12">
              <a:extLst>
                <a:ext uri="{FF2B5EF4-FFF2-40B4-BE49-F238E27FC236}">
                  <a16:creationId xmlns:a16="http://schemas.microsoft.com/office/drawing/2014/main" id="{58517807-A807-4F4A-879A-8345C47E3860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Connector 13">
              <a:extLst>
                <a:ext uri="{FF2B5EF4-FFF2-40B4-BE49-F238E27FC236}">
                  <a16:creationId xmlns:a16="http://schemas.microsoft.com/office/drawing/2014/main" id="{AECEC959-65FF-4284-B80C-7CF7A22283DE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nector 14">
              <a:extLst>
                <a:ext uri="{FF2B5EF4-FFF2-40B4-BE49-F238E27FC236}">
                  <a16:creationId xmlns:a16="http://schemas.microsoft.com/office/drawing/2014/main" id="{0317E6FA-0A5D-4102-8DBC-4D9B7E77BC7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Connector 15">
              <a:extLst>
                <a:ext uri="{FF2B5EF4-FFF2-40B4-BE49-F238E27FC236}">
                  <a16:creationId xmlns:a16="http://schemas.microsoft.com/office/drawing/2014/main" id="{E5363B9B-FBA1-4C17-9224-5BD87631C76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0" name="Rounded Rectangle 21">
              <a:extLst>
                <a:ext uri="{FF2B5EF4-FFF2-40B4-BE49-F238E27FC236}">
                  <a16:creationId xmlns:a16="http://schemas.microsoft.com/office/drawing/2014/main" id="{B37E19A0-2F91-4CFE-884B-DE19AF3715C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1" name="Connector 22">
              <a:extLst>
                <a:ext uri="{FF2B5EF4-FFF2-40B4-BE49-F238E27FC236}">
                  <a16:creationId xmlns:a16="http://schemas.microsoft.com/office/drawing/2014/main" id="{7ADDB6C9-450C-4EAE-AF6F-FF43750CC6A4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Connector 23">
              <a:extLst>
                <a:ext uri="{FF2B5EF4-FFF2-40B4-BE49-F238E27FC236}">
                  <a16:creationId xmlns:a16="http://schemas.microsoft.com/office/drawing/2014/main" id="{F0E7D9F0-358D-46A7-87B4-CC09E0DE5363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Connector 24">
              <a:extLst>
                <a:ext uri="{FF2B5EF4-FFF2-40B4-BE49-F238E27FC236}">
                  <a16:creationId xmlns:a16="http://schemas.microsoft.com/office/drawing/2014/main" id="{543926B5-190A-4277-A55F-942ECD4888D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Connector 25">
              <a:extLst>
                <a:ext uri="{FF2B5EF4-FFF2-40B4-BE49-F238E27FC236}">
                  <a16:creationId xmlns:a16="http://schemas.microsoft.com/office/drawing/2014/main" id="{08108E0F-49E5-425A-9773-0DF775F0D42A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5" name="Rounded Rectangle 31">
              <a:extLst>
                <a:ext uri="{FF2B5EF4-FFF2-40B4-BE49-F238E27FC236}">
                  <a16:creationId xmlns:a16="http://schemas.microsoft.com/office/drawing/2014/main" id="{EF052557-FE97-47B3-BC7C-4BFF4DD90E95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6" name="Connector 32">
              <a:extLst>
                <a:ext uri="{FF2B5EF4-FFF2-40B4-BE49-F238E27FC236}">
                  <a16:creationId xmlns:a16="http://schemas.microsoft.com/office/drawing/2014/main" id="{2A47044C-EA47-4420-B969-6B64461E8E00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Connector 33">
              <a:extLst>
                <a:ext uri="{FF2B5EF4-FFF2-40B4-BE49-F238E27FC236}">
                  <a16:creationId xmlns:a16="http://schemas.microsoft.com/office/drawing/2014/main" id="{4FDB8748-F157-4C78-B6D0-5AC5EDB1E84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Connector 34">
              <a:extLst>
                <a:ext uri="{FF2B5EF4-FFF2-40B4-BE49-F238E27FC236}">
                  <a16:creationId xmlns:a16="http://schemas.microsoft.com/office/drawing/2014/main" id="{01A587EF-328F-4B89-BBA7-05D0FF2C91E8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Connector 35">
              <a:extLst>
                <a:ext uri="{FF2B5EF4-FFF2-40B4-BE49-F238E27FC236}">
                  <a16:creationId xmlns:a16="http://schemas.microsoft.com/office/drawing/2014/main" id="{7D807E5F-229C-4A78-8405-13CE7CBA455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0" name="Rounded Rectangle 41">
              <a:extLst>
                <a:ext uri="{FF2B5EF4-FFF2-40B4-BE49-F238E27FC236}">
                  <a16:creationId xmlns:a16="http://schemas.microsoft.com/office/drawing/2014/main" id="{ABF27B74-00B7-4BD1-9C26-84AF1F4448C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1" name="Connector 42">
              <a:extLst>
                <a:ext uri="{FF2B5EF4-FFF2-40B4-BE49-F238E27FC236}">
                  <a16:creationId xmlns:a16="http://schemas.microsoft.com/office/drawing/2014/main" id="{2C833472-785A-424C-8F7C-915A55690BA0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Connector 43">
              <a:extLst>
                <a:ext uri="{FF2B5EF4-FFF2-40B4-BE49-F238E27FC236}">
                  <a16:creationId xmlns:a16="http://schemas.microsoft.com/office/drawing/2014/main" id="{DA1B0F1F-8CD3-44E9-8405-BA08E70A207E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Connector 44">
              <a:extLst>
                <a:ext uri="{FF2B5EF4-FFF2-40B4-BE49-F238E27FC236}">
                  <a16:creationId xmlns:a16="http://schemas.microsoft.com/office/drawing/2014/main" id="{76946B14-BEB5-4467-B719-FEC558FAE5E4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Connector 45">
              <a:extLst>
                <a:ext uri="{FF2B5EF4-FFF2-40B4-BE49-F238E27FC236}">
                  <a16:creationId xmlns:a16="http://schemas.microsoft.com/office/drawing/2014/main" id="{AF9B6EF3-3B1B-49A0-B6CF-9F7F39B8807A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5" name="Rounded Rectangle 51">
              <a:extLst>
                <a:ext uri="{FF2B5EF4-FFF2-40B4-BE49-F238E27FC236}">
                  <a16:creationId xmlns:a16="http://schemas.microsoft.com/office/drawing/2014/main" id="{42D56234-679B-4037-B6B8-AA67370A1D7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6" name="Connector 52">
              <a:extLst>
                <a:ext uri="{FF2B5EF4-FFF2-40B4-BE49-F238E27FC236}">
                  <a16:creationId xmlns:a16="http://schemas.microsoft.com/office/drawing/2014/main" id="{239ECFB9-072B-4FFD-B29C-CD4273171A2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Connector 53">
              <a:extLst>
                <a:ext uri="{FF2B5EF4-FFF2-40B4-BE49-F238E27FC236}">
                  <a16:creationId xmlns:a16="http://schemas.microsoft.com/office/drawing/2014/main" id="{749EDD70-37A9-4992-A2C7-64CA876E9039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Connector 54">
              <a:extLst>
                <a:ext uri="{FF2B5EF4-FFF2-40B4-BE49-F238E27FC236}">
                  <a16:creationId xmlns:a16="http://schemas.microsoft.com/office/drawing/2014/main" id="{2638B4DC-C588-426D-B7BD-62C281211E21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Connector 55">
              <a:extLst>
                <a:ext uri="{FF2B5EF4-FFF2-40B4-BE49-F238E27FC236}">
                  <a16:creationId xmlns:a16="http://schemas.microsoft.com/office/drawing/2014/main" id="{FD87FE5A-D480-4B72-BCA6-715C93E898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0" name="Rounded Rectangle 61">
              <a:extLst>
                <a:ext uri="{FF2B5EF4-FFF2-40B4-BE49-F238E27FC236}">
                  <a16:creationId xmlns:a16="http://schemas.microsoft.com/office/drawing/2014/main" id="{DA9084AD-04C3-4DE2-AC4C-231A741FE6A8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11" name="Connector 62">
              <a:extLst>
                <a:ext uri="{FF2B5EF4-FFF2-40B4-BE49-F238E27FC236}">
                  <a16:creationId xmlns:a16="http://schemas.microsoft.com/office/drawing/2014/main" id="{B8D1F766-3D53-4A1A-93C6-E3E78AE9FFD2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Connector 63">
              <a:extLst>
                <a:ext uri="{FF2B5EF4-FFF2-40B4-BE49-F238E27FC236}">
                  <a16:creationId xmlns:a16="http://schemas.microsoft.com/office/drawing/2014/main" id="{211C265F-A031-4087-8280-3B912E4D959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Connector 64">
              <a:extLst>
                <a:ext uri="{FF2B5EF4-FFF2-40B4-BE49-F238E27FC236}">
                  <a16:creationId xmlns:a16="http://schemas.microsoft.com/office/drawing/2014/main" id="{E57D6712-FBF8-4313-826B-34E0ED6BB614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Connector 65">
              <a:extLst>
                <a:ext uri="{FF2B5EF4-FFF2-40B4-BE49-F238E27FC236}">
                  <a16:creationId xmlns:a16="http://schemas.microsoft.com/office/drawing/2014/main" id="{06BEF98B-AD83-4FC5-81B5-7BEC99A54173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5" name="Oval 66">
            <a:extLst>
              <a:ext uri="{FF2B5EF4-FFF2-40B4-BE49-F238E27FC236}">
                <a16:creationId xmlns:a16="http://schemas.microsoft.com/office/drawing/2014/main" id="{622981E1-D1E6-49A8-93CE-DFBD50ACEF4A}"/>
              </a:ext>
            </a:extLst>
          </p:cNvPr>
          <p:cNvSpPr/>
          <p:nvPr/>
        </p:nvSpPr>
        <p:spPr>
          <a:xfrm>
            <a:off x="8745711" y="372841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67">
            <a:extLst>
              <a:ext uri="{FF2B5EF4-FFF2-40B4-BE49-F238E27FC236}">
                <a16:creationId xmlns:a16="http://schemas.microsoft.com/office/drawing/2014/main" id="{A2D47660-0294-418C-AA06-95C581005436}"/>
              </a:ext>
            </a:extLst>
          </p:cNvPr>
          <p:cNvSpPr/>
          <p:nvPr/>
        </p:nvSpPr>
        <p:spPr>
          <a:xfrm>
            <a:off x="88060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68">
            <a:extLst>
              <a:ext uri="{FF2B5EF4-FFF2-40B4-BE49-F238E27FC236}">
                <a16:creationId xmlns:a16="http://schemas.microsoft.com/office/drawing/2014/main" id="{D51516E1-AFE3-40D2-87E3-36D1F7D3370C}"/>
              </a:ext>
            </a:extLst>
          </p:cNvPr>
          <p:cNvSpPr/>
          <p:nvPr/>
        </p:nvSpPr>
        <p:spPr>
          <a:xfrm>
            <a:off x="89203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69">
            <a:extLst>
              <a:ext uri="{FF2B5EF4-FFF2-40B4-BE49-F238E27FC236}">
                <a16:creationId xmlns:a16="http://schemas.microsoft.com/office/drawing/2014/main" id="{2242C937-5BF1-41D6-BFF0-269C7F97A5BE}"/>
              </a:ext>
            </a:extLst>
          </p:cNvPr>
          <p:cNvSpPr/>
          <p:nvPr/>
        </p:nvSpPr>
        <p:spPr>
          <a:xfrm>
            <a:off x="9074895" y="3847288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70">
            <a:extLst>
              <a:ext uri="{FF2B5EF4-FFF2-40B4-BE49-F238E27FC236}">
                <a16:creationId xmlns:a16="http://schemas.microsoft.com/office/drawing/2014/main" id="{73511029-FE5D-49A2-B9DE-0E3DCC881ABD}"/>
              </a:ext>
            </a:extLst>
          </p:cNvPr>
          <p:cNvSpPr/>
          <p:nvPr/>
        </p:nvSpPr>
        <p:spPr>
          <a:xfrm>
            <a:off x="91352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71">
            <a:extLst>
              <a:ext uri="{FF2B5EF4-FFF2-40B4-BE49-F238E27FC236}">
                <a16:creationId xmlns:a16="http://schemas.microsoft.com/office/drawing/2014/main" id="{251953E2-529A-4C85-B250-4808393434DD}"/>
              </a:ext>
            </a:extLst>
          </p:cNvPr>
          <p:cNvSpPr/>
          <p:nvPr/>
        </p:nvSpPr>
        <p:spPr>
          <a:xfrm>
            <a:off x="92495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72">
            <a:extLst>
              <a:ext uri="{FF2B5EF4-FFF2-40B4-BE49-F238E27FC236}">
                <a16:creationId xmlns:a16="http://schemas.microsoft.com/office/drawing/2014/main" id="{973EDA7B-282B-4989-B87A-2DBE5E6FED61}"/>
              </a:ext>
            </a:extLst>
          </p:cNvPr>
          <p:cNvSpPr/>
          <p:nvPr/>
        </p:nvSpPr>
        <p:spPr>
          <a:xfrm>
            <a:off x="8828007" y="410332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73">
            <a:extLst>
              <a:ext uri="{FF2B5EF4-FFF2-40B4-BE49-F238E27FC236}">
                <a16:creationId xmlns:a16="http://schemas.microsoft.com/office/drawing/2014/main" id="{D2EBA387-7A72-42B0-8548-F314526C4B2B}"/>
              </a:ext>
            </a:extLst>
          </p:cNvPr>
          <p:cNvSpPr/>
          <p:nvPr/>
        </p:nvSpPr>
        <p:spPr>
          <a:xfrm>
            <a:off x="88883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74">
            <a:extLst>
              <a:ext uri="{FF2B5EF4-FFF2-40B4-BE49-F238E27FC236}">
                <a16:creationId xmlns:a16="http://schemas.microsoft.com/office/drawing/2014/main" id="{6AEE6065-FD67-4F20-9250-C496DD0D5D5E}"/>
              </a:ext>
            </a:extLst>
          </p:cNvPr>
          <p:cNvSpPr/>
          <p:nvPr/>
        </p:nvSpPr>
        <p:spPr>
          <a:xfrm>
            <a:off x="90026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Rounded Rectangle 75">
            <a:extLst>
              <a:ext uri="{FF2B5EF4-FFF2-40B4-BE49-F238E27FC236}">
                <a16:creationId xmlns:a16="http://schemas.microsoft.com/office/drawing/2014/main" id="{F055F598-310E-4F36-9082-7E4E51AA5EED}"/>
              </a:ext>
            </a:extLst>
          </p:cNvPr>
          <p:cNvSpPr/>
          <p:nvPr/>
        </p:nvSpPr>
        <p:spPr>
          <a:xfrm>
            <a:off x="9687543" y="3719272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76">
            <a:extLst>
              <a:ext uri="{FF2B5EF4-FFF2-40B4-BE49-F238E27FC236}">
                <a16:creationId xmlns:a16="http://schemas.microsoft.com/office/drawing/2014/main" id="{CFD03297-67BA-4EFF-ADC5-9CFDC6CCA2E2}"/>
              </a:ext>
            </a:extLst>
          </p:cNvPr>
          <p:cNvSpPr/>
          <p:nvPr/>
        </p:nvSpPr>
        <p:spPr>
          <a:xfrm>
            <a:off x="9756122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77">
            <a:extLst>
              <a:ext uri="{FF2B5EF4-FFF2-40B4-BE49-F238E27FC236}">
                <a16:creationId xmlns:a16="http://schemas.microsoft.com/office/drawing/2014/main" id="{D7F99508-8523-4867-B1AA-F0EE8D18DDF0}"/>
              </a:ext>
            </a:extLst>
          </p:cNvPr>
          <p:cNvSpPr/>
          <p:nvPr/>
        </p:nvSpPr>
        <p:spPr>
          <a:xfrm>
            <a:off x="9971007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78">
            <a:extLst>
              <a:ext uri="{FF2B5EF4-FFF2-40B4-BE49-F238E27FC236}">
                <a16:creationId xmlns:a16="http://schemas.microsoft.com/office/drawing/2014/main" id="{E93118A5-D227-480C-87AC-0FD9128B8597}"/>
              </a:ext>
            </a:extLst>
          </p:cNvPr>
          <p:cNvSpPr/>
          <p:nvPr/>
        </p:nvSpPr>
        <p:spPr>
          <a:xfrm>
            <a:off x="10185890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8" name="Connector 79">
            <a:extLst>
              <a:ext uri="{FF2B5EF4-FFF2-40B4-BE49-F238E27FC236}">
                <a16:creationId xmlns:a16="http://schemas.microsoft.com/office/drawing/2014/main" id="{F88E9BA0-CB98-430E-AD3D-EB8294A103B4}"/>
              </a:ext>
            </a:extLst>
          </p:cNvPr>
          <p:cNvCxnSpPr>
            <a:cxnSpLocks/>
          </p:cNvCxnSpPr>
          <p:nvPr/>
        </p:nvCxnSpPr>
        <p:spPr>
          <a:xfrm>
            <a:off x="7184372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81">
            <a:extLst>
              <a:ext uri="{FF2B5EF4-FFF2-40B4-BE49-F238E27FC236}">
                <a16:creationId xmlns:a16="http://schemas.microsoft.com/office/drawing/2014/main" id="{7C5B5356-680A-4E6F-B941-836FC9168C39}"/>
              </a:ext>
            </a:extLst>
          </p:cNvPr>
          <p:cNvCxnSpPr/>
          <p:nvPr/>
        </p:nvCxnSpPr>
        <p:spPr>
          <a:xfrm>
            <a:off x="9404079" y="4039312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TextBox 82">
            <a:extLst>
              <a:ext uri="{FF2B5EF4-FFF2-40B4-BE49-F238E27FC236}">
                <a16:creationId xmlns:a16="http://schemas.microsoft.com/office/drawing/2014/main" id="{4AC241A1-2930-4A3F-AF4A-BBB05967CC3F}"/>
              </a:ext>
            </a:extLst>
          </p:cNvPr>
          <p:cNvSpPr txBox="1"/>
          <p:nvPr/>
        </p:nvSpPr>
        <p:spPr>
          <a:xfrm>
            <a:off x="6368271" y="4449014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531" name="TextBox 83">
            <a:extLst>
              <a:ext uri="{FF2B5EF4-FFF2-40B4-BE49-F238E27FC236}">
                <a16:creationId xmlns:a16="http://schemas.microsoft.com/office/drawing/2014/main" id="{F696C0A8-DAC7-4C35-9137-C1A1FFA76C56}"/>
              </a:ext>
            </a:extLst>
          </p:cNvPr>
          <p:cNvSpPr txBox="1"/>
          <p:nvPr/>
        </p:nvSpPr>
        <p:spPr>
          <a:xfrm>
            <a:off x="7502127" y="4449014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532" name="TextBox 84">
            <a:extLst>
              <a:ext uri="{FF2B5EF4-FFF2-40B4-BE49-F238E27FC236}">
                <a16:creationId xmlns:a16="http://schemas.microsoft.com/office/drawing/2014/main" id="{87EC0ABB-E547-480C-899C-ADC5518DDE16}"/>
              </a:ext>
            </a:extLst>
          </p:cNvPr>
          <p:cNvSpPr txBox="1"/>
          <p:nvPr/>
        </p:nvSpPr>
        <p:spPr>
          <a:xfrm>
            <a:off x="8626839" y="4449014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533" name="TextBox 85">
            <a:extLst>
              <a:ext uri="{FF2B5EF4-FFF2-40B4-BE49-F238E27FC236}">
                <a16:creationId xmlns:a16="http://schemas.microsoft.com/office/drawing/2014/main" id="{8F23DF86-3070-488A-90BB-531C8A5B9544}"/>
              </a:ext>
            </a:extLst>
          </p:cNvPr>
          <p:cNvSpPr txBox="1"/>
          <p:nvPr/>
        </p:nvSpPr>
        <p:spPr>
          <a:xfrm>
            <a:off x="9605247" y="4449014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cxnSp>
        <p:nvCxnSpPr>
          <p:cNvPr id="534" name="Connector 79">
            <a:extLst>
              <a:ext uri="{FF2B5EF4-FFF2-40B4-BE49-F238E27FC236}">
                <a16:creationId xmlns:a16="http://schemas.microsoft.com/office/drawing/2014/main" id="{3EF7A135-7CCD-4DE6-B558-5DEC6EDE132E}"/>
              </a:ext>
            </a:extLst>
          </p:cNvPr>
          <p:cNvCxnSpPr>
            <a:cxnSpLocks/>
          </p:cNvCxnSpPr>
          <p:nvPr/>
        </p:nvCxnSpPr>
        <p:spPr>
          <a:xfrm>
            <a:off x="8346436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3AF321F-B7E4-403E-AE51-C1520CE91428}"/>
              </a:ext>
            </a:extLst>
          </p:cNvPr>
          <p:cNvSpPr txBox="1"/>
          <p:nvPr/>
        </p:nvSpPr>
        <p:spPr>
          <a:xfrm>
            <a:off x="638017" y="5489045"/>
            <a:ext cx="16450983" cy="1308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原始版本                                                                                重构版本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侧重于发现问题和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worker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的执行困难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侧重解释人类偏好判断模式，提取比较依据</a:t>
            </a:r>
          </a:p>
        </p:txBody>
      </p:sp>
    </p:spTree>
    <p:extLst>
      <p:ext uri="{BB962C8B-B14F-4D97-AF65-F5344CB8AC3E}">
        <p14:creationId xmlns:p14="http://schemas.microsoft.com/office/powerpoint/2010/main" val="3526622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926/1247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74.26%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844/1147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73.58%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535/648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82.56%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104/181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57.46%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618/749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82.51%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204/317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64.35%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968/1247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77.63%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880/1147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76.72%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88/100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88.00%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563/648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86.88%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107/181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59.12%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652/749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87.05%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209/317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65.93%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上一版提示词在未参与演化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1147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的测试结果是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，新版本结果未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76.46%</a:t>
            </a:r>
          </a:p>
        </p:txBody>
      </p:sp>
    </p:spTree>
    <p:extLst>
      <p:ext uri="{BB962C8B-B14F-4D97-AF65-F5344CB8AC3E}">
        <p14:creationId xmlns:p14="http://schemas.microsoft.com/office/powerpoint/2010/main" val="25186005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19162</TotalTime>
  <Words>3499</Words>
  <Application>Microsoft Office PowerPoint</Application>
  <DocSecurity>0</DocSecurity>
  <PresentationFormat>自定义</PresentationFormat>
  <Paragraphs>1062</Paragraphs>
  <Slides>18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system-ui-zh-cn</vt:lpstr>
      <vt:lpstr>黑体</vt:lpstr>
      <vt:lpstr>微软雅黑</vt:lpstr>
      <vt:lpstr>微软雅黑</vt:lpstr>
      <vt:lpstr>Calibri</vt:lpstr>
      <vt:lpstr>Cambria</vt:lpstr>
      <vt:lpstr>ChatGPT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523</cp:revision>
  <dcterms:created xsi:type="dcterms:W3CDTF">2026-09-09T09:53:05Z</dcterms:created>
  <dcterms:modified xsi:type="dcterms:W3CDTF">2026-10-07T07:08:17Z</dcterms:modified>
</cp:coreProperties>
</file>