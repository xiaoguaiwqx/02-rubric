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2"/>
    <p:sldId id="257" r:id="rId3"/>
  </p:sldIdLst>
  <p:sldSz cx="17373600" cy="11522075"/>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139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Native editable rendering of the preferred generated layout; photo is original reference sample. All panels, node diagrams, robot, document, lock icons, text and arrows use native PowerPoint objects. Gold is used in selection/reflection/evaluation only. Context routes are dashed and feed independent reflection and child-group revision; one shared visual context link stands for all independent requests. Selected local A/B disagreements and None cases are all individually reflected, not automatically deemed errors. Critiques collected per root, one split updates a whole group under a fixed root. Candidate accepted iff covered accuracy strictly improves on same evaluation set; zero coverage cannot win, technical failures are not None; track coverage. Global Arbiter is output-only, not acceptance. The teal update path has a deliberate crossover gap at the horizontal report edge; no data junction there. At most five rounds. Second slide preserves the earlier illustrative detail.</a:t>
            </a:r>
          </a:p>
          <a:p>
            <a:r>
              <a:t>Notation: R1 Completeness; R2 Visual Grounding; R3 Factuality; R4 Creativity; R5 Clarity. Ri denotes the fixed target root; its complete subtree is reflected upon, revised, and compared locally. Full Rubric descriptions are shared context, not the revision scope.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an illustrative design example, not a real trace or measured outcome. It demonstrates two example rewrites and a retained child within whole-group split; no fixed requirement for exactly three children or this wording. Actual reflection also receives the image and full candidate texts, full local Worker analysis and gold. c2 and cK are schematic additional cases, not facts from the first sample. Full global Rubric gives scope context; aggregate concise critiques in code, no additional summarization stage. Formal local acceptance is higher covered accuracy than the current subtree.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302055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87284"/>
            <a:ext cx="16733520" cy="557784"/>
          </a:xfrm>
          <a:prstGeom prst="rect">
            <a:avLst/>
          </a:prstGeom>
          <a:noFill/>
        </p:spPr>
        <p:txBody>
          <a:bodyPr wrap="square" lIns="0" tIns="0" rIns="0" bIns="0">
            <a:spAutoFit/>
          </a:bodyPr>
          <a:lstStyle/>
          <a:p>
            <a:pPr algn="ctr">
              <a:spcAft>
                <a:spcPts val="0"/>
              </a:spcAft>
              <a:defRPr sz="3700" b="1">
                <a:solidFill>
                  <a:srgbClr val="11274B"/>
                </a:solidFill>
                <a:latin typeface="Cambria"/>
              </a:defRPr>
            </a:pPr>
            <a:r>
              <a:rPr dirty="0"/>
              <a:t>Case-wise Subtree Reflection</a:t>
            </a:r>
          </a:p>
        </p:txBody>
      </p:sp>
      <p:sp>
        <p:nvSpPr>
          <p:cNvPr id="3" name="Rounded Rectangle 2"/>
          <p:cNvSpPr/>
          <p:nvPr/>
        </p:nvSpPr>
        <p:spPr>
          <a:xfrm>
            <a:off x="9939528" y="1226130"/>
            <a:ext cx="7168896" cy="8970264"/>
          </a:xfrm>
          <a:prstGeom prst="roundRect">
            <a:avLst>
              <a:gd name="adj" fmla="val 5500"/>
            </a:avLst>
          </a:prstGeom>
          <a:solidFill>
            <a:srgbClr val="E7F5FE"/>
          </a:solidFill>
          <a:ln w="25400">
            <a:solidFill>
              <a:srgbClr val="187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07624" y="1345001"/>
            <a:ext cx="3108959" cy="411480"/>
          </a:xfrm>
          <a:prstGeom prst="rect">
            <a:avLst/>
          </a:prstGeom>
          <a:noFill/>
        </p:spPr>
        <p:txBody>
          <a:bodyPr wrap="square" lIns="0" tIns="0" rIns="0" bIns="0">
            <a:spAutoFit/>
          </a:bodyPr>
          <a:lstStyle/>
          <a:p>
            <a:pPr algn="l">
              <a:spcAft>
                <a:spcPts val="0"/>
              </a:spcAft>
              <a:defRPr sz="2900" b="1">
                <a:solidFill>
                  <a:srgbClr val="11274B"/>
                </a:solidFill>
                <a:latin typeface="Cambria"/>
              </a:defRPr>
            </a:pPr>
            <a:r>
              <a:rPr sz="2400"/>
              <a:t>Manager · subtree Rᵢ</a:t>
            </a:r>
          </a:p>
        </p:txBody>
      </p:sp>
      <p:sp>
        <p:nvSpPr>
          <p:cNvPr id="5" name="Rounded Rectangle 4"/>
          <p:cNvSpPr/>
          <p:nvPr/>
        </p:nvSpPr>
        <p:spPr>
          <a:xfrm>
            <a:off x="256032" y="1271850"/>
            <a:ext cx="4270248" cy="2148840"/>
          </a:xfrm>
          <a:prstGeom prst="roundRect">
            <a:avLst>
              <a:gd name="adj" fmla="val 5500"/>
            </a:avLst>
          </a:prstGeom>
          <a:solidFill>
            <a:srgbClr val="F7FAFD"/>
          </a:solidFill>
          <a:ln w="2286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93192" y="1381578"/>
            <a:ext cx="3959352" cy="329184"/>
          </a:xfrm>
          <a:prstGeom prst="rect">
            <a:avLst/>
          </a:prstGeom>
          <a:noFill/>
        </p:spPr>
        <p:txBody>
          <a:bodyPr wrap="square" lIns="0" tIns="0" rIns="0" bIns="0">
            <a:spAutoFit/>
          </a:bodyPr>
          <a:lstStyle/>
          <a:p>
            <a:pPr algn="l">
              <a:spcAft>
                <a:spcPts val="0"/>
              </a:spcAft>
              <a:defRPr sz="1900" b="1">
                <a:solidFill>
                  <a:srgbClr val="11274B"/>
                </a:solidFill>
                <a:latin typeface="Cambria"/>
              </a:defRPr>
            </a:pPr>
            <a:r>
              <a:rPr dirty="0"/>
              <a:t>Initialize once · for each root</a:t>
            </a:r>
          </a:p>
        </p:txBody>
      </p:sp>
      <p:grpSp>
        <p:nvGrpSpPr>
          <p:cNvPr id="172" name="组合 171">
            <a:extLst>
              <a:ext uri="{FF2B5EF4-FFF2-40B4-BE49-F238E27FC236}">
                <a16:creationId xmlns:a16="http://schemas.microsoft.com/office/drawing/2014/main" id="{52C46988-ACDE-4E1C-B641-933857773AD5}"/>
              </a:ext>
            </a:extLst>
          </p:cNvPr>
          <p:cNvGrpSpPr>
            <a:grpSpLocks noChangeAspect="1"/>
          </p:cNvGrpSpPr>
          <p:nvPr/>
        </p:nvGrpSpPr>
        <p:grpSpPr>
          <a:xfrm>
            <a:off x="323363" y="1960559"/>
            <a:ext cx="695141" cy="648000"/>
            <a:chOff x="448056" y="1794303"/>
            <a:chExt cx="562264" cy="524134"/>
          </a:xfrm>
        </p:grpSpPr>
        <p:sp>
          <p:nvSpPr>
            <p:cNvPr id="7" name="Rounded Rectangle 6"/>
            <p:cNvSpPr/>
            <p:nvPr/>
          </p:nvSpPr>
          <p:spPr>
            <a:xfrm>
              <a:off x="448056" y="1794303"/>
              <a:ext cx="159928" cy="213238"/>
            </a:xfrm>
            <a:prstGeom prst="roundRect">
              <a:avLst>
                <a:gd name="adj" fmla="val 5500"/>
              </a:avLst>
            </a:prstGeom>
            <a:solidFill>
              <a:srgbClr val="FFFFFF"/>
            </a:solidFill>
            <a:ln w="1524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a:off x="477133" y="1837919"/>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77133" y="1874267"/>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77133" y="1910614"/>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7133" y="1946962"/>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49224" y="1794303"/>
              <a:ext cx="159928" cy="213238"/>
            </a:xfrm>
            <a:prstGeom prst="roundRect">
              <a:avLst>
                <a:gd name="adj" fmla="val 5500"/>
              </a:avLst>
            </a:prstGeom>
            <a:solidFill>
              <a:srgbClr val="FFFFFF"/>
            </a:solidFill>
            <a:ln w="1524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678301" y="1837919"/>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78301" y="1874267"/>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78301" y="1910614"/>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78301" y="1946962"/>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50392" y="1794303"/>
              <a:ext cx="159928" cy="213238"/>
            </a:xfrm>
            <a:prstGeom prst="roundRect">
              <a:avLst>
                <a:gd name="adj" fmla="val 5500"/>
              </a:avLst>
            </a:prstGeom>
            <a:solidFill>
              <a:srgbClr val="FFFFFF"/>
            </a:solidFill>
            <a:ln w="1524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a:off x="879469" y="1837919"/>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79469" y="1874267"/>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79469" y="1910614"/>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79469" y="1946962"/>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448056" y="2105199"/>
              <a:ext cx="159928" cy="213238"/>
            </a:xfrm>
            <a:prstGeom prst="roundRect">
              <a:avLst>
                <a:gd name="adj" fmla="val 5500"/>
              </a:avLst>
            </a:prstGeom>
            <a:solidFill>
              <a:srgbClr val="FFFFFF"/>
            </a:solidFill>
            <a:ln w="1524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a:off x="477133" y="2148815"/>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77133" y="2185163"/>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77133" y="2221510"/>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7133" y="2257858"/>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49224" y="2105199"/>
              <a:ext cx="159928" cy="213238"/>
            </a:xfrm>
            <a:prstGeom prst="roundRect">
              <a:avLst>
                <a:gd name="adj" fmla="val 5500"/>
              </a:avLst>
            </a:prstGeom>
            <a:solidFill>
              <a:srgbClr val="FFFFFF"/>
            </a:solidFill>
            <a:ln w="1524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a:off x="678301" y="2148815"/>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78301" y="2185163"/>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78301" y="2221510"/>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78301" y="2257858"/>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850392" y="2105199"/>
              <a:ext cx="159928" cy="213238"/>
            </a:xfrm>
            <a:prstGeom prst="roundRect">
              <a:avLst>
                <a:gd name="adj" fmla="val 5500"/>
              </a:avLst>
            </a:prstGeom>
            <a:solidFill>
              <a:srgbClr val="FFFFFF"/>
            </a:solidFill>
            <a:ln w="1524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8" name="Connector 57"/>
            <p:cNvCxnSpPr/>
            <p:nvPr/>
          </p:nvCxnSpPr>
          <p:spPr>
            <a:xfrm>
              <a:off x="879469" y="2148815"/>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79469" y="2185163"/>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79469" y="2221510"/>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79469" y="2257858"/>
              <a:ext cx="101773"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grpSp>
      <p:grpSp>
        <p:nvGrpSpPr>
          <p:cNvPr id="174" name="组合 173">
            <a:extLst>
              <a:ext uri="{FF2B5EF4-FFF2-40B4-BE49-F238E27FC236}">
                <a16:creationId xmlns:a16="http://schemas.microsoft.com/office/drawing/2014/main" id="{C7B4195B-100B-4CAE-B4AC-F4C790C3387D}"/>
              </a:ext>
            </a:extLst>
          </p:cNvPr>
          <p:cNvGrpSpPr>
            <a:grpSpLocks noChangeAspect="1"/>
          </p:cNvGrpSpPr>
          <p:nvPr/>
        </p:nvGrpSpPr>
        <p:grpSpPr>
          <a:xfrm>
            <a:off x="1437834" y="1959336"/>
            <a:ext cx="695141" cy="648000"/>
            <a:chOff x="1545336" y="1794303"/>
            <a:chExt cx="562264" cy="524134"/>
          </a:xfrm>
        </p:grpSpPr>
        <p:sp>
          <p:nvSpPr>
            <p:cNvPr id="12" name="Rounded Rectangle 11"/>
            <p:cNvSpPr/>
            <p:nvPr/>
          </p:nvSpPr>
          <p:spPr>
            <a:xfrm>
              <a:off x="1545336" y="1794303"/>
              <a:ext cx="159928" cy="213238"/>
            </a:xfrm>
            <a:prstGeom prst="roundRect">
              <a:avLst>
                <a:gd name="adj" fmla="val 5500"/>
              </a:avLst>
            </a:prstGeom>
            <a:solidFill>
              <a:srgbClr val="FFFFFF"/>
            </a:solidFill>
            <a:ln w="15240">
              <a:solidFill>
                <a:srgbClr val="147D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1574413" y="1837919"/>
              <a:ext cx="101773" cy="0"/>
            </a:xfrm>
            <a:prstGeom prst="line">
              <a:avLst/>
            </a:prstGeom>
            <a:ln w="11430">
              <a:solidFill>
                <a:srgbClr val="147DA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574413" y="1874267"/>
              <a:ext cx="101773" cy="0"/>
            </a:xfrm>
            <a:prstGeom prst="line">
              <a:avLst/>
            </a:prstGeom>
            <a:ln w="11430">
              <a:solidFill>
                <a:srgbClr val="147DA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574413" y="1910614"/>
              <a:ext cx="101773" cy="0"/>
            </a:xfrm>
            <a:prstGeom prst="line">
              <a:avLst/>
            </a:prstGeom>
            <a:ln w="11430">
              <a:solidFill>
                <a:srgbClr val="147DA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574413" y="1946962"/>
              <a:ext cx="101773" cy="0"/>
            </a:xfrm>
            <a:prstGeom prst="line">
              <a:avLst/>
            </a:prstGeom>
            <a:ln w="11430">
              <a:solidFill>
                <a:srgbClr val="147DA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746504" y="1794303"/>
              <a:ext cx="159928" cy="213238"/>
            </a:xfrm>
            <a:prstGeom prst="roundRect">
              <a:avLst>
                <a:gd name="adj" fmla="val 5500"/>
              </a:avLst>
            </a:prstGeom>
            <a:solidFill>
              <a:srgbClr val="FFFFFF"/>
            </a:solidFill>
            <a:ln w="15240">
              <a:solidFill>
                <a:srgbClr val="009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1775581" y="1837919"/>
              <a:ext cx="101773" cy="0"/>
            </a:xfrm>
            <a:prstGeom prst="line">
              <a:avLst/>
            </a:prstGeom>
            <a:ln w="11430">
              <a:solidFill>
                <a:srgbClr val="009E9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775581" y="1874267"/>
              <a:ext cx="101773" cy="0"/>
            </a:xfrm>
            <a:prstGeom prst="line">
              <a:avLst/>
            </a:prstGeom>
            <a:ln w="11430">
              <a:solidFill>
                <a:srgbClr val="009E9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775581" y="1910614"/>
              <a:ext cx="101773" cy="0"/>
            </a:xfrm>
            <a:prstGeom prst="line">
              <a:avLst/>
            </a:prstGeom>
            <a:ln w="11430">
              <a:solidFill>
                <a:srgbClr val="009E9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775581" y="1946962"/>
              <a:ext cx="101773" cy="0"/>
            </a:xfrm>
            <a:prstGeom prst="line">
              <a:avLst/>
            </a:prstGeom>
            <a:ln w="11430">
              <a:solidFill>
                <a:srgbClr val="009E94"/>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947672" y="1794303"/>
              <a:ext cx="159928" cy="213238"/>
            </a:xfrm>
            <a:prstGeom prst="roundRect">
              <a:avLst>
                <a:gd name="adj" fmla="val 5500"/>
              </a:avLst>
            </a:prstGeom>
            <a:solidFill>
              <a:srgbClr val="FFFFFF"/>
            </a:solidFill>
            <a:ln w="15240">
              <a:solidFill>
                <a:srgbClr val="E69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1976749" y="1837919"/>
              <a:ext cx="101773" cy="0"/>
            </a:xfrm>
            <a:prstGeom prst="line">
              <a:avLst/>
            </a:prstGeom>
            <a:ln w="11430">
              <a:solidFill>
                <a:srgbClr val="E69635"/>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976749" y="1874267"/>
              <a:ext cx="101773" cy="0"/>
            </a:xfrm>
            <a:prstGeom prst="line">
              <a:avLst/>
            </a:prstGeom>
            <a:ln w="11430">
              <a:solidFill>
                <a:srgbClr val="E69635"/>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976749" y="1910614"/>
              <a:ext cx="101773" cy="0"/>
            </a:xfrm>
            <a:prstGeom prst="line">
              <a:avLst/>
            </a:prstGeom>
            <a:ln w="11430">
              <a:solidFill>
                <a:srgbClr val="E69635"/>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976749" y="1946962"/>
              <a:ext cx="101773" cy="0"/>
            </a:xfrm>
            <a:prstGeom prst="line">
              <a:avLst/>
            </a:prstGeom>
            <a:ln w="11430">
              <a:solidFill>
                <a:srgbClr val="E69635"/>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1545336" y="2105199"/>
              <a:ext cx="159928" cy="213238"/>
            </a:xfrm>
            <a:prstGeom prst="roundRect">
              <a:avLst>
                <a:gd name="adj" fmla="val 5500"/>
              </a:avLst>
            </a:prstGeom>
            <a:solidFill>
              <a:srgbClr val="FFFFFF"/>
            </a:solidFill>
            <a:ln w="15240">
              <a:solidFill>
                <a:srgbClr val="147D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a:off x="1574413" y="2148815"/>
              <a:ext cx="101773" cy="0"/>
            </a:xfrm>
            <a:prstGeom prst="line">
              <a:avLst/>
            </a:prstGeom>
            <a:ln w="11430">
              <a:solidFill>
                <a:srgbClr val="147DA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574413" y="2185163"/>
              <a:ext cx="101773" cy="0"/>
            </a:xfrm>
            <a:prstGeom prst="line">
              <a:avLst/>
            </a:prstGeom>
            <a:ln w="11430">
              <a:solidFill>
                <a:srgbClr val="147DA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574413" y="2221510"/>
              <a:ext cx="101773" cy="0"/>
            </a:xfrm>
            <a:prstGeom prst="line">
              <a:avLst/>
            </a:prstGeom>
            <a:ln w="11430">
              <a:solidFill>
                <a:srgbClr val="147DA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574413" y="2257858"/>
              <a:ext cx="101773" cy="0"/>
            </a:xfrm>
            <a:prstGeom prst="line">
              <a:avLst/>
            </a:prstGeom>
            <a:ln w="11430">
              <a:solidFill>
                <a:srgbClr val="147DAF"/>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1746504" y="2105199"/>
              <a:ext cx="159928" cy="213238"/>
            </a:xfrm>
            <a:prstGeom prst="roundRect">
              <a:avLst>
                <a:gd name="adj" fmla="val 5500"/>
              </a:avLst>
            </a:prstGeom>
            <a:solidFill>
              <a:srgbClr val="FFFFFF"/>
            </a:solidFill>
            <a:ln w="15240">
              <a:solidFill>
                <a:srgbClr val="009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3" name="Connector 52"/>
            <p:cNvCxnSpPr/>
            <p:nvPr/>
          </p:nvCxnSpPr>
          <p:spPr>
            <a:xfrm>
              <a:off x="1775581" y="2148815"/>
              <a:ext cx="101773" cy="0"/>
            </a:xfrm>
            <a:prstGeom prst="line">
              <a:avLst/>
            </a:prstGeom>
            <a:ln w="11430">
              <a:solidFill>
                <a:srgbClr val="009E94"/>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775581" y="2185163"/>
              <a:ext cx="101773" cy="0"/>
            </a:xfrm>
            <a:prstGeom prst="line">
              <a:avLst/>
            </a:prstGeom>
            <a:ln w="11430">
              <a:solidFill>
                <a:srgbClr val="009E94"/>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775581" y="2221510"/>
              <a:ext cx="101773" cy="0"/>
            </a:xfrm>
            <a:prstGeom prst="line">
              <a:avLst/>
            </a:prstGeom>
            <a:ln w="11430">
              <a:solidFill>
                <a:srgbClr val="009E94"/>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775581" y="2257858"/>
              <a:ext cx="101773" cy="0"/>
            </a:xfrm>
            <a:prstGeom prst="line">
              <a:avLst/>
            </a:prstGeom>
            <a:ln w="11430">
              <a:solidFill>
                <a:srgbClr val="009E94"/>
              </a:solidFill>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1947672" y="2105199"/>
              <a:ext cx="159928" cy="213238"/>
            </a:xfrm>
            <a:prstGeom prst="roundRect">
              <a:avLst>
                <a:gd name="adj" fmla="val 5500"/>
              </a:avLst>
            </a:prstGeom>
            <a:solidFill>
              <a:srgbClr val="FFFFFF"/>
            </a:solidFill>
            <a:ln w="15240">
              <a:solidFill>
                <a:srgbClr val="E69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3" name="Connector 62"/>
            <p:cNvCxnSpPr/>
            <p:nvPr/>
          </p:nvCxnSpPr>
          <p:spPr>
            <a:xfrm>
              <a:off x="1976749" y="2148815"/>
              <a:ext cx="101773" cy="0"/>
            </a:xfrm>
            <a:prstGeom prst="line">
              <a:avLst/>
            </a:prstGeom>
            <a:ln w="11430">
              <a:solidFill>
                <a:srgbClr val="E69635"/>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976749" y="2185163"/>
              <a:ext cx="101773" cy="0"/>
            </a:xfrm>
            <a:prstGeom prst="line">
              <a:avLst/>
            </a:prstGeom>
            <a:ln w="11430">
              <a:solidFill>
                <a:srgbClr val="E69635"/>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976749" y="2221510"/>
              <a:ext cx="101773" cy="0"/>
            </a:xfrm>
            <a:prstGeom prst="line">
              <a:avLst/>
            </a:prstGeom>
            <a:ln w="11430">
              <a:solidFill>
                <a:srgbClr val="E69635"/>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976749" y="2257858"/>
              <a:ext cx="101773" cy="0"/>
            </a:xfrm>
            <a:prstGeom prst="line">
              <a:avLst/>
            </a:prstGeom>
            <a:ln w="11430">
              <a:solidFill>
                <a:srgbClr val="E69635"/>
              </a:solidFill>
            </a:ln>
          </p:spPr>
          <p:style>
            <a:lnRef idx="2">
              <a:schemeClr val="accent1"/>
            </a:lnRef>
            <a:fillRef idx="0">
              <a:schemeClr val="accent1"/>
            </a:fillRef>
            <a:effectRef idx="1">
              <a:schemeClr val="accent1"/>
            </a:effectRef>
            <a:fontRef idx="minor">
              <a:schemeClr val="tx1"/>
            </a:fontRef>
          </p:style>
        </p:cxnSp>
      </p:grpSp>
      <p:sp>
        <p:nvSpPr>
          <p:cNvPr id="67" name="Oval 66"/>
          <p:cNvSpPr/>
          <p:nvPr/>
        </p:nvSpPr>
        <p:spPr>
          <a:xfrm>
            <a:off x="2660904" y="1994226"/>
            <a:ext cx="283464" cy="283464"/>
          </a:xfrm>
          <a:prstGeom prst="ellipse">
            <a:avLst/>
          </a:prstGeom>
          <a:solidFill>
            <a:srgbClr val="F7FAFD"/>
          </a:solidFill>
          <a:ln w="17780">
            <a:solidFill>
              <a:srgbClr val="147D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2721254" y="2101210"/>
            <a:ext cx="50292" cy="50292"/>
          </a:xfrm>
          <a:prstGeom prst="ellipse">
            <a:avLst/>
          </a:prstGeom>
          <a:solidFill>
            <a:srgbClr val="147DAF"/>
          </a:solidFill>
          <a:ln w="7620">
            <a:solidFill>
              <a:srgbClr val="147D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2835554" y="2101210"/>
            <a:ext cx="50292" cy="50292"/>
          </a:xfrm>
          <a:prstGeom prst="ellipse">
            <a:avLst/>
          </a:prstGeom>
          <a:solidFill>
            <a:srgbClr val="147DAF"/>
          </a:solidFill>
          <a:ln w="7620">
            <a:solidFill>
              <a:srgbClr val="147D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2990088" y="2113098"/>
            <a:ext cx="283464" cy="283464"/>
          </a:xfrm>
          <a:prstGeom prst="ellipse">
            <a:avLst/>
          </a:prstGeom>
          <a:solidFill>
            <a:srgbClr val="F7FAFD"/>
          </a:solidFill>
          <a:ln w="17780">
            <a:solidFill>
              <a:srgbClr val="009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3050438" y="2220082"/>
            <a:ext cx="50292" cy="50292"/>
          </a:xfrm>
          <a:prstGeom prst="ellipse">
            <a:avLst/>
          </a:prstGeom>
          <a:solidFill>
            <a:srgbClr val="009E94"/>
          </a:solidFill>
          <a:ln w="7620">
            <a:solidFill>
              <a:srgbClr val="009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3164738" y="2220082"/>
            <a:ext cx="50292" cy="50292"/>
          </a:xfrm>
          <a:prstGeom prst="ellipse">
            <a:avLst/>
          </a:prstGeom>
          <a:solidFill>
            <a:srgbClr val="009E94"/>
          </a:solidFill>
          <a:ln w="7620">
            <a:solidFill>
              <a:srgbClr val="009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2743200" y="2369130"/>
            <a:ext cx="283464" cy="283464"/>
          </a:xfrm>
          <a:prstGeom prst="ellipse">
            <a:avLst/>
          </a:prstGeom>
          <a:solidFill>
            <a:srgbClr val="F7FAFD"/>
          </a:solidFill>
          <a:ln w="17780">
            <a:solidFill>
              <a:srgbClr val="E69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2803550" y="2476114"/>
            <a:ext cx="50292" cy="50292"/>
          </a:xfrm>
          <a:prstGeom prst="ellipse">
            <a:avLst/>
          </a:prstGeom>
          <a:solidFill>
            <a:srgbClr val="E69635"/>
          </a:solidFill>
          <a:ln w="7620">
            <a:solidFill>
              <a:srgbClr val="E69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2917850" y="2476114"/>
            <a:ext cx="50292" cy="50292"/>
          </a:xfrm>
          <a:prstGeom prst="ellipse">
            <a:avLst/>
          </a:prstGeom>
          <a:solidFill>
            <a:srgbClr val="E69635"/>
          </a:solidFill>
          <a:ln w="7620">
            <a:solidFill>
              <a:srgbClr val="E69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75"/>
          <p:cNvSpPr/>
          <p:nvPr/>
        </p:nvSpPr>
        <p:spPr>
          <a:xfrm>
            <a:off x="3602736" y="1985082"/>
            <a:ext cx="722376" cy="713232"/>
          </a:xfrm>
          <a:prstGeom prst="roundRect">
            <a:avLst>
              <a:gd name="adj" fmla="val 5500"/>
            </a:avLst>
          </a:prstGeom>
          <a:solidFill>
            <a:srgbClr val="F7FAFD"/>
          </a:solidFill>
          <a:ln w="12700">
            <a:solidFill>
              <a:srgbClr val="96AFCA"/>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3671315" y="2241114"/>
            <a:ext cx="146304" cy="146304"/>
          </a:xfrm>
          <a:prstGeom prst="ellipse">
            <a:avLst/>
          </a:prstGeom>
          <a:solidFill>
            <a:srgbClr val="F7FAFD"/>
          </a:solidFill>
          <a:ln w="17780">
            <a:solidFill>
              <a:srgbClr val="147D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3886200" y="2241114"/>
            <a:ext cx="146304" cy="146304"/>
          </a:xfrm>
          <a:prstGeom prst="ellipse">
            <a:avLst/>
          </a:prstGeom>
          <a:solidFill>
            <a:srgbClr val="F7FAFD"/>
          </a:solidFill>
          <a:ln w="17780">
            <a:solidFill>
              <a:srgbClr val="009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4101083" y="2241114"/>
            <a:ext cx="146304" cy="146304"/>
          </a:xfrm>
          <a:prstGeom prst="ellipse">
            <a:avLst/>
          </a:prstGeom>
          <a:solidFill>
            <a:srgbClr val="F7FAFD"/>
          </a:solidFill>
          <a:ln w="17780">
            <a:solidFill>
              <a:srgbClr val="E69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0" name="Connector 79"/>
          <p:cNvCxnSpPr>
            <a:cxnSpLocks/>
          </p:cNvCxnSpPr>
          <p:nvPr/>
        </p:nvCxnSpPr>
        <p:spPr>
          <a:xfrm>
            <a:off x="1099565" y="2305122"/>
            <a:ext cx="274320"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3319272" y="2305122"/>
            <a:ext cx="201168"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283464" y="2835474"/>
            <a:ext cx="1033271" cy="484632"/>
          </a:xfrm>
          <a:prstGeom prst="rect">
            <a:avLst/>
          </a:prstGeom>
          <a:noFill/>
        </p:spPr>
        <p:txBody>
          <a:bodyPr wrap="square" lIns="0" tIns="0" rIns="0" bIns="0">
            <a:spAutoFit/>
          </a:bodyPr>
          <a:lstStyle/>
          <a:p>
            <a:pPr algn="ctr">
              <a:spcAft>
                <a:spcPts val="0"/>
              </a:spcAft>
              <a:defRPr sz="1350" b="0">
                <a:solidFill>
                  <a:srgbClr val="11274B"/>
                </a:solidFill>
                <a:latin typeface="Cambria"/>
              </a:defRPr>
            </a:pPr>
            <a:r>
              <a:t>Original root</a:t>
            </a:r>
          </a:p>
          <a:p>
            <a:pPr algn="ctr">
              <a:spcAft>
                <a:spcPts val="0"/>
              </a:spcAft>
              <a:defRPr sz="1350" b="0">
                <a:solidFill>
                  <a:srgbClr val="11274B"/>
                </a:solidFill>
                <a:latin typeface="Cambria"/>
              </a:defRPr>
            </a:pPr>
            <a:r>
              <a:t>errors</a:t>
            </a:r>
          </a:p>
        </p:txBody>
      </p:sp>
      <p:sp>
        <p:nvSpPr>
          <p:cNvPr id="84" name="TextBox 83"/>
          <p:cNvSpPr txBox="1"/>
          <p:nvPr/>
        </p:nvSpPr>
        <p:spPr>
          <a:xfrm>
            <a:off x="1417320" y="2835474"/>
            <a:ext cx="896112" cy="484632"/>
          </a:xfrm>
          <a:prstGeom prst="rect">
            <a:avLst/>
          </a:prstGeom>
          <a:noFill/>
        </p:spPr>
        <p:txBody>
          <a:bodyPr wrap="square" lIns="0" tIns="0" rIns="0" bIns="0">
            <a:spAutoFit/>
          </a:bodyPr>
          <a:lstStyle/>
          <a:p>
            <a:pPr algn="ctr">
              <a:spcAft>
                <a:spcPts val="0"/>
              </a:spcAft>
              <a:defRPr sz="1350" b="0">
                <a:solidFill>
                  <a:srgbClr val="11274B"/>
                </a:solidFill>
                <a:latin typeface="Cambria"/>
              </a:defRPr>
            </a:pPr>
            <a:r>
              <a:t>Textual</a:t>
            </a:r>
          </a:p>
          <a:p>
            <a:pPr algn="ctr">
              <a:spcAft>
                <a:spcPts val="0"/>
              </a:spcAft>
              <a:defRPr sz="1350" b="0">
                <a:solidFill>
                  <a:srgbClr val="11274B"/>
                </a:solidFill>
                <a:latin typeface="Cambria"/>
              </a:defRPr>
            </a:pPr>
            <a:r>
              <a:t>signatures</a:t>
            </a:r>
          </a:p>
        </p:txBody>
      </p:sp>
      <p:sp>
        <p:nvSpPr>
          <p:cNvPr id="85" name="TextBox 84"/>
          <p:cNvSpPr txBox="1"/>
          <p:nvPr/>
        </p:nvSpPr>
        <p:spPr>
          <a:xfrm>
            <a:off x="2542032" y="2835474"/>
            <a:ext cx="832104" cy="484632"/>
          </a:xfrm>
          <a:prstGeom prst="rect">
            <a:avLst/>
          </a:prstGeom>
          <a:noFill/>
        </p:spPr>
        <p:txBody>
          <a:bodyPr wrap="square" lIns="0" tIns="0" rIns="0" bIns="0">
            <a:spAutoFit/>
          </a:bodyPr>
          <a:lstStyle/>
          <a:p>
            <a:pPr algn="ctr">
              <a:spcAft>
                <a:spcPts val="0"/>
              </a:spcAft>
              <a:defRPr sz="1350" b="0">
                <a:solidFill>
                  <a:srgbClr val="11274B"/>
                </a:solidFill>
                <a:latin typeface="Cambria"/>
              </a:defRPr>
            </a:pPr>
            <a:r>
              <a:t>Semantic</a:t>
            </a:r>
          </a:p>
          <a:p>
            <a:pPr algn="ctr">
              <a:spcAft>
                <a:spcPts val="0"/>
              </a:spcAft>
              <a:defRPr sz="1350" b="0">
                <a:solidFill>
                  <a:srgbClr val="11274B"/>
                </a:solidFill>
                <a:latin typeface="Cambria"/>
              </a:defRPr>
            </a:pPr>
            <a:r>
              <a:t>clusters</a:t>
            </a:r>
          </a:p>
        </p:txBody>
      </p:sp>
      <p:sp>
        <p:nvSpPr>
          <p:cNvPr id="86" name="TextBox 85"/>
          <p:cNvSpPr txBox="1"/>
          <p:nvPr/>
        </p:nvSpPr>
        <p:spPr>
          <a:xfrm>
            <a:off x="3520440" y="2835474"/>
            <a:ext cx="905256" cy="484632"/>
          </a:xfrm>
          <a:prstGeom prst="rect">
            <a:avLst/>
          </a:prstGeom>
          <a:noFill/>
        </p:spPr>
        <p:txBody>
          <a:bodyPr wrap="square" lIns="0" tIns="0" rIns="0" bIns="0">
            <a:spAutoFit/>
          </a:bodyPr>
          <a:lstStyle/>
          <a:p>
            <a:pPr algn="ctr">
              <a:spcAft>
                <a:spcPts val="0"/>
              </a:spcAft>
              <a:defRPr sz="1350" b="0">
                <a:solidFill>
                  <a:srgbClr val="11274B"/>
                </a:solidFill>
                <a:latin typeface="Cambria"/>
              </a:defRPr>
            </a:pPr>
            <a:r>
              <a:t>Initial child</a:t>
            </a:r>
          </a:p>
          <a:p>
            <a:pPr algn="ctr">
              <a:spcAft>
                <a:spcPts val="0"/>
              </a:spcAft>
              <a:defRPr sz="1350" b="0">
                <a:solidFill>
                  <a:srgbClr val="11274B"/>
                </a:solidFill>
                <a:latin typeface="Cambria"/>
              </a:defRPr>
            </a:pPr>
            <a:r>
              <a:t>group</a:t>
            </a:r>
          </a:p>
        </p:txBody>
      </p:sp>
      <p:sp>
        <p:nvSpPr>
          <p:cNvPr id="87" name="TextBox 86"/>
          <p:cNvSpPr txBox="1"/>
          <p:nvPr/>
        </p:nvSpPr>
        <p:spPr>
          <a:xfrm>
            <a:off x="4608576" y="2085666"/>
            <a:ext cx="886968" cy="530352"/>
          </a:xfrm>
          <a:prstGeom prst="rect">
            <a:avLst/>
          </a:prstGeom>
          <a:noFill/>
        </p:spPr>
        <p:txBody>
          <a:bodyPr wrap="square" lIns="0" tIns="0" rIns="0" bIns="0">
            <a:spAutoFit/>
          </a:bodyPr>
          <a:lstStyle/>
          <a:p>
            <a:pPr algn="ctr">
              <a:spcAft>
                <a:spcPts val="0"/>
              </a:spcAft>
              <a:defRPr sz="1600" b="1">
                <a:solidFill>
                  <a:srgbClr val="11274B"/>
                </a:solidFill>
                <a:latin typeface="Cambria"/>
              </a:defRPr>
            </a:pPr>
            <a:r>
              <a:t>Init</a:t>
            </a:r>
          </a:p>
          <a:p>
            <a:pPr algn="ctr">
              <a:spcAft>
                <a:spcPts val="0"/>
              </a:spcAft>
              <a:defRPr sz="1600" b="1">
                <a:solidFill>
                  <a:srgbClr val="11274B"/>
                </a:solidFill>
                <a:latin typeface="Cambria"/>
              </a:defRPr>
            </a:pPr>
            <a:r>
              <a:t>Rubric</a:t>
            </a:r>
          </a:p>
        </p:txBody>
      </p:sp>
      <p:cxnSp>
        <p:nvCxnSpPr>
          <p:cNvPr id="88" name="Connector 87"/>
          <p:cNvCxnSpPr/>
          <p:nvPr/>
        </p:nvCxnSpPr>
        <p:spPr>
          <a:xfrm>
            <a:off x="4526280" y="2780610"/>
            <a:ext cx="1024128"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89" name="Rounded Rectangle 88"/>
          <p:cNvSpPr/>
          <p:nvPr/>
        </p:nvSpPr>
        <p:spPr>
          <a:xfrm>
            <a:off x="5705855" y="1207842"/>
            <a:ext cx="3685032" cy="2139696"/>
          </a:xfrm>
          <a:prstGeom prst="roundRect">
            <a:avLst>
              <a:gd name="adj" fmla="val 5500"/>
            </a:avLst>
          </a:prstGeom>
          <a:solidFill>
            <a:srgbClr val="F9FB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ounded Rectangle 89"/>
          <p:cNvSpPr/>
          <p:nvPr/>
        </p:nvSpPr>
        <p:spPr>
          <a:xfrm>
            <a:off x="5641848" y="1267278"/>
            <a:ext cx="3685032" cy="2139696"/>
          </a:xfrm>
          <a:prstGeom prst="roundRect">
            <a:avLst>
              <a:gd name="adj" fmla="val 5500"/>
            </a:avLst>
          </a:prstGeom>
          <a:solidFill>
            <a:srgbClr val="F9FB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ounded Rectangle 90"/>
          <p:cNvSpPr/>
          <p:nvPr/>
        </p:nvSpPr>
        <p:spPr>
          <a:xfrm>
            <a:off x="5577840" y="1326714"/>
            <a:ext cx="3685032" cy="2139696"/>
          </a:xfrm>
          <a:prstGeom prst="roundRect">
            <a:avLst>
              <a:gd name="adj" fmla="val 5500"/>
            </a:avLst>
          </a:prstGeom>
          <a:solidFill>
            <a:srgbClr val="F9FB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5733288" y="1482162"/>
            <a:ext cx="3374136" cy="356616"/>
          </a:xfrm>
          <a:prstGeom prst="rect">
            <a:avLst/>
          </a:prstGeom>
          <a:noFill/>
        </p:spPr>
        <p:txBody>
          <a:bodyPr wrap="square" lIns="0" tIns="0" rIns="0" bIns="0">
            <a:spAutoFit/>
          </a:bodyPr>
          <a:lstStyle/>
          <a:p>
            <a:pPr algn="ctr">
              <a:spcAft>
                <a:spcPts val="0"/>
              </a:spcAft>
              <a:defRPr sz="2500" b="1">
                <a:solidFill>
                  <a:srgbClr val="11274B"/>
                </a:solidFill>
                <a:latin typeface="Cambria"/>
              </a:defRPr>
            </a:pPr>
            <a:r>
              <a:rPr dirty="0"/>
              <a:t>Current Rubric</a:t>
            </a:r>
          </a:p>
        </p:txBody>
      </p:sp>
      <p:sp>
        <p:nvSpPr>
          <p:cNvPr id="93" name="TextBox 92"/>
          <p:cNvSpPr txBox="1"/>
          <p:nvPr/>
        </p:nvSpPr>
        <p:spPr>
          <a:xfrm>
            <a:off x="5687568" y="2067378"/>
            <a:ext cx="713232" cy="365760"/>
          </a:xfrm>
          <a:prstGeom prst="rect">
            <a:avLst/>
          </a:prstGeom>
          <a:noFill/>
        </p:spPr>
        <p:txBody>
          <a:bodyPr wrap="none" lIns="0" tIns="0" rIns="0" bIns="0">
            <a:spAutoFit/>
          </a:bodyPr>
          <a:lstStyle/>
          <a:p>
            <a:pPr algn="ctr">
              <a:spcAft>
                <a:spcPts val="0"/>
              </a:spcAft>
              <a:defRPr sz="880" b="1">
                <a:solidFill>
                  <a:srgbClr val="11274B"/>
                </a:solidFill>
                <a:latin typeface="Cambria"/>
              </a:defRPr>
            </a:pPr>
            <a:r>
              <a:rPr sz="1900"/>
              <a:t>R₁</a:t>
            </a:r>
          </a:p>
        </p:txBody>
      </p:sp>
      <p:sp>
        <p:nvSpPr>
          <p:cNvPr id="94" name="Oval 93"/>
          <p:cNvSpPr/>
          <p:nvPr/>
        </p:nvSpPr>
        <p:spPr>
          <a:xfrm>
            <a:off x="5987399" y="2579442"/>
            <a:ext cx="135696" cy="135696"/>
          </a:xfrm>
          <a:prstGeom prst="ellipse">
            <a:avLst/>
          </a:prstGeom>
          <a:solidFill>
            <a:srgbClr val="63BDEB"/>
          </a:solidFill>
          <a:ln w="2159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5" name="Connector 94"/>
          <p:cNvCxnSpPr/>
          <p:nvPr/>
        </p:nvCxnSpPr>
        <p:spPr>
          <a:xfrm flipH="1">
            <a:off x="5829894" y="2715138"/>
            <a:ext cx="225354" cy="24231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96" name="Oval 95"/>
          <p:cNvSpPr/>
          <p:nvPr/>
        </p:nvSpPr>
        <p:spPr>
          <a:xfrm>
            <a:off x="5779008" y="2957454"/>
            <a:ext cx="101772" cy="10177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7" name="Connector 96"/>
          <p:cNvCxnSpPr/>
          <p:nvPr/>
        </p:nvCxnSpPr>
        <p:spPr>
          <a:xfrm flipH="1">
            <a:off x="6038286" y="2715138"/>
            <a:ext cx="16962" cy="24231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98" name="Oval 97"/>
          <p:cNvSpPr/>
          <p:nvPr/>
        </p:nvSpPr>
        <p:spPr>
          <a:xfrm>
            <a:off x="5987399" y="2957454"/>
            <a:ext cx="101772" cy="10177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9" name="Connector 98"/>
          <p:cNvCxnSpPr/>
          <p:nvPr/>
        </p:nvCxnSpPr>
        <p:spPr>
          <a:xfrm>
            <a:off x="6055248" y="2715138"/>
            <a:ext cx="191429" cy="24231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6195791" y="2957454"/>
            <a:ext cx="101772" cy="10177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6382512" y="2067378"/>
            <a:ext cx="713232" cy="365760"/>
          </a:xfrm>
          <a:prstGeom prst="rect">
            <a:avLst/>
          </a:prstGeom>
          <a:noFill/>
        </p:spPr>
        <p:txBody>
          <a:bodyPr wrap="square" lIns="0" tIns="0" rIns="0" bIns="0">
            <a:spAutoFit/>
          </a:bodyPr>
          <a:lstStyle/>
          <a:p>
            <a:pPr algn="ctr">
              <a:spcAft>
                <a:spcPts val="0"/>
              </a:spcAft>
              <a:defRPr sz="950" b="1">
                <a:solidFill>
                  <a:srgbClr val="11274B"/>
                </a:solidFill>
                <a:latin typeface="Cambria"/>
              </a:defRPr>
            </a:pPr>
            <a:r>
              <a:rPr sz="1900"/>
              <a:t>R₂</a:t>
            </a:r>
          </a:p>
        </p:txBody>
      </p:sp>
      <p:sp>
        <p:nvSpPr>
          <p:cNvPr id="102" name="Oval 101"/>
          <p:cNvSpPr/>
          <p:nvPr/>
        </p:nvSpPr>
        <p:spPr>
          <a:xfrm>
            <a:off x="6682343" y="2579442"/>
            <a:ext cx="135696" cy="135696"/>
          </a:xfrm>
          <a:prstGeom prst="ellipse">
            <a:avLst/>
          </a:prstGeom>
          <a:solidFill>
            <a:srgbClr val="8FCC69"/>
          </a:solidFill>
          <a:ln w="2159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3" name="Connector 102"/>
          <p:cNvCxnSpPr/>
          <p:nvPr/>
        </p:nvCxnSpPr>
        <p:spPr>
          <a:xfrm flipH="1">
            <a:off x="6524838" y="2715138"/>
            <a:ext cx="225354" cy="24231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04" name="Oval 103"/>
          <p:cNvSpPr/>
          <p:nvPr/>
        </p:nvSpPr>
        <p:spPr>
          <a:xfrm>
            <a:off x="6473952" y="2957454"/>
            <a:ext cx="101772" cy="10177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5" name="Connector 104"/>
          <p:cNvCxnSpPr/>
          <p:nvPr/>
        </p:nvCxnSpPr>
        <p:spPr>
          <a:xfrm flipH="1">
            <a:off x="6733230" y="2715138"/>
            <a:ext cx="16962" cy="24231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06" name="Oval 105"/>
          <p:cNvSpPr/>
          <p:nvPr/>
        </p:nvSpPr>
        <p:spPr>
          <a:xfrm>
            <a:off x="6682343" y="2957454"/>
            <a:ext cx="101772" cy="10177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7" name="Connector 106"/>
          <p:cNvCxnSpPr/>
          <p:nvPr/>
        </p:nvCxnSpPr>
        <p:spPr>
          <a:xfrm>
            <a:off x="6750192" y="2715138"/>
            <a:ext cx="191429" cy="24231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08" name="Oval 107"/>
          <p:cNvSpPr/>
          <p:nvPr/>
        </p:nvSpPr>
        <p:spPr>
          <a:xfrm>
            <a:off x="6890735" y="2957454"/>
            <a:ext cx="101772" cy="10177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7077456" y="2067378"/>
            <a:ext cx="713232" cy="365760"/>
          </a:xfrm>
          <a:prstGeom prst="rect">
            <a:avLst/>
          </a:prstGeom>
          <a:noFill/>
        </p:spPr>
        <p:txBody>
          <a:bodyPr wrap="none" lIns="0" tIns="0" rIns="0" bIns="0">
            <a:spAutoFit/>
          </a:bodyPr>
          <a:lstStyle/>
          <a:p>
            <a:pPr algn="ctr">
              <a:spcAft>
                <a:spcPts val="0"/>
              </a:spcAft>
              <a:defRPr sz="950" b="1">
                <a:solidFill>
                  <a:srgbClr val="11274B"/>
                </a:solidFill>
                <a:latin typeface="Cambria"/>
              </a:defRPr>
            </a:pPr>
            <a:r>
              <a:rPr sz="1900"/>
              <a:t>R₃</a:t>
            </a:r>
          </a:p>
        </p:txBody>
      </p:sp>
      <p:sp>
        <p:nvSpPr>
          <p:cNvPr id="110" name="Oval 109"/>
          <p:cNvSpPr/>
          <p:nvPr/>
        </p:nvSpPr>
        <p:spPr>
          <a:xfrm>
            <a:off x="7377287" y="2579442"/>
            <a:ext cx="135696" cy="135696"/>
          </a:xfrm>
          <a:prstGeom prst="ellipse">
            <a:avLst/>
          </a:prstGeom>
          <a:solidFill>
            <a:srgbClr val="F3BC60"/>
          </a:solidFill>
          <a:ln w="2159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1" name="Connector 110"/>
          <p:cNvCxnSpPr/>
          <p:nvPr/>
        </p:nvCxnSpPr>
        <p:spPr>
          <a:xfrm flipH="1">
            <a:off x="7219782" y="2715138"/>
            <a:ext cx="225354" cy="24231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12" name="Oval 111"/>
          <p:cNvSpPr/>
          <p:nvPr/>
        </p:nvSpPr>
        <p:spPr>
          <a:xfrm>
            <a:off x="7168896" y="2957454"/>
            <a:ext cx="101772" cy="10177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3" name="Connector 112"/>
          <p:cNvCxnSpPr/>
          <p:nvPr/>
        </p:nvCxnSpPr>
        <p:spPr>
          <a:xfrm flipH="1">
            <a:off x="7428174" y="2715138"/>
            <a:ext cx="16962" cy="24231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14" name="Oval 113"/>
          <p:cNvSpPr/>
          <p:nvPr/>
        </p:nvSpPr>
        <p:spPr>
          <a:xfrm>
            <a:off x="7377287" y="2957454"/>
            <a:ext cx="101772" cy="10177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5" name="Connector 114"/>
          <p:cNvCxnSpPr/>
          <p:nvPr/>
        </p:nvCxnSpPr>
        <p:spPr>
          <a:xfrm>
            <a:off x="7445136" y="2715138"/>
            <a:ext cx="191429" cy="24231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16" name="Oval 115"/>
          <p:cNvSpPr/>
          <p:nvPr/>
        </p:nvSpPr>
        <p:spPr>
          <a:xfrm>
            <a:off x="7585679" y="2957454"/>
            <a:ext cx="101772" cy="10177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7772400" y="2067378"/>
            <a:ext cx="713232" cy="365760"/>
          </a:xfrm>
          <a:prstGeom prst="rect">
            <a:avLst/>
          </a:prstGeom>
          <a:noFill/>
        </p:spPr>
        <p:txBody>
          <a:bodyPr wrap="none" lIns="0" tIns="0" rIns="0" bIns="0">
            <a:spAutoFit/>
          </a:bodyPr>
          <a:lstStyle/>
          <a:p>
            <a:pPr algn="ctr">
              <a:spcAft>
                <a:spcPts val="0"/>
              </a:spcAft>
              <a:defRPr sz="950" b="1">
                <a:solidFill>
                  <a:srgbClr val="11274B"/>
                </a:solidFill>
                <a:latin typeface="Cambria"/>
              </a:defRPr>
            </a:pPr>
            <a:r>
              <a:rPr sz="1900"/>
              <a:t>R₄</a:t>
            </a:r>
          </a:p>
        </p:txBody>
      </p:sp>
      <p:sp>
        <p:nvSpPr>
          <p:cNvPr id="118" name="Oval 117"/>
          <p:cNvSpPr/>
          <p:nvPr/>
        </p:nvSpPr>
        <p:spPr>
          <a:xfrm>
            <a:off x="8072231" y="2579442"/>
            <a:ext cx="135696" cy="135696"/>
          </a:xfrm>
          <a:prstGeom prst="ellipse">
            <a:avLst/>
          </a:prstGeom>
          <a:solidFill>
            <a:srgbClr val="F27D74"/>
          </a:solidFill>
          <a:ln w="2159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9" name="Connector 118"/>
          <p:cNvCxnSpPr/>
          <p:nvPr/>
        </p:nvCxnSpPr>
        <p:spPr>
          <a:xfrm flipH="1">
            <a:off x="7914726" y="2715138"/>
            <a:ext cx="225354" cy="24231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20" name="Oval 119"/>
          <p:cNvSpPr/>
          <p:nvPr/>
        </p:nvSpPr>
        <p:spPr>
          <a:xfrm>
            <a:off x="7863840" y="2957454"/>
            <a:ext cx="101772" cy="10177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1" name="Connector 120"/>
          <p:cNvCxnSpPr/>
          <p:nvPr/>
        </p:nvCxnSpPr>
        <p:spPr>
          <a:xfrm flipH="1">
            <a:off x="8123118" y="2715138"/>
            <a:ext cx="16962" cy="24231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22" name="Oval 121"/>
          <p:cNvSpPr/>
          <p:nvPr/>
        </p:nvSpPr>
        <p:spPr>
          <a:xfrm>
            <a:off x="8072231" y="2957454"/>
            <a:ext cx="101772" cy="10177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3" name="Connector 122"/>
          <p:cNvCxnSpPr/>
          <p:nvPr/>
        </p:nvCxnSpPr>
        <p:spPr>
          <a:xfrm>
            <a:off x="8140080" y="2715138"/>
            <a:ext cx="191429" cy="24231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24" name="Oval 123"/>
          <p:cNvSpPr/>
          <p:nvPr/>
        </p:nvSpPr>
        <p:spPr>
          <a:xfrm>
            <a:off x="8280623" y="2957454"/>
            <a:ext cx="101772" cy="10177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8467344" y="2067378"/>
            <a:ext cx="713232" cy="365760"/>
          </a:xfrm>
          <a:prstGeom prst="rect">
            <a:avLst/>
          </a:prstGeom>
          <a:noFill/>
        </p:spPr>
        <p:txBody>
          <a:bodyPr wrap="none" lIns="0" tIns="0" rIns="0" bIns="0">
            <a:spAutoFit/>
          </a:bodyPr>
          <a:lstStyle/>
          <a:p>
            <a:pPr algn="ctr">
              <a:spcAft>
                <a:spcPts val="0"/>
              </a:spcAft>
              <a:defRPr sz="950" b="1">
                <a:solidFill>
                  <a:srgbClr val="11274B"/>
                </a:solidFill>
                <a:latin typeface="Cambria"/>
              </a:defRPr>
            </a:pPr>
            <a:r>
              <a:rPr sz="1900"/>
              <a:t>R₅</a:t>
            </a:r>
          </a:p>
        </p:txBody>
      </p:sp>
      <p:sp>
        <p:nvSpPr>
          <p:cNvPr id="126" name="Oval 125"/>
          <p:cNvSpPr/>
          <p:nvPr/>
        </p:nvSpPr>
        <p:spPr>
          <a:xfrm>
            <a:off x="8767175" y="2579442"/>
            <a:ext cx="135696" cy="135696"/>
          </a:xfrm>
          <a:prstGeom prst="ellipse">
            <a:avLst/>
          </a:prstGeom>
          <a:solidFill>
            <a:srgbClr val="B289DA"/>
          </a:solidFill>
          <a:ln w="2159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7" name="Connector 126"/>
          <p:cNvCxnSpPr/>
          <p:nvPr/>
        </p:nvCxnSpPr>
        <p:spPr>
          <a:xfrm flipH="1">
            <a:off x="8609670" y="2715138"/>
            <a:ext cx="225354" cy="24231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28" name="Oval 127"/>
          <p:cNvSpPr/>
          <p:nvPr/>
        </p:nvSpPr>
        <p:spPr>
          <a:xfrm>
            <a:off x="8558784" y="2957454"/>
            <a:ext cx="101772" cy="10177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9" name="Connector 128"/>
          <p:cNvCxnSpPr/>
          <p:nvPr/>
        </p:nvCxnSpPr>
        <p:spPr>
          <a:xfrm flipH="1">
            <a:off x="8818062" y="2715138"/>
            <a:ext cx="16962" cy="24231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30" name="Oval 129"/>
          <p:cNvSpPr/>
          <p:nvPr/>
        </p:nvSpPr>
        <p:spPr>
          <a:xfrm>
            <a:off x="8767175" y="2957454"/>
            <a:ext cx="101772" cy="10177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1" name="Connector 130"/>
          <p:cNvCxnSpPr/>
          <p:nvPr/>
        </p:nvCxnSpPr>
        <p:spPr>
          <a:xfrm>
            <a:off x="8835024" y="2715138"/>
            <a:ext cx="191429" cy="24231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32" name="Oval 131"/>
          <p:cNvSpPr/>
          <p:nvPr/>
        </p:nvSpPr>
        <p:spPr>
          <a:xfrm>
            <a:off x="8975567" y="2957454"/>
            <a:ext cx="101772" cy="10177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3" name="Connector 132"/>
          <p:cNvCxnSpPr/>
          <p:nvPr/>
        </p:nvCxnSpPr>
        <p:spPr>
          <a:xfrm>
            <a:off x="7397496" y="3466410"/>
            <a:ext cx="0" cy="557783"/>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134" name="Rounded Rectangle 133"/>
          <p:cNvSpPr/>
          <p:nvPr/>
        </p:nvSpPr>
        <p:spPr>
          <a:xfrm>
            <a:off x="256032" y="4033338"/>
            <a:ext cx="3346704" cy="3904487"/>
          </a:xfrm>
          <a:prstGeom prst="roundRect">
            <a:avLst>
              <a:gd name="adj" fmla="val 5500"/>
            </a:avLst>
          </a:prstGeom>
          <a:solidFill>
            <a:srgbClr val="EAF6FE"/>
          </a:solidFill>
          <a:ln w="24130">
            <a:solidFill>
              <a:srgbClr val="187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393192" y="4179642"/>
            <a:ext cx="3072384" cy="356616"/>
          </a:xfrm>
          <a:prstGeom prst="rect">
            <a:avLst/>
          </a:prstGeom>
          <a:noFill/>
        </p:spPr>
        <p:txBody>
          <a:bodyPr wrap="square" lIns="0" tIns="0" rIns="0" bIns="0">
            <a:spAutoFit/>
          </a:bodyPr>
          <a:lstStyle/>
          <a:p>
            <a:pPr algn="ctr">
              <a:spcAft>
                <a:spcPts val="0"/>
              </a:spcAft>
              <a:defRPr sz="2000" b="1">
                <a:solidFill>
                  <a:srgbClr val="11274B"/>
                </a:solidFill>
                <a:latin typeface="Cambria"/>
              </a:defRPr>
            </a:pPr>
            <a:r>
              <a:t>Input: visual question</a:t>
            </a:r>
          </a:p>
        </p:txBody>
      </p:sp>
      <p:pic>
        <p:nvPicPr>
          <p:cNvPr id="136" name="Picture 135" descr="image.png"/>
          <p:cNvPicPr>
            <a:picLocks noChangeAspect="1"/>
          </p:cNvPicPr>
          <p:nvPr/>
        </p:nvPicPr>
        <p:blipFill>
          <a:blip r:embed="rId3"/>
          <a:stretch>
            <a:fillRect/>
          </a:stretch>
        </p:blipFill>
        <p:spPr>
          <a:xfrm>
            <a:off x="466344" y="4728282"/>
            <a:ext cx="1237119" cy="1655064"/>
          </a:xfrm>
          <a:prstGeom prst="rect">
            <a:avLst/>
          </a:prstGeom>
        </p:spPr>
      </p:pic>
      <p:sp>
        <p:nvSpPr>
          <p:cNvPr id="137" name="TextBox 136"/>
          <p:cNvSpPr txBox="1"/>
          <p:nvPr/>
        </p:nvSpPr>
        <p:spPr>
          <a:xfrm>
            <a:off x="1947672" y="4847154"/>
            <a:ext cx="1380744" cy="1170432"/>
          </a:xfrm>
          <a:prstGeom prst="rect">
            <a:avLst/>
          </a:prstGeom>
          <a:noFill/>
        </p:spPr>
        <p:txBody>
          <a:bodyPr wrap="square" lIns="0" tIns="0" rIns="0" bIns="0">
            <a:spAutoFit/>
          </a:bodyPr>
          <a:lstStyle/>
          <a:p>
            <a:pPr algn="l">
              <a:spcAft>
                <a:spcPts val="0"/>
              </a:spcAft>
              <a:defRPr sz="1800" b="0">
                <a:solidFill>
                  <a:srgbClr val="11274B"/>
                </a:solidFill>
                <a:latin typeface="Cambria"/>
              </a:defRPr>
            </a:pPr>
            <a:r>
              <a:t>How are the</a:t>
            </a:r>
          </a:p>
          <a:p>
            <a:pPr algn="l">
              <a:spcAft>
                <a:spcPts val="0"/>
              </a:spcAft>
              <a:defRPr sz="1800" b="0">
                <a:solidFill>
                  <a:srgbClr val="11274B"/>
                </a:solidFill>
                <a:latin typeface="Cambria"/>
              </a:defRPr>
            </a:pPr>
            <a:r>
              <a:t>elements</a:t>
            </a:r>
          </a:p>
          <a:p>
            <a:pPr algn="l">
              <a:spcAft>
                <a:spcPts val="0"/>
              </a:spcAft>
              <a:defRPr sz="1800" b="0">
                <a:solidFill>
                  <a:srgbClr val="11274B"/>
                </a:solidFill>
                <a:latin typeface="Cambria"/>
              </a:defRPr>
            </a:pPr>
            <a:r>
              <a:t>positioned?</a:t>
            </a:r>
          </a:p>
        </p:txBody>
      </p:sp>
      <p:sp>
        <p:nvSpPr>
          <p:cNvPr id="138" name="TextBox 137"/>
          <p:cNvSpPr txBox="1"/>
          <p:nvPr/>
        </p:nvSpPr>
        <p:spPr>
          <a:xfrm>
            <a:off x="429768" y="6685098"/>
            <a:ext cx="2962656" cy="492443"/>
          </a:xfrm>
          <a:prstGeom prst="rect">
            <a:avLst/>
          </a:prstGeom>
          <a:noFill/>
        </p:spPr>
        <p:txBody>
          <a:bodyPr wrap="square" lIns="0" tIns="0" rIns="0" bIns="0">
            <a:spAutoFit/>
          </a:bodyPr>
          <a:lstStyle/>
          <a:p>
            <a:pPr algn="l">
              <a:spcAft>
                <a:spcPts val="0"/>
              </a:spcAft>
              <a:defRPr sz="1600" b="0">
                <a:solidFill>
                  <a:srgbClr val="11274B"/>
                </a:solidFill>
                <a:latin typeface="Cambria"/>
              </a:defRPr>
            </a:pPr>
            <a:r>
              <a:rPr dirty="0"/>
              <a:t>A: vase on the table;</a:t>
            </a:r>
            <a:r>
              <a:rPr lang="en-US" dirty="0"/>
              <a:t> </a:t>
            </a:r>
            <a:r>
              <a:rPr dirty="0"/>
              <a:t>lamp at upper right…</a:t>
            </a:r>
          </a:p>
        </p:txBody>
      </p:sp>
      <p:sp>
        <p:nvSpPr>
          <p:cNvPr id="139" name="TextBox 138"/>
          <p:cNvSpPr txBox="1"/>
          <p:nvPr/>
        </p:nvSpPr>
        <p:spPr>
          <a:xfrm>
            <a:off x="429768" y="7270314"/>
            <a:ext cx="2962656" cy="492443"/>
          </a:xfrm>
          <a:prstGeom prst="rect">
            <a:avLst/>
          </a:prstGeom>
          <a:noFill/>
        </p:spPr>
        <p:txBody>
          <a:bodyPr wrap="square" lIns="0" tIns="0" rIns="0" bIns="0">
            <a:spAutoFit/>
          </a:bodyPr>
          <a:lstStyle/>
          <a:p>
            <a:pPr algn="l">
              <a:spcAft>
                <a:spcPts val="0"/>
              </a:spcAft>
              <a:defRPr sz="1600" b="0">
                <a:solidFill>
                  <a:srgbClr val="11274B"/>
                </a:solidFill>
                <a:latin typeface="Cambria"/>
              </a:defRPr>
            </a:pPr>
            <a:r>
              <a:rPr dirty="0"/>
              <a:t>B: vase to one side;</a:t>
            </a:r>
            <a:r>
              <a:rPr lang="en-US" dirty="0"/>
              <a:t> </a:t>
            </a:r>
            <a:r>
              <a:rPr dirty="0"/>
              <a:t>glass object at left…</a:t>
            </a:r>
          </a:p>
        </p:txBody>
      </p:sp>
      <p:cxnSp>
        <p:nvCxnSpPr>
          <p:cNvPr id="140" name="Connector 139"/>
          <p:cNvCxnSpPr/>
          <p:nvPr/>
        </p:nvCxnSpPr>
        <p:spPr>
          <a:xfrm>
            <a:off x="3602736" y="5834706"/>
            <a:ext cx="365760"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1100" name="Rounded Rectangle 140"/>
          <p:cNvSpPr/>
          <p:nvPr/>
        </p:nvSpPr>
        <p:spPr>
          <a:xfrm>
            <a:off x="4160519" y="3850458"/>
            <a:ext cx="5285232" cy="3355848"/>
          </a:xfrm>
          <a:prstGeom prst="roundRect">
            <a:avLst>
              <a:gd name="adj" fmla="val 5500"/>
            </a:avLst>
          </a:prstGeom>
          <a:solidFill>
            <a:srgbClr val="FFF2D9"/>
          </a:solidFill>
          <a:ln w="24130">
            <a:solidFill>
              <a:srgbClr val="EEA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1" name="Rounded Rectangle 140"/>
          <p:cNvSpPr/>
          <p:nvPr/>
        </p:nvSpPr>
        <p:spPr>
          <a:xfrm>
            <a:off x="4069079" y="3941898"/>
            <a:ext cx="5285232" cy="3355848"/>
          </a:xfrm>
          <a:prstGeom prst="roundRect">
            <a:avLst>
              <a:gd name="adj" fmla="val 5500"/>
            </a:avLst>
          </a:prstGeom>
          <a:solidFill>
            <a:srgbClr val="FFF2D9"/>
          </a:solidFill>
          <a:ln w="24130">
            <a:solidFill>
              <a:srgbClr val="EEA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Rounded Rectangle 140"/>
          <p:cNvSpPr/>
          <p:nvPr/>
        </p:nvSpPr>
        <p:spPr>
          <a:xfrm>
            <a:off x="3977639" y="4033338"/>
            <a:ext cx="5285232" cy="3355848"/>
          </a:xfrm>
          <a:prstGeom prst="roundRect">
            <a:avLst>
              <a:gd name="adj" fmla="val 5500"/>
            </a:avLst>
          </a:prstGeom>
          <a:solidFill>
            <a:srgbClr val="FFF2D9"/>
          </a:solidFill>
          <a:ln w="24130">
            <a:solidFill>
              <a:srgbClr val="EEA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4178808" y="4197930"/>
            <a:ext cx="4882896" cy="438912"/>
          </a:xfrm>
          <a:prstGeom prst="rect">
            <a:avLst/>
          </a:prstGeom>
          <a:noFill/>
        </p:spPr>
        <p:txBody>
          <a:bodyPr wrap="square" lIns="0" tIns="0" rIns="0" bIns="0">
            <a:spAutoFit/>
          </a:bodyPr>
          <a:lstStyle/>
          <a:p>
            <a:pPr algn="ctr">
              <a:spcAft>
                <a:spcPts val="0"/>
              </a:spcAft>
              <a:defRPr sz="2600" b="1">
                <a:solidFill>
                  <a:srgbClr val="11274B"/>
                </a:solidFill>
                <a:latin typeface="Cambria"/>
              </a:defRPr>
            </a:pPr>
            <a:r>
              <a:rPr sz="2300" dirty="0">
                <a:latin typeface="Cambria"/>
              </a:rPr>
              <a:t>Worker · judge subtree Rᵢ</a:t>
            </a:r>
          </a:p>
        </p:txBody>
      </p:sp>
      <p:sp>
        <p:nvSpPr>
          <p:cNvPr id="143" name="TextBox 142"/>
          <p:cNvSpPr txBox="1"/>
          <p:nvPr/>
        </p:nvSpPr>
        <p:spPr>
          <a:xfrm>
            <a:off x="4178808" y="4792290"/>
            <a:ext cx="4160520" cy="307777"/>
          </a:xfrm>
          <a:prstGeom prst="rect">
            <a:avLst/>
          </a:prstGeom>
          <a:noFill/>
        </p:spPr>
        <p:txBody>
          <a:bodyPr wrap="square" lIns="0" tIns="0" rIns="0" bIns="0">
            <a:spAutoFit/>
          </a:bodyPr>
          <a:lstStyle/>
          <a:p>
            <a:pPr algn="l">
              <a:spcAft>
                <a:spcPts val="0"/>
              </a:spcAft>
              <a:defRPr sz="1900" b="0">
                <a:solidFill>
                  <a:srgbClr val="11274B"/>
                </a:solidFill>
                <a:latin typeface="Cambria"/>
              </a:defRPr>
            </a:pPr>
            <a:r>
              <a:rPr sz="2000" b="1" dirty="0">
                <a:latin typeface="Cambria"/>
              </a:rPr>
              <a:t>Rᵢ + complete child group</a:t>
            </a:r>
          </a:p>
        </p:txBody>
      </p:sp>
      <p:sp>
        <p:nvSpPr>
          <p:cNvPr id="144" name="Rounded Rectangle 143"/>
          <p:cNvSpPr/>
          <p:nvPr/>
        </p:nvSpPr>
        <p:spPr>
          <a:xfrm>
            <a:off x="4297680" y="5276922"/>
            <a:ext cx="1298448" cy="1408176"/>
          </a:xfrm>
          <a:prstGeom prst="roundRect">
            <a:avLst>
              <a:gd name="adj" fmla="val 5500"/>
            </a:avLst>
          </a:prstGeom>
          <a:solidFill>
            <a:srgbClr val="FFFCF5"/>
          </a:solidFill>
          <a:ln w="15240">
            <a:solidFill>
              <a:srgbClr val="8F9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4835804" y="5496378"/>
            <a:ext cx="243230" cy="243230"/>
          </a:xfrm>
          <a:prstGeom prst="ellipse">
            <a:avLst/>
          </a:prstGeom>
          <a:solidFill>
            <a:srgbClr val="63BDEB"/>
          </a:solidFill>
          <a:ln w="2159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6" name="Connector 145"/>
          <p:cNvCxnSpPr/>
          <p:nvPr/>
        </p:nvCxnSpPr>
        <p:spPr>
          <a:xfrm flipH="1">
            <a:off x="4553483" y="5739608"/>
            <a:ext cx="403936" cy="434340"/>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47" name="Oval 146"/>
          <p:cNvSpPr/>
          <p:nvPr/>
        </p:nvSpPr>
        <p:spPr>
          <a:xfrm>
            <a:off x="4462272" y="6173948"/>
            <a:ext cx="182422" cy="18242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8" name="Connector 147"/>
          <p:cNvCxnSpPr/>
          <p:nvPr/>
        </p:nvCxnSpPr>
        <p:spPr>
          <a:xfrm flipH="1">
            <a:off x="4927015" y="5739608"/>
            <a:ext cx="30404" cy="434340"/>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49" name="Oval 148"/>
          <p:cNvSpPr/>
          <p:nvPr/>
        </p:nvSpPr>
        <p:spPr>
          <a:xfrm>
            <a:off x="4835804" y="6173948"/>
            <a:ext cx="182422" cy="18242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0" name="Connector 149"/>
          <p:cNvCxnSpPr/>
          <p:nvPr/>
        </p:nvCxnSpPr>
        <p:spPr>
          <a:xfrm>
            <a:off x="4957419" y="5739608"/>
            <a:ext cx="343129" cy="434340"/>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51" name="Oval 150"/>
          <p:cNvSpPr/>
          <p:nvPr/>
        </p:nvSpPr>
        <p:spPr>
          <a:xfrm>
            <a:off x="5209336" y="6173948"/>
            <a:ext cx="182422" cy="182422"/>
          </a:xfrm>
          <a:prstGeom prst="ellipse">
            <a:avLst/>
          </a:prstGeom>
          <a:solidFill>
            <a:srgbClr val="FFFFFF"/>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2" name="Connector 151"/>
          <p:cNvCxnSpPr/>
          <p:nvPr/>
        </p:nvCxnSpPr>
        <p:spPr>
          <a:xfrm>
            <a:off x="5669280" y="5907858"/>
            <a:ext cx="402336"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cxnSp>
        <p:nvCxnSpPr>
          <p:cNvPr id="153" name="Connector 152"/>
          <p:cNvCxnSpPr>
            <a:cxnSpLocks/>
          </p:cNvCxnSpPr>
          <p:nvPr/>
        </p:nvCxnSpPr>
        <p:spPr>
          <a:xfrm>
            <a:off x="6712839" y="5430997"/>
            <a:ext cx="0" cy="160477"/>
          </a:xfrm>
          <a:prstGeom prst="line">
            <a:avLst/>
          </a:prstGeom>
          <a:ln w="25146">
            <a:solidFill>
              <a:srgbClr val="11274B"/>
            </a:solidFill>
          </a:ln>
        </p:spPr>
        <p:style>
          <a:lnRef idx="2">
            <a:schemeClr val="accent1"/>
          </a:lnRef>
          <a:fillRef idx="0">
            <a:schemeClr val="accent1"/>
          </a:fillRef>
          <a:effectRef idx="1">
            <a:schemeClr val="accent1"/>
          </a:effectRef>
          <a:fontRef idx="minor">
            <a:schemeClr val="tx1"/>
          </a:fontRef>
        </p:style>
      </p:cxnSp>
      <p:sp>
        <p:nvSpPr>
          <p:cNvPr id="154" name="Oval 153"/>
          <p:cNvSpPr/>
          <p:nvPr/>
        </p:nvSpPr>
        <p:spPr>
          <a:xfrm>
            <a:off x="6648647" y="5319898"/>
            <a:ext cx="128381" cy="128381"/>
          </a:xfrm>
          <a:prstGeom prst="ellipse">
            <a:avLst/>
          </a:prstGeom>
          <a:solidFill>
            <a:srgbClr val="77C7ED"/>
          </a:solidFill>
          <a:ln w="25146">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ounded Rectangle 154"/>
          <p:cNvSpPr/>
          <p:nvPr/>
        </p:nvSpPr>
        <p:spPr>
          <a:xfrm>
            <a:off x="6231407" y="5756067"/>
            <a:ext cx="119329" cy="263347"/>
          </a:xfrm>
          <a:prstGeom prst="roundRect">
            <a:avLst>
              <a:gd name="adj" fmla="val 45000"/>
            </a:avLst>
          </a:prstGeom>
          <a:solidFill>
            <a:srgbClr val="86CDEC"/>
          </a:solidFill>
          <a:ln w="2286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ounded Rectangle 155"/>
          <p:cNvSpPr/>
          <p:nvPr/>
        </p:nvSpPr>
        <p:spPr>
          <a:xfrm>
            <a:off x="7095515" y="5756067"/>
            <a:ext cx="119329" cy="263347"/>
          </a:xfrm>
          <a:prstGeom prst="roundRect">
            <a:avLst>
              <a:gd name="adj" fmla="val 45000"/>
            </a:avLst>
          </a:prstGeom>
          <a:solidFill>
            <a:srgbClr val="86CDEC"/>
          </a:solidFill>
          <a:ln w="2286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ounded Rectangle 156"/>
          <p:cNvSpPr/>
          <p:nvPr/>
        </p:nvSpPr>
        <p:spPr>
          <a:xfrm>
            <a:off x="6618199" y="6126399"/>
            <a:ext cx="189281" cy="148133"/>
          </a:xfrm>
          <a:prstGeom prst="roundRect">
            <a:avLst>
              <a:gd name="adj" fmla="val 5500"/>
            </a:avLst>
          </a:prstGeom>
          <a:solidFill>
            <a:srgbClr val="86CDEC"/>
          </a:solidFill>
          <a:ln w="2286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ounded Rectangle 157"/>
          <p:cNvSpPr/>
          <p:nvPr/>
        </p:nvSpPr>
        <p:spPr>
          <a:xfrm>
            <a:off x="6326048" y="5583245"/>
            <a:ext cx="773582" cy="608990"/>
          </a:xfrm>
          <a:prstGeom prst="roundRect">
            <a:avLst>
              <a:gd name="adj" fmla="val 26000"/>
            </a:avLst>
          </a:prstGeom>
          <a:solidFill>
            <a:srgbClr val="FFFFFF"/>
          </a:solidFill>
          <a:ln w="26288">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val 158"/>
          <p:cNvSpPr/>
          <p:nvPr/>
        </p:nvSpPr>
        <p:spPr>
          <a:xfrm>
            <a:off x="6494755" y="5797214"/>
            <a:ext cx="111100" cy="111100"/>
          </a:xfrm>
          <a:prstGeom prst="ellipse">
            <a:avLst/>
          </a:prstGeom>
          <a:solidFill>
            <a:srgbClr val="11274B"/>
          </a:solidFill>
          <a:ln w="1143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val 159"/>
          <p:cNvSpPr/>
          <p:nvPr/>
        </p:nvSpPr>
        <p:spPr>
          <a:xfrm>
            <a:off x="6819824" y="5797214"/>
            <a:ext cx="111100" cy="111100"/>
          </a:xfrm>
          <a:prstGeom prst="ellipse">
            <a:avLst/>
          </a:prstGeom>
          <a:solidFill>
            <a:srgbClr val="11274B"/>
          </a:solidFill>
          <a:ln w="1143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Freeform 160"/>
          <p:cNvSpPr/>
          <p:nvPr/>
        </p:nvSpPr>
        <p:spPr>
          <a:xfrm>
            <a:off x="6313703" y="6282761"/>
            <a:ext cx="798271" cy="222199"/>
          </a:xfrm>
          <a:custGeom>
            <a:avLst/>
            <a:gdLst/>
            <a:ahLst/>
            <a:cxnLst/>
            <a:rect l="l" t="t" r="r" b="b"/>
            <a:pathLst>
              <a:path w="886968" h="246888">
                <a:moveTo>
                  <a:pt x="0" y="246888"/>
                </a:moveTo>
                <a:lnTo>
                  <a:pt x="1804" y="195929"/>
                </a:lnTo>
                <a:lnTo>
                  <a:pt x="7196" y="152400"/>
                </a:lnTo>
                <a:lnTo>
                  <a:pt x="16144" y="115728"/>
                </a:lnTo>
                <a:lnTo>
                  <a:pt x="28617" y="85344"/>
                </a:lnTo>
                <a:lnTo>
                  <a:pt x="44582" y="60674"/>
                </a:lnTo>
                <a:lnTo>
                  <a:pt x="64008" y="41148"/>
                </a:lnTo>
                <a:lnTo>
                  <a:pt x="86862" y="26193"/>
                </a:lnTo>
                <a:lnTo>
                  <a:pt x="113114" y="15240"/>
                </a:lnTo>
                <a:lnTo>
                  <a:pt x="142732" y="7715"/>
                </a:lnTo>
                <a:lnTo>
                  <a:pt x="175683" y="3048"/>
                </a:lnTo>
                <a:lnTo>
                  <a:pt x="211936" y="666"/>
                </a:lnTo>
                <a:lnTo>
                  <a:pt x="251460" y="0"/>
                </a:lnTo>
                <a:lnTo>
                  <a:pt x="635508" y="0"/>
                </a:lnTo>
                <a:lnTo>
                  <a:pt x="675031" y="666"/>
                </a:lnTo>
                <a:lnTo>
                  <a:pt x="711284" y="3048"/>
                </a:lnTo>
                <a:lnTo>
                  <a:pt x="744235" y="7715"/>
                </a:lnTo>
                <a:lnTo>
                  <a:pt x="773853" y="15240"/>
                </a:lnTo>
                <a:lnTo>
                  <a:pt x="800105" y="26193"/>
                </a:lnTo>
                <a:lnTo>
                  <a:pt x="822960" y="41148"/>
                </a:lnTo>
                <a:lnTo>
                  <a:pt x="842385" y="60674"/>
                </a:lnTo>
                <a:lnTo>
                  <a:pt x="858350" y="85344"/>
                </a:lnTo>
                <a:lnTo>
                  <a:pt x="870823" y="115728"/>
                </a:lnTo>
                <a:lnTo>
                  <a:pt x="879771" y="152400"/>
                </a:lnTo>
                <a:lnTo>
                  <a:pt x="885163" y="195929"/>
                </a:lnTo>
                <a:lnTo>
                  <a:pt x="886968" y="246888"/>
                </a:lnTo>
              </a:path>
            </a:pathLst>
          </a:custGeom>
          <a:solidFill>
            <a:srgbClr val="FFFFFF"/>
          </a:solidFill>
          <a:ln w="26288">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2" name="Connector 161"/>
          <p:cNvCxnSpPr/>
          <p:nvPr/>
        </p:nvCxnSpPr>
        <p:spPr>
          <a:xfrm>
            <a:off x="7260336" y="5907858"/>
            <a:ext cx="338328"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163" name="Rounded Rectangle 162"/>
          <p:cNvSpPr/>
          <p:nvPr/>
        </p:nvSpPr>
        <p:spPr>
          <a:xfrm>
            <a:off x="7699248" y="5158049"/>
            <a:ext cx="1307592" cy="1874522"/>
          </a:xfrm>
          <a:prstGeom prst="roundRect">
            <a:avLst>
              <a:gd name="adj" fmla="val 5500"/>
            </a:avLst>
          </a:prstGeom>
          <a:solidFill>
            <a:srgbClr val="FFFFFF"/>
          </a:solidFill>
          <a:ln w="2413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7744968" y="5304354"/>
            <a:ext cx="1216152" cy="261610"/>
          </a:xfrm>
          <a:prstGeom prst="rect">
            <a:avLst/>
          </a:prstGeom>
          <a:noFill/>
        </p:spPr>
        <p:txBody>
          <a:bodyPr wrap="square" lIns="0" tIns="0" rIns="0" bIns="0">
            <a:spAutoFit/>
          </a:bodyPr>
          <a:lstStyle/>
          <a:p>
            <a:pPr algn="ctr">
              <a:spcAft>
                <a:spcPts val="0"/>
              </a:spcAft>
              <a:defRPr sz="1700" b="1">
                <a:solidFill>
                  <a:srgbClr val="11274B"/>
                </a:solidFill>
                <a:latin typeface="Cambria"/>
              </a:defRPr>
            </a:pPr>
            <a:r>
              <a:rPr sz="1700" dirty="0">
                <a:latin typeface="Cambria"/>
              </a:rPr>
              <a:t>Report Jᵢ</a:t>
            </a:r>
          </a:p>
        </p:txBody>
      </p:sp>
      <p:cxnSp>
        <p:nvCxnSpPr>
          <p:cNvPr id="165" name="Connector 164"/>
          <p:cNvCxnSpPr/>
          <p:nvPr/>
        </p:nvCxnSpPr>
        <p:spPr>
          <a:xfrm>
            <a:off x="7818120" y="5743266"/>
            <a:ext cx="1069848" cy="0"/>
          </a:xfrm>
          <a:prstGeom prst="line">
            <a:avLst/>
          </a:prstGeom>
          <a:ln w="15240">
            <a:solidFill>
              <a:srgbClr val="11274B"/>
            </a:solidFill>
          </a:ln>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7790688" y="5907858"/>
            <a:ext cx="1133856" cy="492443"/>
          </a:xfrm>
          <a:prstGeom prst="rect">
            <a:avLst/>
          </a:prstGeom>
          <a:noFill/>
        </p:spPr>
        <p:txBody>
          <a:bodyPr wrap="square" lIns="0" tIns="0" rIns="0" bIns="0">
            <a:spAutoFit/>
          </a:bodyPr>
          <a:lstStyle/>
          <a:p>
            <a:pPr algn="ctr">
              <a:spcAft>
                <a:spcPts val="0"/>
              </a:spcAft>
              <a:defRPr sz="1500" b="0">
                <a:solidFill>
                  <a:srgbClr val="11274B"/>
                </a:solidFill>
                <a:latin typeface="Cambria"/>
              </a:defRPr>
            </a:pPr>
            <a:r>
              <a:rPr sz="1600" dirty="0"/>
              <a:t>Reason +</a:t>
            </a:r>
          </a:p>
          <a:p>
            <a:pPr algn="ctr">
              <a:spcAft>
                <a:spcPts val="0"/>
              </a:spcAft>
              <a:defRPr sz="1500" b="0">
                <a:solidFill>
                  <a:srgbClr val="11274B"/>
                </a:solidFill>
                <a:latin typeface="Cambria"/>
              </a:defRPr>
            </a:pPr>
            <a:r>
              <a:rPr sz="1600" dirty="0"/>
              <a:t>A / B / None</a:t>
            </a:r>
          </a:p>
        </p:txBody>
      </p:sp>
      <p:cxnSp>
        <p:nvCxnSpPr>
          <p:cNvPr id="167" name="Connector 166"/>
          <p:cNvCxnSpPr/>
          <p:nvPr/>
        </p:nvCxnSpPr>
        <p:spPr>
          <a:xfrm>
            <a:off x="7872983" y="6588705"/>
            <a:ext cx="859536" cy="0"/>
          </a:xfrm>
          <a:prstGeom prst="line">
            <a:avLst/>
          </a:prstGeom>
          <a:ln w="22225">
            <a:solidFill>
              <a:srgbClr val="9B9FA5"/>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7872983" y="6713292"/>
            <a:ext cx="859536" cy="0"/>
          </a:xfrm>
          <a:prstGeom prst="line">
            <a:avLst/>
          </a:prstGeom>
          <a:ln w="22225">
            <a:solidFill>
              <a:srgbClr val="9B9FA5"/>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7872983" y="6818829"/>
            <a:ext cx="594361" cy="0"/>
          </a:xfrm>
          <a:prstGeom prst="line">
            <a:avLst/>
          </a:prstGeom>
          <a:ln w="22225">
            <a:solidFill>
              <a:srgbClr val="9B9FA5"/>
            </a:solidFill>
          </a:ln>
        </p:spPr>
        <p:style>
          <a:lnRef idx="2">
            <a:schemeClr val="accent1"/>
          </a:lnRef>
          <a:fillRef idx="0">
            <a:schemeClr val="accent1"/>
          </a:fillRef>
          <a:effectRef idx="1">
            <a:schemeClr val="accent1"/>
          </a:effectRef>
          <a:fontRef idx="minor">
            <a:schemeClr val="tx1"/>
          </a:fontRef>
        </p:style>
      </p:cxnSp>
      <p:sp>
        <p:nvSpPr>
          <p:cNvPr id="170" name="TextBox 169"/>
          <p:cNvSpPr txBox="1"/>
          <p:nvPr/>
        </p:nvSpPr>
        <p:spPr>
          <a:xfrm>
            <a:off x="4261104" y="7057923"/>
            <a:ext cx="4690872" cy="228600"/>
          </a:xfrm>
          <a:prstGeom prst="rect">
            <a:avLst/>
          </a:prstGeom>
          <a:noFill/>
        </p:spPr>
        <p:txBody>
          <a:bodyPr wrap="square" lIns="0" tIns="0" rIns="0" bIns="0">
            <a:spAutoFit/>
          </a:bodyPr>
          <a:lstStyle/>
          <a:p>
            <a:pPr algn="ctr">
              <a:spcAft>
                <a:spcPts val="0"/>
              </a:spcAft>
              <a:defRPr sz="1600" b="0">
                <a:solidFill>
                  <a:srgbClr val="11274B"/>
                </a:solidFill>
                <a:latin typeface="Cambria"/>
              </a:defRPr>
            </a:pPr>
            <a:r>
              <a:rPr sz="1600" dirty="0">
                <a:latin typeface="Cambria"/>
              </a:rPr>
              <a:t>×5 independent calls · shared VLM</a:t>
            </a:r>
          </a:p>
        </p:txBody>
      </p:sp>
      <p:sp>
        <p:nvSpPr>
          <p:cNvPr id="175" name="Rounded Rectangle 174"/>
          <p:cNvSpPr/>
          <p:nvPr/>
        </p:nvSpPr>
        <p:spPr>
          <a:xfrm>
            <a:off x="5527543" y="8989385"/>
            <a:ext cx="2432304" cy="795528"/>
          </a:xfrm>
          <a:prstGeom prst="roundRect">
            <a:avLst>
              <a:gd name="adj" fmla="val 5500"/>
            </a:avLst>
          </a:prstGeom>
          <a:solidFill>
            <a:srgbClr val="F7FBFF"/>
          </a:solidFill>
          <a:ln w="2286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6" name="Connector 175"/>
          <p:cNvCxnSpPr/>
          <p:nvPr/>
        </p:nvCxnSpPr>
        <p:spPr>
          <a:xfrm>
            <a:off x="6037702" y="9163122"/>
            <a:ext cx="0" cy="411480"/>
          </a:xfrm>
          <a:prstGeom prst="line">
            <a:avLst/>
          </a:prstGeom>
          <a:ln w="2540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5863966" y="9245418"/>
            <a:ext cx="347472" cy="0"/>
          </a:xfrm>
          <a:prstGeom prst="line">
            <a:avLst/>
          </a:prstGeom>
          <a:ln w="28575">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5873110" y="9574602"/>
            <a:ext cx="329184" cy="0"/>
          </a:xfrm>
          <a:prstGeom prst="line">
            <a:avLst/>
          </a:prstGeom>
          <a:ln w="28575">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H="1">
            <a:off x="5790814" y="9245418"/>
            <a:ext cx="82296" cy="201167"/>
          </a:xfrm>
          <a:prstGeom prst="line">
            <a:avLst/>
          </a:prstGeom>
          <a:ln w="1905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5873110" y="9245418"/>
            <a:ext cx="82296" cy="201167"/>
          </a:xfrm>
          <a:prstGeom prst="line">
            <a:avLst/>
          </a:prstGeom>
          <a:ln w="1905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5790814" y="9441823"/>
            <a:ext cx="164592" cy="0"/>
          </a:xfrm>
          <a:prstGeom prst="line">
            <a:avLst/>
          </a:prstGeom>
          <a:ln w="1905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H="1">
            <a:off x="6110854" y="9245418"/>
            <a:ext cx="82296" cy="201167"/>
          </a:xfrm>
          <a:prstGeom prst="line">
            <a:avLst/>
          </a:prstGeom>
          <a:ln w="1905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6193150" y="9245418"/>
            <a:ext cx="82296" cy="201167"/>
          </a:xfrm>
          <a:prstGeom prst="line">
            <a:avLst/>
          </a:prstGeom>
          <a:ln w="1905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6110854" y="9441823"/>
            <a:ext cx="164592" cy="0"/>
          </a:xfrm>
          <a:prstGeom prst="line">
            <a:avLst/>
          </a:prstGeom>
          <a:ln w="19050">
            <a:solidFill>
              <a:srgbClr val="11274B"/>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6229725" y="9135689"/>
            <a:ext cx="1565529" cy="615553"/>
          </a:xfrm>
          <a:prstGeom prst="rect">
            <a:avLst/>
          </a:prstGeom>
          <a:noFill/>
        </p:spPr>
        <p:txBody>
          <a:bodyPr wrap="square" lIns="0" tIns="0" rIns="0" bIns="0">
            <a:spAutoFit/>
          </a:bodyPr>
          <a:lstStyle/>
          <a:p>
            <a:pPr algn="ctr">
              <a:spcAft>
                <a:spcPts val="0"/>
              </a:spcAft>
              <a:defRPr sz="2000" b="1">
                <a:solidFill>
                  <a:srgbClr val="11274B"/>
                </a:solidFill>
                <a:latin typeface="Cambria"/>
              </a:defRPr>
            </a:pPr>
            <a:r>
              <a:rPr dirty="0"/>
              <a:t>Global</a:t>
            </a:r>
          </a:p>
          <a:p>
            <a:pPr algn="ctr">
              <a:spcAft>
                <a:spcPts val="0"/>
              </a:spcAft>
              <a:defRPr sz="2000" b="1">
                <a:solidFill>
                  <a:srgbClr val="11274B"/>
                </a:solidFill>
                <a:latin typeface="Cambria"/>
              </a:defRPr>
            </a:pPr>
            <a:r>
              <a:rPr dirty="0"/>
              <a:t>Arbiter</a:t>
            </a:r>
          </a:p>
        </p:txBody>
      </p:sp>
      <p:cxnSp>
        <p:nvCxnSpPr>
          <p:cNvPr id="186" name="Connector 185"/>
          <p:cNvCxnSpPr/>
          <p:nvPr/>
        </p:nvCxnSpPr>
        <p:spPr>
          <a:xfrm>
            <a:off x="6743695" y="9784914"/>
            <a:ext cx="0" cy="292608"/>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187" name="Rounded Rectangle 186"/>
          <p:cNvSpPr/>
          <p:nvPr/>
        </p:nvSpPr>
        <p:spPr>
          <a:xfrm>
            <a:off x="5481823" y="10086666"/>
            <a:ext cx="2542032" cy="402336"/>
          </a:xfrm>
          <a:prstGeom prst="roundRect">
            <a:avLst>
              <a:gd name="adj" fmla="val 5500"/>
            </a:avLst>
          </a:prstGeom>
          <a:solidFill>
            <a:srgbClr val="F7FBFF"/>
          </a:solidFill>
          <a:ln w="2286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p:cNvSpPr txBox="1"/>
          <p:nvPr/>
        </p:nvSpPr>
        <p:spPr>
          <a:xfrm>
            <a:off x="5582407" y="10132386"/>
            <a:ext cx="2340864" cy="283464"/>
          </a:xfrm>
          <a:prstGeom prst="rect">
            <a:avLst/>
          </a:prstGeom>
          <a:noFill/>
        </p:spPr>
        <p:txBody>
          <a:bodyPr wrap="square" lIns="0" tIns="0" rIns="0" bIns="0">
            <a:spAutoFit/>
          </a:bodyPr>
          <a:lstStyle/>
          <a:p>
            <a:pPr algn="ctr">
              <a:spcAft>
                <a:spcPts val="0"/>
              </a:spcAft>
              <a:defRPr sz="1900" b="1">
                <a:solidFill>
                  <a:srgbClr val="11274B"/>
                </a:solidFill>
                <a:latin typeface="Cambria"/>
              </a:defRPr>
            </a:pPr>
            <a:r>
              <a:rPr dirty="0"/>
              <a:t>Final preference</a:t>
            </a:r>
          </a:p>
        </p:txBody>
      </p:sp>
      <p:cxnSp>
        <p:nvCxnSpPr>
          <p:cNvPr id="189" name="Connector 188"/>
          <p:cNvCxnSpPr/>
          <p:nvPr/>
        </p:nvCxnSpPr>
        <p:spPr>
          <a:xfrm>
            <a:off x="9262872" y="2177106"/>
            <a:ext cx="914400"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190" name="Rounded Rectangle 189"/>
          <p:cNvSpPr/>
          <p:nvPr/>
        </p:nvSpPr>
        <p:spPr>
          <a:xfrm>
            <a:off x="10195560" y="2012514"/>
            <a:ext cx="3136392" cy="402336"/>
          </a:xfrm>
          <a:prstGeom prst="roundRect">
            <a:avLst>
              <a:gd name="adj" fmla="val 5500"/>
            </a:avLst>
          </a:prstGeom>
          <a:solidFill>
            <a:srgbClr val="F8FBFF"/>
          </a:solidFill>
          <a:ln w="2286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TextBox 190"/>
          <p:cNvSpPr txBox="1"/>
          <p:nvPr/>
        </p:nvSpPr>
        <p:spPr>
          <a:xfrm>
            <a:off x="10268712" y="2067378"/>
            <a:ext cx="2990088" cy="246888"/>
          </a:xfrm>
          <a:prstGeom prst="rect">
            <a:avLst/>
          </a:prstGeom>
          <a:noFill/>
        </p:spPr>
        <p:txBody>
          <a:bodyPr wrap="square" lIns="0" tIns="0" rIns="0" bIns="0">
            <a:spAutoFit/>
          </a:bodyPr>
          <a:lstStyle/>
          <a:p>
            <a:pPr algn="ctr">
              <a:spcAft>
                <a:spcPts val="0"/>
              </a:spcAft>
              <a:defRPr sz="1600" b="1">
                <a:solidFill>
                  <a:srgbClr val="11274B"/>
                </a:solidFill>
                <a:latin typeface="Cambria"/>
              </a:defRPr>
            </a:pPr>
            <a:r>
              <a:t>Shared full Rubric context</a:t>
            </a:r>
          </a:p>
        </p:txBody>
      </p:sp>
      <p:sp>
        <p:nvSpPr>
          <p:cNvPr id="192" name="Rounded Rectangle 191"/>
          <p:cNvSpPr/>
          <p:nvPr/>
        </p:nvSpPr>
        <p:spPr>
          <a:xfrm>
            <a:off x="13962888" y="1372434"/>
            <a:ext cx="2734056" cy="969264"/>
          </a:xfrm>
          <a:prstGeom prst="roundRect">
            <a:avLst>
              <a:gd name="adj" fmla="val 5500"/>
            </a:avLst>
          </a:prstGeom>
          <a:solidFill>
            <a:srgbClr val="F5FAFF"/>
          </a:solidFill>
          <a:ln w="2286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TextBox 192"/>
          <p:cNvSpPr txBox="1"/>
          <p:nvPr/>
        </p:nvSpPr>
        <p:spPr>
          <a:xfrm>
            <a:off x="14063472" y="1445586"/>
            <a:ext cx="2532888" cy="256032"/>
          </a:xfrm>
          <a:prstGeom prst="rect">
            <a:avLst/>
          </a:prstGeom>
          <a:noFill/>
        </p:spPr>
        <p:txBody>
          <a:bodyPr wrap="square" lIns="0" tIns="0" rIns="0" bIns="0">
            <a:spAutoFit/>
          </a:bodyPr>
          <a:lstStyle/>
          <a:p>
            <a:pPr algn="ctr">
              <a:spcAft>
                <a:spcPts val="0"/>
              </a:spcAft>
              <a:defRPr sz="1600" b="1">
                <a:solidFill>
                  <a:srgbClr val="11274B"/>
                </a:solidFill>
                <a:latin typeface="Cambria"/>
              </a:defRPr>
            </a:pPr>
            <a:r>
              <a:t>Human preference / gold</a:t>
            </a:r>
          </a:p>
        </p:txBody>
      </p:sp>
      <p:sp>
        <p:nvSpPr>
          <p:cNvPr id="194" name="Oval 193"/>
          <p:cNvSpPr/>
          <p:nvPr/>
        </p:nvSpPr>
        <p:spPr>
          <a:xfrm>
            <a:off x="14806422" y="1829634"/>
            <a:ext cx="146304" cy="146304"/>
          </a:xfrm>
          <a:prstGeom prst="ellipse">
            <a:avLst/>
          </a:prstGeom>
          <a:solidFill>
            <a:srgbClr val="11274B"/>
          </a:solidFill>
          <a:ln w="2159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Rounded Rectangle 194"/>
          <p:cNvSpPr/>
          <p:nvPr/>
        </p:nvSpPr>
        <p:spPr>
          <a:xfrm>
            <a:off x="14751558" y="2003370"/>
            <a:ext cx="256032" cy="128016"/>
          </a:xfrm>
          <a:prstGeom prst="roundRect">
            <a:avLst>
              <a:gd name="adj" fmla="val 5500"/>
            </a:avLst>
          </a:prstGeom>
          <a:solidFill>
            <a:srgbClr val="11274B"/>
          </a:solidFill>
          <a:ln w="1270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Rounded Rectangle 195"/>
          <p:cNvSpPr/>
          <p:nvPr/>
        </p:nvSpPr>
        <p:spPr>
          <a:xfrm>
            <a:off x="15843123" y="1829634"/>
            <a:ext cx="226314" cy="301752"/>
          </a:xfrm>
          <a:prstGeom prst="roundRect">
            <a:avLst>
              <a:gd name="adj" fmla="val 5500"/>
            </a:avLst>
          </a:prstGeom>
          <a:solidFill>
            <a:srgbClr val="FFFFFF"/>
          </a:solidFill>
          <a:ln w="1524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7" name="Connector 196"/>
          <p:cNvCxnSpPr/>
          <p:nvPr/>
        </p:nvCxnSpPr>
        <p:spPr>
          <a:xfrm>
            <a:off x="15884271" y="1891356"/>
            <a:ext cx="144018"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5884271" y="1942791"/>
            <a:ext cx="144018"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5884271" y="1994225"/>
            <a:ext cx="144018"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15884271" y="2045660"/>
            <a:ext cx="144018" cy="0"/>
          </a:xfrm>
          <a:prstGeom prst="line">
            <a:avLst/>
          </a:prstGeom>
          <a:ln w="1143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a:cxnSpLocks/>
          </p:cNvCxnSpPr>
          <p:nvPr/>
        </p:nvCxnSpPr>
        <p:spPr>
          <a:xfrm>
            <a:off x="15334488" y="2341698"/>
            <a:ext cx="4572" cy="256032"/>
          </a:xfrm>
          <a:prstGeom prst="line">
            <a:avLst/>
          </a:prstGeom>
          <a:ln w="2794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a:cxnSpLocks/>
          </p:cNvCxnSpPr>
          <p:nvPr/>
        </p:nvCxnSpPr>
        <p:spPr>
          <a:xfrm flipH="1">
            <a:off x="14410944" y="2597730"/>
            <a:ext cx="923544" cy="0"/>
          </a:xfrm>
          <a:prstGeom prst="line">
            <a:avLst/>
          </a:prstGeom>
          <a:ln w="2794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14420088" y="2590490"/>
            <a:ext cx="0" cy="246888"/>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204" name="Rounded Rectangle 203"/>
          <p:cNvSpPr/>
          <p:nvPr/>
        </p:nvSpPr>
        <p:spPr>
          <a:xfrm>
            <a:off x="10945368" y="2837378"/>
            <a:ext cx="3621024" cy="722376"/>
          </a:xfrm>
          <a:prstGeom prst="roundRect">
            <a:avLst>
              <a:gd name="adj" fmla="val 5500"/>
            </a:avLst>
          </a:prstGeom>
          <a:solidFill>
            <a:srgbClr val="FFFFFF"/>
          </a:solidFill>
          <a:ln w="2286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TextBox 204"/>
          <p:cNvSpPr txBox="1"/>
          <p:nvPr/>
        </p:nvSpPr>
        <p:spPr>
          <a:xfrm>
            <a:off x="11091672" y="2937962"/>
            <a:ext cx="3328416" cy="283464"/>
          </a:xfrm>
          <a:prstGeom prst="rect">
            <a:avLst/>
          </a:prstGeom>
          <a:noFill/>
        </p:spPr>
        <p:txBody>
          <a:bodyPr wrap="square" lIns="0" tIns="0" rIns="0" bIns="0">
            <a:spAutoFit/>
          </a:bodyPr>
          <a:lstStyle/>
          <a:p>
            <a:pPr algn="ctr">
              <a:spcAft>
                <a:spcPts val="0"/>
              </a:spcAft>
              <a:defRPr sz="2100" b="1">
                <a:solidFill>
                  <a:srgbClr val="11274B"/>
                </a:solidFill>
                <a:latin typeface="Cambria"/>
              </a:defRPr>
            </a:pPr>
            <a:r>
              <a:rPr sz="1900"/>
              <a:t>Select local cases for Rᵢ</a:t>
            </a:r>
          </a:p>
        </p:txBody>
      </p:sp>
      <p:sp>
        <p:nvSpPr>
          <p:cNvPr id="206" name="TextBox 205"/>
          <p:cNvSpPr txBox="1"/>
          <p:nvPr/>
        </p:nvSpPr>
        <p:spPr>
          <a:xfrm>
            <a:off x="11045952" y="3276290"/>
            <a:ext cx="3419856" cy="210312"/>
          </a:xfrm>
          <a:prstGeom prst="rect">
            <a:avLst/>
          </a:prstGeom>
          <a:noFill/>
        </p:spPr>
        <p:txBody>
          <a:bodyPr wrap="square" lIns="0" tIns="0" rIns="0" bIns="0">
            <a:spAutoFit/>
          </a:bodyPr>
          <a:lstStyle/>
          <a:p>
            <a:pPr algn="ctr">
              <a:spcAft>
                <a:spcPts val="0"/>
              </a:spcAft>
              <a:defRPr sz="1500" b="0">
                <a:solidFill>
                  <a:srgbClr val="11274B"/>
                </a:solidFill>
                <a:latin typeface="Cambria"/>
              </a:defRPr>
            </a:pPr>
            <a:r>
              <a:t>Disagreements + abstentions</a:t>
            </a:r>
          </a:p>
        </p:txBody>
      </p:sp>
      <p:cxnSp>
        <p:nvCxnSpPr>
          <p:cNvPr id="207" name="Connector 206"/>
          <p:cNvCxnSpPr/>
          <p:nvPr/>
        </p:nvCxnSpPr>
        <p:spPr>
          <a:xfrm>
            <a:off x="9034272" y="5862138"/>
            <a:ext cx="1380744" cy="0"/>
          </a:xfrm>
          <a:prstGeom prst="line">
            <a:avLst/>
          </a:prstGeom>
          <a:ln w="2794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a:cxnSpLocks/>
          </p:cNvCxnSpPr>
          <p:nvPr/>
        </p:nvCxnSpPr>
        <p:spPr>
          <a:xfrm flipV="1">
            <a:off x="10415016" y="3221426"/>
            <a:ext cx="18286" cy="2640712"/>
          </a:xfrm>
          <a:prstGeom prst="line">
            <a:avLst/>
          </a:prstGeom>
          <a:ln w="2794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10424160" y="3221426"/>
            <a:ext cx="521208"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210" name="TextBox 209"/>
          <p:cNvSpPr txBox="1"/>
          <p:nvPr/>
        </p:nvSpPr>
        <p:spPr>
          <a:xfrm>
            <a:off x="9762467" y="5888322"/>
            <a:ext cx="1124712" cy="246221"/>
          </a:xfrm>
          <a:prstGeom prst="rect">
            <a:avLst/>
          </a:prstGeom>
          <a:noFill/>
        </p:spPr>
        <p:txBody>
          <a:bodyPr wrap="square" lIns="0" tIns="0" rIns="0" bIns="0">
            <a:spAutoFit/>
          </a:bodyPr>
          <a:lstStyle/>
          <a:p>
            <a:pPr algn="ctr">
              <a:spcAft>
                <a:spcPts val="0"/>
              </a:spcAft>
              <a:defRPr sz="1600" b="1">
                <a:solidFill>
                  <a:srgbClr val="11274B"/>
                </a:solidFill>
                <a:latin typeface="Cambria"/>
              </a:defRPr>
            </a:pPr>
            <a:r>
              <a:rPr sz="1600" dirty="0">
                <a:latin typeface="Cambria"/>
              </a:rPr>
              <a:t>Jᵢ for Rᵢ</a:t>
            </a:r>
          </a:p>
        </p:txBody>
      </p:sp>
      <p:cxnSp>
        <p:nvCxnSpPr>
          <p:cNvPr id="211" name="Connector 210"/>
          <p:cNvCxnSpPr/>
          <p:nvPr/>
        </p:nvCxnSpPr>
        <p:spPr>
          <a:xfrm>
            <a:off x="11091672" y="3559754"/>
            <a:ext cx="0" cy="155448"/>
          </a:xfrm>
          <a:prstGeom prst="line">
            <a:avLst/>
          </a:prstGeom>
          <a:ln w="2794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H="1">
            <a:off x="10671048" y="3704811"/>
            <a:ext cx="420624" cy="0"/>
          </a:xfrm>
          <a:prstGeom prst="line">
            <a:avLst/>
          </a:prstGeom>
          <a:ln w="2794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10661904" y="3697502"/>
            <a:ext cx="0" cy="1563624"/>
          </a:xfrm>
          <a:prstGeom prst="line">
            <a:avLst/>
          </a:prstGeom>
          <a:ln w="2794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10661904" y="4005904"/>
            <a:ext cx="237744"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215" name="Rounded Rectangle 214"/>
          <p:cNvSpPr/>
          <p:nvPr/>
        </p:nvSpPr>
        <p:spPr>
          <a:xfrm>
            <a:off x="10917936" y="3841312"/>
            <a:ext cx="1719072" cy="347472"/>
          </a:xfrm>
          <a:prstGeom prst="roundRect">
            <a:avLst>
              <a:gd name="adj" fmla="val 5500"/>
            </a:avLst>
          </a:prstGeom>
          <a:solidFill>
            <a:srgbClr val="FAFCFF"/>
          </a:solidFill>
          <a:ln w="1905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16" name="TextBox 215"/>
          <p:cNvSpPr txBox="1"/>
          <p:nvPr/>
        </p:nvSpPr>
        <p:spPr>
          <a:xfrm>
            <a:off x="10972800" y="3891604"/>
            <a:ext cx="1609344" cy="215444"/>
          </a:xfrm>
          <a:prstGeom prst="rect">
            <a:avLst/>
          </a:prstGeom>
          <a:noFill/>
        </p:spPr>
        <p:txBody>
          <a:bodyPr wrap="square" lIns="0" tIns="0" rIns="0" bIns="0">
            <a:spAutoFit/>
          </a:bodyPr>
          <a:lstStyle/>
          <a:p>
            <a:pPr algn="ctr">
              <a:spcAft>
                <a:spcPts val="0"/>
              </a:spcAft>
              <a:defRPr sz="1400" b="0">
                <a:solidFill>
                  <a:srgbClr val="11274B"/>
                </a:solidFill>
                <a:latin typeface="Cambria"/>
              </a:defRPr>
            </a:pPr>
            <a:r>
              <a:rPr b="1"/>
              <a:t>Case 1 + judgment</a:t>
            </a:r>
          </a:p>
        </p:txBody>
      </p:sp>
      <p:cxnSp>
        <p:nvCxnSpPr>
          <p:cNvPr id="217" name="Connector 216"/>
          <p:cNvCxnSpPr/>
          <p:nvPr/>
        </p:nvCxnSpPr>
        <p:spPr>
          <a:xfrm>
            <a:off x="12637008" y="4015048"/>
            <a:ext cx="219456"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218" name="Rounded Rectangle 217"/>
          <p:cNvSpPr/>
          <p:nvPr/>
        </p:nvSpPr>
        <p:spPr>
          <a:xfrm>
            <a:off x="12883896" y="3841312"/>
            <a:ext cx="950976" cy="347472"/>
          </a:xfrm>
          <a:prstGeom prst="roundRect">
            <a:avLst>
              <a:gd name="adj" fmla="val 5500"/>
            </a:avLst>
          </a:prstGeom>
          <a:solidFill>
            <a:srgbClr val="FAFCFF"/>
          </a:solidFill>
          <a:ln w="1905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19" name="TextBox 218"/>
          <p:cNvSpPr txBox="1"/>
          <p:nvPr/>
        </p:nvSpPr>
        <p:spPr>
          <a:xfrm>
            <a:off x="12929616" y="3887032"/>
            <a:ext cx="859536" cy="256032"/>
          </a:xfrm>
          <a:prstGeom prst="rect">
            <a:avLst/>
          </a:prstGeom>
          <a:noFill/>
        </p:spPr>
        <p:txBody>
          <a:bodyPr wrap="square" lIns="0" tIns="0" rIns="0" bIns="0">
            <a:spAutoFit/>
          </a:bodyPr>
          <a:lstStyle/>
          <a:p>
            <a:pPr algn="ctr">
              <a:spcAft>
                <a:spcPts val="0"/>
              </a:spcAft>
              <a:defRPr sz="1600" b="0">
                <a:solidFill>
                  <a:srgbClr val="11274B"/>
                </a:solidFill>
                <a:latin typeface="Cambria"/>
              </a:defRPr>
            </a:pPr>
            <a:r>
              <a:rPr b="1"/>
              <a:t>Reflect</a:t>
            </a:r>
          </a:p>
        </p:txBody>
      </p:sp>
      <p:cxnSp>
        <p:nvCxnSpPr>
          <p:cNvPr id="220" name="Connector 219"/>
          <p:cNvCxnSpPr/>
          <p:nvPr/>
        </p:nvCxnSpPr>
        <p:spPr>
          <a:xfrm>
            <a:off x="13834872" y="4015048"/>
            <a:ext cx="210312"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221" name="Rounded Rectangle 220"/>
          <p:cNvSpPr/>
          <p:nvPr/>
        </p:nvSpPr>
        <p:spPr>
          <a:xfrm>
            <a:off x="14072616" y="3841312"/>
            <a:ext cx="932688" cy="347472"/>
          </a:xfrm>
          <a:prstGeom prst="roundRect">
            <a:avLst>
              <a:gd name="adj" fmla="val 5500"/>
            </a:avLst>
          </a:prstGeom>
          <a:solidFill>
            <a:srgbClr val="FAFCFF"/>
          </a:solidFill>
          <a:ln w="1905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22" name="TextBox 221"/>
          <p:cNvSpPr txBox="1"/>
          <p:nvPr/>
        </p:nvSpPr>
        <p:spPr>
          <a:xfrm>
            <a:off x="14109192" y="3887032"/>
            <a:ext cx="859536" cy="215444"/>
          </a:xfrm>
          <a:prstGeom prst="rect">
            <a:avLst/>
          </a:prstGeom>
          <a:noFill/>
        </p:spPr>
        <p:txBody>
          <a:bodyPr wrap="square" lIns="0" tIns="0" rIns="0" bIns="0">
            <a:spAutoFit/>
          </a:bodyPr>
          <a:lstStyle/>
          <a:p>
            <a:pPr algn="ctr">
              <a:spcAft>
                <a:spcPts val="0"/>
              </a:spcAft>
              <a:defRPr sz="1400" b="0">
                <a:solidFill>
                  <a:srgbClr val="11274B"/>
                </a:solidFill>
                <a:latin typeface="Cambria"/>
              </a:defRPr>
            </a:pPr>
            <a:r>
              <a:rPr b="1" dirty="0"/>
              <a:t>critique 1</a:t>
            </a:r>
          </a:p>
        </p:txBody>
      </p:sp>
      <p:cxnSp>
        <p:nvCxnSpPr>
          <p:cNvPr id="223" name="Connector 222"/>
          <p:cNvCxnSpPr/>
          <p:nvPr/>
        </p:nvCxnSpPr>
        <p:spPr>
          <a:xfrm>
            <a:off x="15005304" y="4015048"/>
            <a:ext cx="265176" cy="0"/>
          </a:xfrm>
          <a:prstGeom prst="line">
            <a:avLst/>
          </a:prstGeom>
          <a:ln w="2794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10661904" y="4636840"/>
            <a:ext cx="237744"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225" name="Rounded Rectangle 224"/>
          <p:cNvSpPr/>
          <p:nvPr/>
        </p:nvSpPr>
        <p:spPr>
          <a:xfrm>
            <a:off x="10917936" y="4472248"/>
            <a:ext cx="1719072" cy="347472"/>
          </a:xfrm>
          <a:prstGeom prst="roundRect">
            <a:avLst>
              <a:gd name="adj" fmla="val 5500"/>
            </a:avLst>
          </a:prstGeom>
          <a:solidFill>
            <a:srgbClr val="FAFCFF"/>
          </a:solidFill>
          <a:ln w="1905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26" name="TextBox 225"/>
          <p:cNvSpPr txBox="1"/>
          <p:nvPr/>
        </p:nvSpPr>
        <p:spPr>
          <a:xfrm>
            <a:off x="10972800" y="4522540"/>
            <a:ext cx="1609344" cy="215444"/>
          </a:xfrm>
          <a:prstGeom prst="rect">
            <a:avLst/>
          </a:prstGeom>
          <a:noFill/>
        </p:spPr>
        <p:txBody>
          <a:bodyPr wrap="square" lIns="0" tIns="0" rIns="0" bIns="0">
            <a:spAutoFit/>
          </a:bodyPr>
          <a:lstStyle/>
          <a:p>
            <a:pPr algn="ctr">
              <a:spcAft>
                <a:spcPts val="0"/>
              </a:spcAft>
              <a:defRPr sz="1400" b="0">
                <a:solidFill>
                  <a:srgbClr val="11274B"/>
                </a:solidFill>
                <a:latin typeface="Cambria"/>
              </a:defRPr>
            </a:pPr>
            <a:r>
              <a:rPr b="1"/>
              <a:t>Case 2 + judgment</a:t>
            </a:r>
          </a:p>
        </p:txBody>
      </p:sp>
      <p:cxnSp>
        <p:nvCxnSpPr>
          <p:cNvPr id="227" name="Connector 226"/>
          <p:cNvCxnSpPr/>
          <p:nvPr/>
        </p:nvCxnSpPr>
        <p:spPr>
          <a:xfrm>
            <a:off x="12637008" y="4645984"/>
            <a:ext cx="219456"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228" name="Rounded Rectangle 227"/>
          <p:cNvSpPr/>
          <p:nvPr/>
        </p:nvSpPr>
        <p:spPr>
          <a:xfrm>
            <a:off x="12883896" y="4472248"/>
            <a:ext cx="950976" cy="347472"/>
          </a:xfrm>
          <a:prstGeom prst="roundRect">
            <a:avLst>
              <a:gd name="adj" fmla="val 5500"/>
            </a:avLst>
          </a:prstGeom>
          <a:solidFill>
            <a:srgbClr val="FAFCFF"/>
          </a:solidFill>
          <a:ln w="1905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29" name="TextBox 228"/>
          <p:cNvSpPr txBox="1"/>
          <p:nvPr/>
        </p:nvSpPr>
        <p:spPr>
          <a:xfrm>
            <a:off x="12929616" y="4517968"/>
            <a:ext cx="859536" cy="256032"/>
          </a:xfrm>
          <a:prstGeom prst="rect">
            <a:avLst/>
          </a:prstGeom>
          <a:noFill/>
        </p:spPr>
        <p:txBody>
          <a:bodyPr wrap="square" lIns="0" tIns="0" rIns="0" bIns="0">
            <a:spAutoFit/>
          </a:bodyPr>
          <a:lstStyle/>
          <a:p>
            <a:pPr algn="ctr">
              <a:spcAft>
                <a:spcPts val="0"/>
              </a:spcAft>
              <a:defRPr sz="1600" b="0">
                <a:solidFill>
                  <a:srgbClr val="11274B"/>
                </a:solidFill>
                <a:latin typeface="Cambria"/>
              </a:defRPr>
            </a:pPr>
            <a:r>
              <a:rPr b="1"/>
              <a:t>Reflect</a:t>
            </a:r>
          </a:p>
        </p:txBody>
      </p:sp>
      <p:cxnSp>
        <p:nvCxnSpPr>
          <p:cNvPr id="230" name="Connector 229"/>
          <p:cNvCxnSpPr/>
          <p:nvPr/>
        </p:nvCxnSpPr>
        <p:spPr>
          <a:xfrm>
            <a:off x="13834872" y="4645984"/>
            <a:ext cx="210312"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231" name="Rounded Rectangle 230"/>
          <p:cNvSpPr/>
          <p:nvPr/>
        </p:nvSpPr>
        <p:spPr>
          <a:xfrm>
            <a:off x="14072616" y="4472248"/>
            <a:ext cx="932688" cy="347472"/>
          </a:xfrm>
          <a:prstGeom prst="roundRect">
            <a:avLst>
              <a:gd name="adj" fmla="val 5500"/>
            </a:avLst>
          </a:prstGeom>
          <a:solidFill>
            <a:srgbClr val="FAFCFF"/>
          </a:solidFill>
          <a:ln w="1905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32" name="TextBox 231"/>
          <p:cNvSpPr txBox="1"/>
          <p:nvPr/>
        </p:nvSpPr>
        <p:spPr>
          <a:xfrm>
            <a:off x="14109192" y="4517968"/>
            <a:ext cx="859536" cy="215444"/>
          </a:xfrm>
          <a:prstGeom prst="rect">
            <a:avLst/>
          </a:prstGeom>
          <a:noFill/>
        </p:spPr>
        <p:txBody>
          <a:bodyPr wrap="square" lIns="0" tIns="0" rIns="0" bIns="0">
            <a:spAutoFit/>
          </a:bodyPr>
          <a:lstStyle/>
          <a:p>
            <a:pPr algn="ctr">
              <a:spcAft>
                <a:spcPts val="0"/>
              </a:spcAft>
              <a:defRPr sz="1400" b="0">
                <a:solidFill>
                  <a:srgbClr val="11274B"/>
                </a:solidFill>
                <a:latin typeface="Cambria"/>
              </a:defRPr>
            </a:pPr>
            <a:r>
              <a:rPr b="1"/>
              <a:t>critique 2</a:t>
            </a:r>
          </a:p>
        </p:txBody>
      </p:sp>
      <p:cxnSp>
        <p:nvCxnSpPr>
          <p:cNvPr id="233" name="Connector 232"/>
          <p:cNvCxnSpPr/>
          <p:nvPr/>
        </p:nvCxnSpPr>
        <p:spPr>
          <a:xfrm>
            <a:off x="15005304" y="4645984"/>
            <a:ext cx="265176" cy="0"/>
          </a:xfrm>
          <a:prstGeom prst="line">
            <a:avLst/>
          </a:prstGeom>
          <a:ln w="2794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661904" y="5257385"/>
            <a:ext cx="237744"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235" name="Rounded Rectangle 234"/>
          <p:cNvSpPr/>
          <p:nvPr/>
        </p:nvSpPr>
        <p:spPr>
          <a:xfrm>
            <a:off x="10917936" y="5103184"/>
            <a:ext cx="1719072" cy="347472"/>
          </a:xfrm>
          <a:prstGeom prst="roundRect">
            <a:avLst>
              <a:gd name="adj" fmla="val 5500"/>
            </a:avLst>
          </a:prstGeom>
          <a:solidFill>
            <a:srgbClr val="FAFCFF"/>
          </a:solidFill>
          <a:ln w="1905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36" name="TextBox 235"/>
          <p:cNvSpPr txBox="1"/>
          <p:nvPr/>
        </p:nvSpPr>
        <p:spPr>
          <a:xfrm>
            <a:off x="10972800" y="5153476"/>
            <a:ext cx="1609344" cy="215444"/>
          </a:xfrm>
          <a:prstGeom prst="rect">
            <a:avLst/>
          </a:prstGeom>
          <a:noFill/>
        </p:spPr>
        <p:txBody>
          <a:bodyPr wrap="square" lIns="0" tIns="0" rIns="0" bIns="0">
            <a:spAutoFit/>
          </a:bodyPr>
          <a:lstStyle/>
          <a:p>
            <a:pPr algn="ctr">
              <a:spcAft>
                <a:spcPts val="0"/>
              </a:spcAft>
              <a:defRPr sz="1400" b="0">
                <a:solidFill>
                  <a:srgbClr val="11274B"/>
                </a:solidFill>
                <a:latin typeface="Cambria"/>
              </a:defRPr>
            </a:pPr>
            <a:r>
              <a:rPr b="1"/>
              <a:t>Case K + judgment</a:t>
            </a:r>
          </a:p>
        </p:txBody>
      </p:sp>
      <p:cxnSp>
        <p:nvCxnSpPr>
          <p:cNvPr id="237" name="Connector 236"/>
          <p:cNvCxnSpPr/>
          <p:nvPr/>
        </p:nvCxnSpPr>
        <p:spPr>
          <a:xfrm>
            <a:off x="12637008" y="5276920"/>
            <a:ext cx="219456"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238" name="Rounded Rectangle 237"/>
          <p:cNvSpPr/>
          <p:nvPr/>
        </p:nvSpPr>
        <p:spPr>
          <a:xfrm>
            <a:off x="12883896" y="5103184"/>
            <a:ext cx="950976" cy="347472"/>
          </a:xfrm>
          <a:prstGeom prst="roundRect">
            <a:avLst>
              <a:gd name="adj" fmla="val 5500"/>
            </a:avLst>
          </a:prstGeom>
          <a:solidFill>
            <a:srgbClr val="FAFCFF"/>
          </a:solidFill>
          <a:ln w="1905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39" name="TextBox 238"/>
          <p:cNvSpPr txBox="1"/>
          <p:nvPr/>
        </p:nvSpPr>
        <p:spPr>
          <a:xfrm>
            <a:off x="12929616" y="5148904"/>
            <a:ext cx="859536" cy="256032"/>
          </a:xfrm>
          <a:prstGeom prst="rect">
            <a:avLst/>
          </a:prstGeom>
          <a:noFill/>
        </p:spPr>
        <p:txBody>
          <a:bodyPr wrap="square" lIns="0" tIns="0" rIns="0" bIns="0">
            <a:spAutoFit/>
          </a:bodyPr>
          <a:lstStyle/>
          <a:p>
            <a:pPr algn="ctr">
              <a:spcAft>
                <a:spcPts val="0"/>
              </a:spcAft>
              <a:defRPr sz="1600" b="0">
                <a:solidFill>
                  <a:srgbClr val="11274B"/>
                </a:solidFill>
                <a:latin typeface="Cambria"/>
              </a:defRPr>
            </a:pPr>
            <a:r>
              <a:rPr b="1" dirty="0"/>
              <a:t>Reflect</a:t>
            </a:r>
          </a:p>
        </p:txBody>
      </p:sp>
      <p:cxnSp>
        <p:nvCxnSpPr>
          <p:cNvPr id="240" name="Connector 239"/>
          <p:cNvCxnSpPr/>
          <p:nvPr/>
        </p:nvCxnSpPr>
        <p:spPr>
          <a:xfrm>
            <a:off x="13834872" y="5276920"/>
            <a:ext cx="210312"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241" name="Rounded Rectangle 240"/>
          <p:cNvSpPr/>
          <p:nvPr/>
        </p:nvSpPr>
        <p:spPr>
          <a:xfrm>
            <a:off x="14072616" y="5103184"/>
            <a:ext cx="932688" cy="347472"/>
          </a:xfrm>
          <a:prstGeom prst="roundRect">
            <a:avLst>
              <a:gd name="adj" fmla="val 5500"/>
            </a:avLst>
          </a:prstGeom>
          <a:solidFill>
            <a:srgbClr val="FAFCFF"/>
          </a:solidFill>
          <a:ln w="1905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42" name="TextBox 241"/>
          <p:cNvSpPr txBox="1"/>
          <p:nvPr/>
        </p:nvSpPr>
        <p:spPr>
          <a:xfrm>
            <a:off x="14109192" y="5148904"/>
            <a:ext cx="859536" cy="215444"/>
          </a:xfrm>
          <a:prstGeom prst="rect">
            <a:avLst/>
          </a:prstGeom>
          <a:noFill/>
        </p:spPr>
        <p:txBody>
          <a:bodyPr wrap="square" lIns="0" tIns="0" rIns="0" bIns="0">
            <a:spAutoFit/>
          </a:bodyPr>
          <a:lstStyle/>
          <a:p>
            <a:pPr algn="ctr">
              <a:spcAft>
                <a:spcPts val="0"/>
              </a:spcAft>
              <a:defRPr sz="1400" b="0">
                <a:solidFill>
                  <a:srgbClr val="11274B"/>
                </a:solidFill>
                <a:latin typeface="Cambria"/>
              </a:defRPr>
            </a:pPr>
            <a:r>
              <a:rPr b="1"/>
              <a:t>critique K</a:t>
            </a:r>
          </a:p>
        </p:txBody>
      </p:sp>
      <p:cxnSp>
        <p:nvCxnSpPr>
          <p:cNvPr id="243" name="Connector 242"/>
          <p:cNvCxnSpPr/>
          <p:nvPr/>
        </p:nvCxnSpPr>
        <p:spPr>
          <a:xfrm>
            <a:off x="15005304" y="5276920"/>
            <a:ext cx="265176" cy="0"/>
          </a:xfrm>
          <a:prstGeom prst="line">
            <a:avLst/>
          </a:prstGeom>
          <a:ln w="2794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15270480" y="4015048"/>
            <a:ext cx="0" cy="1261872"/>
          </a:xfrm>
          <a:prstGeom prst="line">
            <a:avLst/>
          </a:prstGeom>
          <a:ln w="2794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15270480" y="4645984"/>
            <a:ext cx="347471"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246" name="Rounded Rectangle 245"/>
          <p:cNvSpPr/>
          <p:nvPr/>
        </p:nvSpPr>
        <p:spPr>
          <a:xfrm>
            <a:off x="15636240" y="4271080"/>
            <a:ext cx="1152144" cy="749808"/>
          </a:xfrm>
          <a:prstGeom prst="roundRect">
            <a:avLst>
              <a:gd name="adj" fmla="val 5500"/>
            </a:avLst>
          </a:prstGeom>
          <a:solidFill>
            <a:srgbClr val="FAFCFF"/>
          </a:solidFill>
          <a:ln w="2286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TextBox 246"/>
          <p:cNvSpPr txBox="1"/>
          <p:nvPr/>
        </p:nvSpPr>
        <p:spPr>
          <a:xfrm>
            <a:off x="15691104" y="4399096"/>
            <a:ext cx="1042415" cy="493776"/>
          </a:xfrm>
          <a:prstGeom prst="rect">
            <a:avLst/>
          </a:prstGeom>
          <a:noFill/>
        </p:spPr>
        <p:txBody>
          <a:bodyPr wrap="square" lIns="0" tIns="0" rIns="0" bIns="0">
            <a:spAutoFit/>
          </a:bodyPr>
          <a:lstStyle/>
          <a:p>
            <a:pPr algn="ctr">
              <a:spcAft>
                <a:spcPts val="0"/>
              </a:spcAft>
              <a:defRPr sz="1700" b="1">
                <a:solidFill>
                  <a:srgbClr val="11274B"/>
                </a:solidFill>
                <a:latin typeface="Cambria"/>
              </a:defRPr>
            </a:pPr>
            <a:r>
              <a:rPr sz="1600"/>
              <a:t>Collect</a:t>
            </a:r>
          </a:p>
          <a:p>
            <a:pPr algn="ctr">
              <a:spcAft>
                <a:spcPts val="0"/>
              </a:spcAft>
              <a:defRPr sz="1700" b="1">
                <a:solidFill>
                  <a:srgbClr val="11274B"/>
                </a:solidFill>
                <a:latin typeface="Cambria"/>
              </a:defRPr>
            </a:pPr>
            <a:r>
              <a:rPr sz="1600"/>
              <a:t>critiques</a:t>
            </a:r>
          </a:p>
        </p:txBody>
      </p:sp>
      <p:cxnSp>
        <p:nvCxnSpPr>
          <p:cNvPr id="248" name="Connector 247"/>
          <p:cNvCxnSpPr/>
          <p:nvPr/>
        </p:nvCxnSpPr>
        <p:spPr>
          <a:xfrm>
            <a:off x="16212312" y="5020888"/>
            <a:ext cx="0" cy="804672"/>
          </a:xfrm>
          <a:prstGeom prst="line">
            <a:avLst/>
          </a:prstGeom>
          <a:ln w="2794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H="1">
            <a:off x="13112496" y="5825560"/>
            <a:ext cx="3099816" cy="0"/>
          </a:xfrm>
          <a:prstGeom prst="line">
            <a:avLst/>
          </a:prstGeom>
          <a:ln w="2794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a:off x="13112496" y="5825560"/>
            <a:ext cx="0" cy="256032"/>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251" name="TextBox 250"/>
          <p:cNvSpPr txBox="1"/>
          <p:nvPr/>
        </p:nvSpPr>
        <p:spPr>
          <a:xfrm>
            <a:off x="10806544" y="5466865"/>
            <a:ext cx="4480560" cy="228600"/>
          </a:xfrm>
          <a:prstGeom prst="rect">
            <a:avLst/>
          </a:prstGeom>
          <a:noFill/>
        </p:spPr>
        <p:txBody>
          <a:bodyPr wrap="square" lIns="0" tIns="0" rIns="0" bIns="0">
            <a:spAutoFit/>
          </a:bodyPr>
          <a:lstStyle/>
          <a:p>
            <a:pPr algn="ctr">
              <a:spcAft>
                <a:spcPts val="0"/>
              </a:spcAft>
              <a:defRPr sz="1500" b="0">
                <a:solidFill>
                  <a:srgbClr val="11274B"/>
                </a:solidFill>
                <a:latin typeface="Cambria"/>
              </a:defRPr>
            </a:pPr>
            <a:r>
              <a:rPr dirty="0"/>
              <a:t>Independent reflection: one call per case</a:t>
            </a:r>
          </a:p>
        </p:txBody>
      </p:sp>
      <p:sp>
        <p:nvSpPr>
          <p:cNvPr id="252" name="Rounded Rectangle 251"/>
          <p:cNvSpPr/>
          <p:nvPr/>
        </p:nvSpPr>
        <p:spPr>
          <a:xfrm>
            <a:off x="11091672" y="6090736"/>
            <a:ext cx="5010912" cy="1938528"/>
          </a:xfrm>
          <a:prstGeom prst="roundRect">
            <a:avLst>
              <a:gd name="adj" fmla="val 5500"/>
            </a:avLst>
          </a:prstGeom>
          <a:solidFill>
            <a:srgbClr val="F9FBFF"/>
          </a:solidFill>
          <a:ln w="2286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TextBox 252"/>
          <p:cNvSpPr txBox="1"/>
          <p:nvPr/>
        </p:nvSpPr>
        <p:spPr>
          <a:xfrm>
            <a:off x="11219688" y="6209608"/>
            <a:ext cx="4736592" cy="292608"/>
          </a:xfrm>
          <a:prstGeom prst="rect">
            <a:avLst/>
          </a:prstGeom>
          <a:noFill/>
        </p:spPr>
        <p:txBody>
          <a:bodyPr wrap="square" lIns="0" tIns="0" rIns="0" bIns="0">
            <a:spAutoFit/>
          </a:bodyPr>
          <a:lstStyle/>
          <a:p>
            <a:pPr algn="ctr">
              <a:spcAft>
                <a:spcPts val="0"/>
              </a:spcAft>
              <a:defRPr sz="2200" b="1">
                <a:solidFill>
                  <a:srgbClr val="11274B"/>
                </a:solidFill>
                <a:latin typeface="Cambria"/>
              </a:defRPr>
            </a:pPr>
            <a:r>
              <a:rPr sz="2100"/>
              <a:t>Revise children of Rᵢ</a:t>
            </a:r>
          </a:p>
        </p:txBody>
      </p:sp>
      <p:sp>
        <p:nvSpPr>
          <p:cNvPr id="255" name="TextBox 254"/>
          <p:cNvSpPr txBox="1"/>
          <p:nvPr/>
        </p:nvSpPr>
        <p:spPr>
          <a:xfrm>
            <a:off x="11539728" y="6655587"/>
            <a:ext cx="1664208" cy="274320"/>
          </a:xfrm>
          <a:prstGeom prst="rect">
            <a:avLst/>
          </a:prstGeom>
          <a:noFill/>
        </p:spPr>
        <p:txBody>
          <a:bodyPr wrap="square" lIns="0" tIns="0" rIns="0" bIns="0">
            <a:spAutoFit/>
          </a:bodyPr>
          <a:lstStyle/>
          <a:p>
            <a:pPr algn="ctr">
              <a:spcAft>
                <a:spcPts val="0"/>
              </a:spcAft>
              <a:defRPr sz="1500" b="0">
                <a:solidFill>
                  <a:srgbClr val="11274B"/>
                </a:solidFill>
                <a:latin typeface="Cambria"/>
              </a:defRPr>
            </a:pPr>
            <a:r>
              <a:t>Current subtree</a:t>
            </a:r>
          </a:p>
        </p:txBody>
      </p:sp>
      <p:sp>
        <p:nvSpPr>
          <p:cNvPr id="256" name="TextBox 255"/>
          <p:cNvSpPr txBox="1"/>
          <p:nvPr/>
        </p:nvSpPr>
        <p:spPr>
          <a:xfrm>
            <a:off x="13917168" y="6655587"/>
            <a:ext cx="1709928" cy="274320"/>
          </a:xfrm>
          <a:prstGeom prst="rect">
            <a:avLst/>
          </a:prstGeom>
          <a:noFill/>
        </p:spPr>
        <p:txBody>
          <a:bodyPr wrap="square" lIns="0" tIns="0" rIns="0" bIns="0">
            <a:spAutoFit/>
          </a:bodyPr>
          <a:lstStyle/>
          <a:p>
            <a:pPr algn="ctr">
              <a:spcAft>
                <a:spcPts val="0"/>
              </a:spcAft>
              <a:defRPr sz="1500" b="0">
                <a:solidFill>
                  <a:srgbClr val="11274B"/>
                </a:solidFill>
                <a:latin typeface="Cambria"/>
              </a:defRPr>
            </a:pPr>
            <a:r>
              <a:t>Candidate subtree</a:t>
            </a:r>
          </a:p>
        </p:txBody>
      </p:sp>
      <p:sp>
        <p:nvSpPr>
          <p:cNvPr id="259" name="Oval 258"/>
          <p:cNvSpPr/>
          <p:nvPr/>
        </p:nvSpPr>
        <p:spPr>
          <a:xfrm>
            <a:off x="12618537" y="7144856"/>
            <a:ext cx="18653" cy="18653"/>
          </a:xfrm>
          <a:prstGeom prst="ellipse">
            <a:avLst/>
          </a:prstGeom>
          <a:solidFill>
            <a:srgbClr val="FFFFFF"/>
          </a:solidFill>
          <a:ln w="4762">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val 261"/>
          <p:cNvSpPr/>
          <p:nvPr/>
        </p:nvSpPr>
        <p:spPr>
          <a:xfrm>
            <a:off x="14995976" y="7113683"/>
            <a:ext cx="18653" cy="18653"/>
          </a:xfrm>
          <a:prstGeom prst="ellipse">
            <a:avLst/>
          </a:prstGeom>
          <a:solidFill>
            <a:srgbClr val="FFFFFF"/>
          </a:solidFill>
          <a:ln w="4762">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val 262"/>
          <p:cNvSpPr/>
          <p:nvPr/>
        </p:nvSpPr>
        <p:spPr>
          <a:xfrm>
            <a:off x="12249746" y="7003345"/>
            <a:ext cx="244382" cy="244382"/>
          </a:xfrm>
          <a:prstGeom prst="ellipse">
            <a:avLst/>
          </a:prstGeom>
          <a:solidFill>
            <a:srgbClr val="63BDEB"/>
          </a:solidFill>
          <a:ln w="2159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4" name="Connector 263"/>
          <p:cNvCxnSpPr/>
          <p:nvPr/>
        </p:nvCxnSpPr>
        <p:spPr>
          <a:xfrm flipH="1">
            <a:off x="11966087" y="7247727"/>
            <a:ext cx="405850" cy="436397"/>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265" name="Oval 264"/>
          <p:cNvSpPr/>
          <p:nvPr/>
        </p:nvSpPr>
        <p:spPr>
          <a:xfrm>
            <a:off x="11874444" y="7684125"/>
            <a:ext cx="183286" cy="183286"/>
          </a:xfrm>
          <a:prstGeom prst="ellipse">
            <a:avLst/>
          </a:prstGeom>
          <a:solidFill>
            <a:srgbClr val="D1D4D8"/>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6" name="Connector 265"/>
          <p:cNvCxnSpPr/>
          <p:nvPr/>
        </p:nvCxnSpPr>
        <p:spPr>
          <a:xfrm flipH="1">
            <a:off x="12341389" y="7247727"/>
            <a:ext cx="30547" cy="436397"/>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267" name="Oval 266"/>
          <p:cNvSpPr/>
          <p:nvPr/>
        </p:nvSpPr>
        <p:spPr>
          <a:xfrm>
            <a:off x="12249746" y="7684125"/>
            <a:ext cx="183286" cy="183286"/>
          </a:xfrm>
          <a:prstGeom prst="ellipse">
            <a:avLst/>
          </a:prstGeom>
          <a:solidFill>
            <a:srgbClr val="D1D4D8"/>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8" name="Connector 267"/>
          <p:cNvCxnSpPr/>
          <p:nvPr/>
        </p:nvCxnSpPr>
        <p:spPr>
          <a:xfrm>
            <a:off x="12371937" y="7247727"/>
            <a:ext cx="344754" cy="436397"/>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269" name="Oval 268"/>
          <p:cNvSpPr/>
          <p:nvPr/>
        </p:nvSpPr>
        <p:spPr>
          <a:xfrm>
            <a:off x="12625047" y="7684125"/>
            <a:ext cx="183286" cy="183286"/>
          </a:xfrm>
          <a:prstGeom prst="ellipse">
            <a:avLst/>
          </a:prstGeom>
          <a:solidFill>
            <a:srgbClr val="D1D4D8"/>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Oval 269"/>
          <p:cNvSpPr/>
          <p:nvPr/>
        </p:nvSpPr>
        <p:spPr>
          <a:xfrm>
            <a:off x="14627186" y="7003345"/>
            <a:ext cx="244382" cy="244382"/>
          </a:xfrm>
          <a:prstGeom prst="ellipse">
            <a:avLst/>
          </a:prstGeom>
          <a:solidFill>
            <a:srgbClr val="63BDEB"/>
          </a:solidFill>
          <a:ln w="2159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Diamond 294"/>
          <p:cNvSpPr/>
          <p:nvPr/>
        </p:nvSpPr>
        <p:spPr>
          <a:xfrm>
            <a:off x="12225528" y="8541328"/>
            <a:ext cx="2459736" cy="1225296"/>
          </a:xfrm>
          <a:prstGeom prst="diamond">
            <a:avLst/>
          </a:prstGeom>
          <a:solidFill>
            <a:srgbClr val="E6F3DF"/>
          </a:solidFill>
          <a:ln w="2286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TextBox 295"/>
          <p:cNvSpPr txBox="1"/>
          <p:nvPr/>
        </p:nvSpPr>
        <p:spPr>
          <a:xfrm>
            <a:off x="12655296" y="8788216"/>
            <a:ext cx="1600200" cy="530352"/>
          </a:xfrm>
          <a:prstGeom prst="rect">
            <a:avLst/>
          </a:prstGeom>
          <a:noFill/>
        </p:spPr>
        <p:txBody>
          <a:bodyPr wrap="square" lIns="0" tIns="0" rIns="0" bIns="0">
            <a:spAutoFit/>
          </a:bodyPr>
          <a:lstStyle/>
          <a:p>
            <a:pPr algn="ctr">
              <a:spcAft>
                <a:spcPts val="0"/>
              </a:spcAft>
              <a:defRPr sz="1700" b="1">
                <a:solidFill>
                  <a:srgbClr val="11274B"/>
                </a:solidFill>
                <a:latin typeface="Cambria"/>
              </a:defRPr>
            </a:pPr>
            <a:r>
              <a:t>Covered ACC</a:t>
            </a:r>
          </a:p>
          <a:p>
            <a:pPr algn="ctr">
              <a:spcAft>
                <a:spcPts val="0"/>
              </a:spcAft>
              <a:defRPr sz="1700" b="1">
                <a:solidFill>
                  <a:srgbClr val="11274B"/>
                </a:solidFill>
                <a:latin typeface="Cambria"/>
              </a:defRPr>
            </a:pPr>
            <a:r>
              <a:t>improves?</a:t>
            </a:r>
          </a:p>
        </p:txBody>
      </p:sp>
      <p:sp>
        <p:nvSpPr>
          <p:cNvPr id="297" name="TextBox 296"/>
          <p:cNvSpPr txBox="1"/>
          <p:nvPr/>
        </p:nvSpPr>
        <p:spPr>
          <a:xfrm>
            <a:off x="12591288" y="9300280"/>
            <a:ext cx="1737360" cy="164592"/>
          </a:xfrm>
          <a:prstGeom prst="rect">
            <a:avLst/>
          </a:prstGeom>
          <a:noFill/>
        </p:spPr>
        <p:txBody>
          <a:bodyPr wrap="square" lIns="0" tIns="0" rIns="0" bIns="0">
            <a:spAutoFit/>
          </a:bodyPr>
          <a:lstStyle/>
          <a:p>
            <a:pPr algn="ctr">
              <a:spcAft>
                <a:spcPts val="0"/>
              </a:spcAft>
              <a:defRPr sz="1000" b="0">
                <a:solidFill>
                  <a:srgbClr val="11274B"/>
                </a:solidFill>
                <a:latin typeface="Cambria"/>
              </a:defRPr>
            </a:pPr>
            <a:r>
              <a:rPr sz="950"/>
              <a:t>Rᵢ: candidate vs. current</a:t>
            </a:r>
          </a:p>
        </p:txBody>
      </p:sp>
      <p:sp>
        <p:nvSpPr>
          <p:cNvPr id="298" name="Rounded Rectangle 297"/>
          <p:cNvSpPr/>
          <p:nvPr/>
        </p:nvSpPr>
        <p:spPr>
          <a:xfrm>
            <a:off x="10131552" y="8971096"/>
            <a:ext cx="1728216" cy="457200"/>
          </a:xfrm>
          <a:prstGeom prst="roundRect">
            <a:avLst>
              <a:gd name="adj" fmla="val 5500"/>
            </a:avLst>
          </a:prstGeom>
          <a:solidFill>
            <a:srgbClr val="F8FBFF"/>
          </a:solidFill>
          <a:ln w="2286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TextBox 298"/>
          <p:cNvSpPr txBox="1"/>
          <p:nvPr/>
        </p:nvSpPr>
        <p:spPr>
          <a:xfrm>
            <a:off x="10204704" y="9053392"/>
            <a:ext cx="1581912" cy="274320"/>
          </a:xfrm>
          <a:prstGeom prst="rect">
            <a:avLst/>
          </a:prstGeom>
          <a:noFill/>
        </p:spPr>
        <p:txBody>
          <a:bodyPr wrap="square" lIns="0" tIns="0" rIns="0" bIns="0">
            <a:spAutoFit/>
          </a:bodyPr>
          <a:lstStyle/>
          <a:p>
            <a:pPr algn="ctr">
              <a:spcAft>
                <a:spcPts val="0"/>
              </a:spcAft>
              <a:defRPr sz="1600" b="1">
                <a:solidFill>
                  <a:srgbClr val="11274B"/>
                </a:solidFill>
                <a:latin typeface="Cambria"/>
              </a:defRPr>
            </a:pPr>
            <a:r>
              <a:t>Retain current</a:t>
            </a:r>
          </a:p>
        </p:txBody>
      </p:sp>
      <p:sp>
        <p:nvSpPr>
          <p:cNvPr id="300" name="Rounded Rectangle 299"/>
          <p:cNvSpPr/>
          <p:nvPr/>
        </p:nvSpPr>
        <p:spPr>
          <a:xfrm>
            <a:off x="15060167" y="8971096"/>
            <a:ext cx="1819656" cy="457200"/>
          </a:xfrm>
          <a:prstGeom prst="roundRect">
            <a:avLst>
              <a:gd name="adj" fmla="val 5500"/>
            </a:avLst>
          </a:prstGeom>
          <a:solidFill>
            <a:srgbClr val="F8FBFF"/>
          </a:solidFill>
          <a:ln w="2286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TextBox 300"/>
          <p:cNvSpPr txBox="1"/>
          <p:nvPr/>
        </p:nvSpPr>
        <p:spPr>
          <a:xfrm>
            <a:off x="15105888" y="9053392"/>
            <a:ext cx="1728216" cy="274320"/>
          </a:xfrm>
          <a:prstGeom prst="rect">
            <a:avLst/>
          </a:prstGeom>
          <a:noFill/>
        </p:spPr>
        <p:txBody>
          <a:bodyPr wrap="square" lIns="0" tIns="0" rIns="0" bIns="0">
            <a:spAutoFit/>
          </a:bodyPr>
          <a:lstStyle/>
          <a:p>
            <a:pPr algn="ctr">
              <a:spcAft>
                <a:spcPts val="0"/>
              </a:spcAft>
              <a:defRPr sz="1450" b="1">
                <a:solidFill>
                  <a:srgbClr val="11274B"/>
                </a:solidFill>
                <a:latin typeface="Cambria"/>
              </a:defRPr>
            </a:pPr>
            <a:r>
              <a:t>Replace child group</a:t>
            </a:r>
          </a:p>
        </p:txBody>
      </p:sp>
      <p:cxnSp>
        <p:nvCxnSpPr>
          <p:cNvPr id="302" name="Connector 301"/>
          <p:cNvCxnSpPr/>
          <p:nvPr/>
        </p:nvCxnSpPr>
        <p:spPr>
          <a:xfrm flipH="1">
            <a:off x="11859768" y="9190552"/>
            <a:ext cx="365760"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303" name="TextBox 302"/>
          <p:cNvSpPr txBox="1"/>
          <p:nvPr/>
        </p:nvSpPr>
        <p:spPr>
          <a:xfrm>
            <a:off x="11868912" y="8797360"/>
            <a:ext cx="384048" cy="219456"/>
          </a:xfrm>
          <a:prstGeom prst="rect">
            <a:avLst/>
          </a:prstGeom>
          <a:noFill/>
        </p:spPr>
        <p:txBody>
          <a:bodyPr wrap="square" lIns="0" tIns="0" rIns="0" bIns="0">
            <a:spAutoFit/>
          </a:bodyPr>
          <a:lstStyle/>
          <a:p>
            <a:pPr algn="ctr">
              <a:spcAft>
                <a:spcPts val="0"/>
              </a:spcAft>
              <a:defRPr sz="1600" b="1">
                <a:solidFill>
                  <a:srgbClr val="C44335"/>
                </a:solidFill>
                <a:latin typeface="Cambria"/>
              </a:defRPr>
            </a:pPr>
            <a:r>
              <a:t>No</a:t>
            </a:r>
          </a:p>
        </p:txBody>
      </p:sp>
      <p:cxnSp>
        <p:nvCxnSpPr>
          <p:cNvPr id="304" name="Connector 303"/>
          <p:cNvCxnSpPr/>
          <p:nvPr/>
        </p:nvCxnSpPr>
        <p:spPr>
          <a:xfrm>
            <a:off x="14685263" y="9190552"/>
            <a:ext cx="374904"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305" name="TextBox 304"/>
          <p:cNvSpPr txBox="1"/>
          <p:nvPr/>
        </p:nvSpPr>
        <p:spPr>
          <a:xfrm>
            <a:off x="14649103" y="8797360"/>
            <a:ext cx="420624" cy="219456"/>
          </a:xfrm>
          <a:prstGeom prst="rect">
            <a:avLst/>
          </a:prstGeom>
          <a:noFill/>
        </p:spPr>
        <p:txBody>
          <a:bodyPr wrap="square" lIns="0" tIns="0" rIns="0" bIns="0">
            <a:spAutoFit/>
          </a:bodyPr>
          <a:lstStyle/>
          <a:p>
            <a:pPr algn="ctr">
              <a:spcAft>
                <a:spcPts val="0"/>
              </a:spcAft>
              <a:defRPr sz="1600" b="1">
                <a:solidFill>
                  <a:srgbClr val="147A57"/>
                </a:solidFill>
                <a:latin typeface="Cambria"/>
              </a:defRPr>
            </a:pPr>
            <a:r>
              <a:rPr dirty="0"/>
              <a:t>Yes</a:t>
            </a:r>
          </a:p>
        </p:txBody>
      </p:sp>
      <p:cxnSp>
        <p:nvCxnSpPr>
          <p:cNvPr id="306" name="Connector 305"/>
          <p:cNvCxnSpPr/>
          <p:nvPr/>
        </p:nvCxnSpPr>
        <p:spPr>
          <a:xfrm>
            <a:off x="10991088" y="9428296"/>
            <a:ext cx="0" cy="603504"/>
          </a:xfrm>
          <a:prstGeom prst="line">
            <a:avLst/>
          </a:prstGeom>
          <a:ln w="35560">
            <a:solidFill>
              <a:srgbClr val="009E94"/>
            </a:solidFill>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10991088" y="10031800"/>
            <a:ext cx="4974336" cy="0"/>
          </a:xfrm>
          <a:prstGeom prst="line">
            <a:avLst/>
          </a:prstGeom>
          <a:ln w="35560">
            <a:solidFill>
              <a:srgbClr val="009E94"/>
            </a:solidFill>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15965424" y="9428296"/>
            <a:ext cx="0" cy="932688"/>
          </a:xfrm>
          <a:prstGeom prst="line">
            <a:avLst/>
          </a:prstGeom>
          <a:ln w="35560">
            <a:solidFill>
              <a:srgbClr val="009E94"/>
            </a:solidFill>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flipH="1">
            <a:off x="9665208" y="10350593"/>
            <a:ext cx="6300216" cy="0"/>
          </a:xfrm>
          <a:prstGeom prst="line">
            <a:avLst/>
          </a:prstGeom>
          <a:ln w="35560">
            <a:solidFill>
              <a:srgbClr val="009E94"/>
            </a:solidFill>
          </a:ln>
        </p:spPr>
        <p:style>
          <a:lnRef idx="2">
            <a:schemeClr val="accent1"/>
          </a:lnRef>
          <a:fillRef idx="0">
            <a:schemeClr val="accent1"/>
          </a:fillRef>
          <a:effectRef idx="1">
            <a:schemeClr val="accent1"/>
          </a:effectRef>
          <a:fontRef idx="minor">
            <a:schemeClr val="tx1"/>
          </a:fontRef>
        </p:style>
      </p:cxnSp>
      <p:cxnSp>
        <p:nvCxnSpPr>
          <p:cNvPr id="310" name="Connector 309"/>
          <p:cNvCxnSpPr>
            <a:cxnSpLocks/>
          </p:cNvCxnSpPr>
          <p:nvPr/>
        </p:nvCxnSpPr>
        <p:spPr>
          <a:xfrm flipV="1">
            <a:off x="9665208" y="3731586"/>
            <a:ext cx="0" cy="6629398"/>
          </a:xfrm>
          <a:prstGeom prst="line">
            <a:avLst/>
          </a:prstGeom>
          <a:ln w="35560">
            <a:solidFill>
              <a:srgbClr val="009E94"/>
            </a:solidFill>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flipH="1">
            <a:off x="7589520" y="3731586"/>
            <a:ext cx="2075688" cy="0"/>
          </a:xfrm>
          <a:prstGeom prst="line">
            <a:avLst/>
          </a:prstGeom>
          <a:ln w="35560">
            <a:solidFill>
              <a:srgbClr val="009E94"/>
            </a:solidFill>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flipV="1">
            <a:off x="7589520" y="3466410"/>
            <a:ext cx="0" cy="265176"/>
          </a:xfrm>
          <a:prstGeom prst="line">
            <a:avLst/>
          </a:prstGeom>
          <a:ln w="35560">
            <a:solidFill>
              <a:srgbClr val="009E94"/>
            </a:solidFill>
            <a:tailEnd type="triangle"/>
          </a:ln>
        </p:spPr>
        <p:style>
          <a:lnRef idx="2">
            <a:schemeClr val="accent1"/>
          </a:lnRef>
          <a:fillRef idx="0">
            <a:schemeClr val="accent1"/>
          </a:fillRef>
          <a:effectRef idx="1">
            <a:schemeClr val="accent1"/>
          </a:effectRef>
          <a:fontRef idx="minor">
            <a:schemeClr val="tx1"/>
          </a:fontRef>
        </p:style>
      </p:cxnSp>
      <p:sp>
        <p:nvSpPr>
          <p:cNvPr id="316" name="TextBox 315"/>
          <p:cNvSpPr txBox="1"/>
          <p:nvPr/>
        </p:nvSpPr>
        <p:spPr>
          <a:xfrm>
            <a:off x="10186416" y="10391740"/>
            <a:ext cx="6684264" cy="301752"/>
          </a:xfrm>
          <a:prstGeom prst="rect">
            <a:avLst/>
          </a:prstGeom>
          <a:noFill/>
        </p:spPr>
        <p:txBody>
          <a:bodyPr wrap="square" lIns="0" tIns="0" rIns="0" bIns="0">
            <a:spAutoFit/>
          </a:bodyPr>
          <a:lstStyle/>
          <a:p>
            <a:pPr algn="ctr">
              <a:spcAft>
                <a:spcPts val="0"/>
              </a:spcAft>
              <a:defRPr sz="1900" b="0">
                <a:solidFill>
                  <a:srgbClr val="11274B"/>
                </a:solidFill>
                <a:latin typeface="Cambria"/>
              </a:defRPr>
            </a:pPr>
            <a:r>
              <a:rPr sz="1900" dirty="0"/>
              <a:t>Repeat for each Rᵢ with the updated Rubric</a:t>
            </a:r>
          </a:p>
        </p:txBody>
      </p:sp>
      <p:cxnSp>
        <p:nvCxnSpPr>
          <p:cNvPr id="1102" name="Connector 1101"/>
          <p:cNvCxnSpPr/>
          <p:nvPr/>
        </p:nvCxnSpPr>
        <p:spPr>
          <a:xfrm>
            <a:off x="6766560" y="7387107"/>
            <a:ext cx="0" cy="310896"/>
          </a:xfrm>
          <a:prstGeom prst="line">
            <a:avLst/>
          </a:prstGeom>
          <a:ln w="2159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1103" name="Rounded Rectangle 1102"/>
          <p:cNvSpPr/>
          <p:nvPr/>
        </p:nvSpPr>
        <p:spPr>
          <a:xfrm>
            <a:off x="5056632" y="7816875"/>
            <a:ext cx="448056" cy="548640"/>
          </a:xfrm>
          <a:prstGeom prst="roundRect">
            <a:avLst>
              <a:gd name="adj" fmla="val 6000"/>
            </a:avLst>
          </a:prstGeom>
          <a:solidFill>
            <a:srgbClr val="FFFFFF"/>
          </a:solidFill>
          <a:ln w="1651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4" name="TextBox 1103"/>
          <p:cNvSpPr txBox="1"/>
          <p:nvPr/>
        </p:nvSpPr>
        <p:spPr>
          <a:xfrm>
            <a:off x="5056632" y="7871738"/>
            <a:ext cx="448056" cy="246888"/>
          </a:xfrm>
          <a:prstGeom prst="rect">
            <a:avLst/>
          </a:prstGeom>
          <a:noFill/>
        </p:spPr>
        <p:txBody>
          <a:bodyPr wrap="none" lIns="0" tIns="0" rIns="0" bIns="0">
            <a:spAutoFit/>
          </a:bodyPr>
          <a:lstStyle/>
          <a:p>
            <a:pPr algn="ctr">
              <a:defRPr sz="1700">
                <a:solidFill>
                  <a:srgbClr val="11274B"/>
                </a:solidFill>
                <a:latin typeface="Cambria"/>
              </a:defRPr>
            </a:pPr>
            <a:r>
              <a:t>J₁</a:t>
            </a:r>
          </a:p>
        </p:txBody>
      </p:sp>
      <p:cxnSp>
        <p:nvCxnSpPr>
          <p:cNvPr id="1105" name="Connector 1104"/>
          <p:cNvCxnSpPr/>
          <p:nvPr/>
        </p:nvCxnSpPr>
        <p:spPr>
          <a:xfrm>
            <a:off x="5148072" y="8173490"/>
            <a:ext cx="265176" cy="0"/>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106" name="Connector 1105"/>
          <p:cNvCxnSpPr/>
          <p:nvPr/>
        </p:nvCxnSpPr>
        <p:spPr>
          <a:xfrm>
            <a:off x="5148072" y="8246642"/>
            <a:ext cx="265176" cy="0"/>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107" name="Connector 1106"/>
          <p:cNvCxnSpPr/>
          <p:nvPr/>
        </p:nvCxnSpPr>
        <p:spPr>
          <a:xfrm>
            <a:off x="5280660" y="8365515"/>
            <a:ext cx="0" cy="256032"/>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108" name="Rounded Rectangle 1107"/>
          <p:cNvSpPr/>
          <p:nvPr/>
        </p:nvSpPr>
        <p:spPr>
          <a:xfrm>
            <a:off x="5788152" y="7816875"/>
            <a:ext cx="448056" cy="548640"/>
          </a:xfrm>
          <a:prstGeom prst="roundRect">
            <a:avLst>
              <a:gd name="adj" fmla="val 6000"/>
            </a:avLst>
          </a:prstGeom>
          <a:solidFill>
            <a:srgbClr val="FFFFFF"/>
          </a:solidFill>
          <a:ln w="1651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9" name="TextBox 1108"/>
          <p:cNvSpPr txBox="1"/>
          <p:nvPr/>
        </p:nvSpPr>
        <p:spPr>
          <a:xfrm>
            <a:off x="5788152" y="7871738"/>
            <a:ext cx="448056" cy="246888"/>
          </a:xfrm>
          <a:prstGeom prst="rect">
            <a:avLst/>
          </a:prstGeom>
          <a:noFill/>
        </p:spPr>
        <p:txBody>
          <a:bodyPr wrap="none" lIns="0" tIns="0" rIns="0" bIns="0">
            <a:spAutoFit/>
          </a:bodyPr>
          <a:lstStyle/>
          <a:p>
            <a:pPr algn="ctr">
              <a:defRPr sz="1700">
                <a:solidFill>
                  <a:srgbClr val="11274B"/>
                </a:solidFill>
                <a:latin typeface="Cambria"/>
              </a:defRPr>
            </a:pPr>
            <a:r>
              <a:t>J₂</a:t>
            </a:r>
          </a:p>
        </p:txBody>
      </p:sp>
      <p:cxnSp>
        <p:nvCxnSpPr>
          <p:cNvPr id="1110" name="Connector 1109"/>
          <p:cNvCxnSpPr/>
          <p:nvPr/>
        </p:nvCxnSpPr>
        <p:spPr>
          <a:xfrm>
            <a:off x="5879592" y="8173490"/>
            <a:ext cx="265176" cy="0"/>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111" name="Connector 1110"/>
          <p:cNvCxnSpPr/>
          <p:nvPr/>
        </p:nvCxnSpPr>
        <p:spPr>
          <a:xfrm>
            <a:off x="5879592" y="8246642"/>
            <a:ext cx="265176" cy="0"/>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112" name="Connector 1111"/>
          <p:cNvCxnSpPr/>
          <p:nvPr/>
        </p:nvCxnSpPr>
        <p:spPr>
          <a:xfrm>
            <a:off x="6012180" y="8365515"/>
            <a:ext cx="0" cy="256032"/>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113" name="Rounded Rectangle 1112"/>
          <p:cNvSpPr/>
          <p:nvPr/>
        </p:nvSpPr>
        <p:spPr>
          <a:xfrm>
            <a:off x="6519672" y="7816875"/>
            <a:ext cx="448056" cy="548640"/>
          </a:xfrm>
          <a:prstGeom prst="roundRect">
            <a:avLst>
              <a:gd name="adj" fmla="val 6000"/>
            </a:avLst>
          </a:prstGeom>
          <a:solidFill>
            <a:srgbClr val="FFFFFF"/>
          </a:solidFill>
          <a:ln w="1651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4" name="TextBox 1113"/>
          <p:cNvSpPr txBox="1"/>
          <p:nvPr/>
        </p:nvSpPr>
        <p:spPr>
          <a:xfrm>
            <a:off x="6519672" y="7871738"/>
            <a:ext cx="448056" cy="246888"/>
          </a:xfrm>
          <a:prstGeom prst="rect">
            <a:avLst/>
          </a:prstGeom>
          <a:noFill/>
        </p:spPr>
        <p:txBody>
          <a:bodyPr wrap="none" lIns="0" tIns="0" rIns="0" bIns="0">
            <a:spAutoFit/>
          </a:bodyPr>
          <a:lstStyle/>
          <a:p>
            <a:pPr algn="ctr">
              <a:defRPr sz="1700">
                <a:solidFill>
                  <a:srgbClr val="11274B"/>
                </a:solidFill>
                <a:latin typeface="Cambria"/>
              </a:defRPr>
            </a:pPr>
            <a:r>
              <a:t>J₃</a:t>
            </a:r>
          </a:p>
        </p:txBody>
      </p:sp>
      <p:cxnSp>
        <p:nvCxnSpPr>
          <p:cNvPr id="1115" name="Connector 1114"/>
          <p:cNvCxnSpPr/>
          <p:nvPr/>
        </p:nvCxnSpPr>
        <p:spPr>
          <a:xfrm>
            <a:off x="6611112" y="8173490"/>
            <a:ext cx="265176" cy="0"/>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116" name="Connector 1115"/>
          <p:cNvCxnSpPr/>
          <p:nvPr/>
        </p:nvCxnSpPr>
        <p:spPr>
          <a:xfrm>
            <a:off x="6611112" y="8246642"/>
            <a:ext cx="265176" cy="0"/>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117" name="Connector 1116"/>
          <p:cNvCxnSpPr/>
          <p:nvPr/>
        </p:nvCxnSpPr>
        <p:spPr>
          <a:xfrm>
            <a:off x="6743700" y="8365515"/>
            <a:ext cx="0" cy="256032"/>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118" name="Rounded Rectangle 1117"/>
          <p:cNvSpPr/>
          <p:nvPr/>
        </p:nvSpPr>
        <p:spPr>
          <a:xfrm>
            <a:off x="7251192" y="7816875"/>
            <a:ext cx="448056" cy="548640"/>
          </a:xfrm>
          <a:prstGeom prst="roundRect">
            <a:avLst>
              <a:gd name="adj" fmla="val 6000"/>
            </a:avLst>
          </a:prstGeom>
          <a:solidFill>
            <a:srgbClr val="FFFFFF"/>
          </a:solidFill>
          <a:ln w="1651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9" name="TextBox 1118"/>
          <p:cNvSpPr txBox="1"/>
          <p:nvPr/>
        </p:nvSpPr>
        <p:spPr>
          <a:xfrm>
            <a:off x="7251192" y="7871738"/>
            <a:ext cx="448056" cy="246888"/>
          </a:xfrm>
          <a:prstGeom prst="rect">
            <a:avLst/>
          </a:prstGeom>
          <a:noFill/>
        </p:spPr>
        <p:txBody>
          <a:bodyPr wrap="none" lIns="0" tIns="0" rIns="0" bIns="0">
            <a:spAutoFit/>
          </a:bodyPr>
          <a:lstStyle/>
          <a:p>
            <a:pPr algn="ctr">
              <a:defRPr sz="1700">
                <a:solidFill>
                  <a:srgbClr val="11274B"/>
                </a:solidFill>
                <a:latin typeface="Cambria"/>
              </a:defRPr>
            </a:pPr>
            <a:r>
              <a:t>J₄</a:t>
            </a:r>
          </a:p>
        </p:txBody>
      </p:sp>
      <p:cxnSp>
        <p:nvCxnSpPr>
          <p:cNvPr id="1120" name="Connector 1119"/>
          <p:cNvCxnSpPr/>
          <p:nvPr/>
        </p:nvCxnSpPr>
        <p:spPr>
          <a:xfrm>
            <a:off x="7342632" y="8173490"/>
            <a:ext cx="265176" cy="0"/>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121" name="Connector 1120"/>
          <p:cNvCxnSpPr/>
          <p:nvPr/>
        </p:nvCxnSpPr>
        <p:spPr>
          <a:xfrm>
            <a:off x="7342632" y="8246642"/>
            <a:ext cx="265176" cy="0"/>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122" name="Connector 1121"/>
          <p:cNvCxnSpPr/>
          <p:nvPr/>
        </p:nvCxnSpPr>
        <p:spPr>
          <a:xfrm>
            <a:off x="7475220" y="8365515"/>
            <a:ext cx="0" cy="256032"/>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123" name="Rounded Rectangle 1122"/>
          <p:cNvSpPr/>
          <p:nvPr/>
        </p:nvSpPr>
        <p:spPr>
          <a:xfrm>
            <a:off x="7982712" y="7816875"/>
            <a:ext cx="448056" cy="548640"/>
          </a:xfrm>
          <a:prstGeom prst="roundRect">
            <a:avLst>
              <a:gd name="adj" fmla="val 6000"/>
            </a:avLst>
          </a:prstGeom>
          <a:solidFill>
            <a:srgbClr val="FFFFFF"/>
          </a:solidFill>
          <a:ln w="1651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4" name="TextBox 1123"/>
          <p:cNvSpPr txBox="1"/>
          <p:nvPr/>
        </p:nvSpPr>
        <p:spPr>
          <a:xfrm>
            <a:off x="7982712" y="7871738"/>
            <a:ext cx="448056" cy="246888"/>
          </a:xfrm>
          <a:prstGeom prst="rect">
            <a:avLst/>
          </a:prstGeom>
          <a:noFill/>
        </p:spPr>
        <p:txBody>
          <a:bodyPr wrap="none" lIns="0" tIns="0" rIns="0" bIns="0">
            <a:spAutoFit/>
          </a:bodyPr>
          <a:lstStyle/>
          <a:p>
            <a:pPr algn="ctr">
              <a:defRPr sz="1700">
                <a:solidFill>
                  <a:srgbClr val="11274B"/>
                </a:solidFill>
                <a:latin typeface="Cambria"/>
              </a:defRPr>
            </a:pPr>
            <a:r>
              <a:t>J₅</a:t>
            </a:r>
          </a:p>
        </p:txBody>
      </p:sp>
      <p:cxnSp>
        <p:nvCxnSpPr>
          <p:cNvPr id="1125" name="Connector 1124"/>
          <p:cNvCxnSpPr/>
          <p:nvPr/>
        </p:nvCxnSpPr>
        <p:spPr>
          <a:xfrm>
            <a:off x="8074152" y="8173490"/>
            <a:ext cx="265176" cy="0"/>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126" name="Connector 1125"/>
          <p:cNvCxnSpPr/>
          <p:nvPr/>
        </p:nvCxnSpPr>
        <p:spPr>
          <a:xfrm>
            <a:off x="8074152" y="8246642"/>
            <a:ext cx="265176" cy="0"/>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127" name="Connector 1126"/>
          <p:cNvCxnSpPr/>
          <p:nvPr/>
        </p:nvCxnSpPr>
        <p:spPr>
          <a:xfrm>
            <a:off x="8206740" y="8365515"/>
            <a:ext cx="0" cy="256032"/>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128" name="Connector 1127"/>
          <p:cNvCxnSpPr/>
          <p:nvPr/>
        </p:nvCxnSpPr>
        <p:spPr>
          <a:xfrm>
            <a:off x="5280660" y="8621547"/>
            <a:ext cx="2926080" cy="0"/>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129" name="Connector 1128"/>
          <p:cNvCxnSpPr/>
          <p:nvPr/>
        </p:nvCxnSpPr>
        <p:spPr>
          <a:xfrm>
            <a:off x="6745778" y="8621547"/>
            <a:ext cx="0" cy="356616"/>
          </a:xfrm>
          <a:prstGeom prst="line">
            <a:avLst/>
          </a:prstGeom>
          <a:ln w="2159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1130" name="TextBox 1129"/>
          <p:cNvSpPr txBox="1"/>
          <p:nvPr/>
        </p:nvSpPr>
        <p:spPr>
          <a:xfrm>
            <a:off x="4054374" y="7823526"/>
            <a:ext cx="830548" cy="492443"/>
          </a:xfrm>
          <a:prstGeom prst="rect">
            <a:avLst/>
          </a:prstGeom>
          <a:noFill/>
        </p:spPr>
        <p:txBody>
          <a:bodyPr wrap="none" lIns="0" tIns="0" rIns="0" bIns="0">
            <a:spAutoFit/>
          </a:bodyPr>
          <a:lstStyle/>
          <a:p>
            <a:pPr algn="ctr">
              <a:defRPr sz="1400">
                <a:solidFill>
                  <a:srgbClr val="11274B"/>
                </a:solidFill>
                <a:latin typeface="Cambria"/>
              </a:defRPr>
            </a:pPr>
            <a:r>
              <a:rPr sz="1600" b="1" dirty="0"/>
              <a:t>Five root</a:t>
            </a:r>
            <a:br>
              <a:rPr sz="1600" b="1" dirty="0"/>
            </a:br>
            <a:r>
              <a:rPr sz="1600" b="1" dirty="0"/>
              <a:t>reports</a:t>
            </a:r>
          </a:p>
        </p:txBody>
      </p:sp>
      <p:cxnSp>
        <p:nvCxnSpPr>
          <p:cNvPr id="1131" name="Connector 1130"/>
          <p:cNvCxnSpPr/>
          <p:nvPr/>
        </p:nvCxnSpPr>
        <p:spPr>
          <a:xfrm>
            <a:off x="7397496" y="3473475"/>
            <a:ext cx="0" cy="370332"/>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cxnSp>
        <p:nvCxnSpPr>
          <p:cNvPr id="358" name="Connector 79">
            <a:extLst>
              <a:ext uri="{FF2B5EF4-FFF2-40B4-BE49-F238E27FC236}">
                <a16:creationId xmlns:a16="http://schemas.microsoft.com/office/drawing/2014/main" id="{42A784DC-CE8D-49D5-8A81-D8E5BC832F5C}"/>
              </a:ext>
            </a:extLst>
          </p:cNvPr>
          <p:cNvCxnSpPr>
            <a:cxnSpLocks/>
          </p:cNvCxnSpPr>
          <p:nvPr/>
        </p:nvCxnSpPr>
        <p:spPr>
          <a:xfrm>
            <a:off x="2261629" y="2305122"/>
            <a:ext cx="274320" cy="0"/>
          </a:xfrm>
          <a:prstGeom prst="line">
            <a:avLst/>
          </a:prstGeom>
          <a:ln w="27940">
            <a:solidFill>
              <a:srgbClr val="11274B"/>
            </a:solidFill>
            <a:tailEnd type="triangle"/>
          </a:ln>
        </p:spPr>
        <p:style>
          <a:lnRef idx="2">
            <a:schemeClr val="accent1"/>
          </a:lnRef>
          <a:fillRef idx="0">
            <a:schemeClr val="accent1"/>
          </a:fillRef>
          <a:effectRef idx="1">
            <a:schemeClr val="accent1"/>
          </a:effectRef>
          <a:fontRef idx="minor">
            <a:schemeClr val="tx1"/>
          </a:fontRef>
        </p:style>
      </p:cxnSp>
      <p:grpSp>
        <p:nvGrpSpPr>
          <p:cNvPr id="81" name="组合 80">
            <a:extLst>
              <a:ext uri="{FF2B5EF4-FFF2-40B4-BE49-F238E27FC236}">
                <a16:creationId xmlns:a16="http://schemas.microsoft.com/office/drawing/2014/main" id="{BFA8D5D8-D47E-4C08-8F68-08A0E453493C}"/>
              </a:ext>
            </a:extLst>
          </p:cNvPr>
          <p:cNvGrpSpPr/>
          <p:nvPr/>
        </p:nvGrpSpPr>
        <p:grpSpPr>
          <a:xfrm>
            <a:off x="683684" y="9538942"/>
            <a:ext cx="137160" cy="181051"/>
            <a:chOff x="683684" y="9320731"/>
            <a:chExt cx="137160" cy="181051"/>
          </a:xfrm>
        </p:grpSpPr>
        <p:sp>
          <p:nvSpPr>
            <p:cNvPr id="1694" name="Oval 256"/>
            <p:cNvSpPr/>
            <p:nvPr/>
          </p:nvSpPr>
          <p:spPr>
            <a:xfrm>
              <a:off x="708373" y="9320731"/>
              <a:ext cx="87782" cy="126187"/>
            </a:xfrm>
            <a:prstGeom prst="ellipse">
              <a:avLst/>
            </a:prstGeom>
            <a:noFill/>
            <a:ln w="17145">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5" name="Rounded Rectangle 257"/>
            <p:cNvSpPr/>
            <p:nvPr/>
          </p:nvSpPr>
          <p:spPr>
            <a:xfrm>
              <a:off x="683684" y="9386568"/>
              <a:ext cx="137160" cy="115214"/>
            </a:xfrm>
            <a:prstGeom prst="roundRect">
              <a:avLst>
                <a:gd name="adj" fmla="val 5500"/>
              </a:avLst>
            </a:prstGeom>
            <a:solidFill>
              <a:srgbClr val="11274B"/>
            </a:solidFill>
            <a:ln w="9525">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6" name="Oval 258"/>
            <p:cNvSpPr/>
            <p:nvPr/>
          </p:nvSpPr>
          <p:spPr>
            <a:xfrm>
              <a:off x="742937" y="9418390"/>
              <a:ext cx="18653" cy="18653"/>
            </a:xfrm>
            <a:prstGeom prst="ellipse">
              <a:avLst/>
            </a:prstGeom>
            <a:solidFill>
              <a:srgbClr val="FFFFFF"/>
            </a:solidFill>
            <a:ln w="4762">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697" name="TextBox 1696"/>
          <p:cNvSpPr txBox="1"/>
          <p:nvPr/>
        </p:nvSpPr>
        <p:spPr>
          <a:xfrm>
            <a:off x="745196" y="9517415"/>
            <a:ext cx="1225296" cy="256032"/>
          </a:xfrm>
          <a:prstGeom prst="rect">
            <a:avLst/>
          </a:prstGeom>
          <a:noFill/>
        </p:spPr>
        <p:txBody>
          <a:bodyPr wrap="none" lIns="0" tIns="0" rIns="0" bIns="0">
            <a:spAutoFit/>
          </a:bodyPr>
          <a:lstStyle/>
          <a:p>
            <a:pPr algn="ctr">
              <a:defRPr sz="1400">
                <a:solidFill>
                  <a:srgbClr val="11274B"/>
                </a:solidFill>
                <a:latin typeface="Cambria"/>
              </a:defRPr>
            </a:pPr>
            <a:r>
              <a:rPr dirty="0"/>
              <a:t>Fixed root</a:t>
            </a:r>
          </a:p>
        </p:txBody>
      </p:sp>
      <p:sp>
        <p:nvSpPr>
          <p:cNvPr id="1902" name="Oval 264"/>
          <p:cNvSpPr/>
          <p:nvPr/>
        </p:nvSpPr>
        <p:spPr>
          <a:xfrm>
            <a:off x="672462" y="9908031"/>
            <a:ext cx="159379" cy="159379"/>
          </a:xfrm>
          <a:prstGeom prst="ellipse">
            <a:avLst/>
          </a:prstGeom>
          <a:solidFill>
            <a:srgbClr val="D1D4D8"/>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3" name="TextBox 1902"/>
          <p:cNvSpPr txBox="1"/>
          <p:nvPr/>
        </p:nvSpPr>
        <p:spPr>
          <a:xfrm>
            <a:off x="778864" y="9871455"/>
            <a:ext cx="1463040" cy="256032"/>
          </a:xfrm>
          <a:prstGeom prst="rect">
            <a:avLst/>
          </a:prstGeom>
          <a:noFill/>
        </p:spPr>
        <p:txBody>
          <a:bodyPr wrap="none" lIns="0" tIns="0" rIns="0" bIns="0">
            <a:spAutoFit/>
          </a:bodyPr>
          <a:lstStyle/>
          <a:p>
            <a:pPr algn="ctr">
              <a:defRPr sz="1400">
                <a:solidFill>
                  <a:srgbClr val="11274B"/>
                </a:solidFill>
                <a:latin typeface="Cambria"/>
              </a:defRPr>
            </a:pPr>
            <a:r>
              <a:rPr dirty="0"/>
              <a:t>Retained child</a:t>
            </a:r>
          </a:p>
        </p:txBody>
      </p:sp>
      <p:sp>
        <p:nvSpPr>
          <p:cNvPr id="1911" name="Oval 273"/>
          <p:cNvSpPr/>
          <p:nvPr/>
        </p:nvSpPr>
        <p:spPr>
          <a:xfrm>
            <a:off x="2455541" y="9908031"/>
            <a:ext cx="159379" cy="159379"/>
          </a:xfrm>
          <a:prstGeom prst="ellipse">
            <a:avLst/>
          </a:prstGeom>
          <a:solidFill>
            <a:srgbClr val="FFE2D2"/>
          </a:solidFill>
          <a:ln w="25400">
            <a:solidFill>
              <a:srgbClr val="F06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2" name="TextBox 1911"/>
          <p:cNvSpPr txBox="1"/>
          <p:nvPr/>
        </p:nvSpPr>
        <p:spPr>
          <a:xfrm>
            <a:off x="2665854" y="9871455"/>
            <a:ext cx="1691640" cy="256032"/>
          </a:xfrm>
          <a:prstGeom prst="rect">
            <a:avLst/>
          </a:prstGeom>
          <a:noFill/>
        </p:spPr>
        <p:txBody>
          <a:bodyPr wrap="none" lIns="0" tIns="0" rIns="0" bIns="0">
            <a:spAutoFit/>
          </a:bodyPr>
          <a:lstStyle/>
          <a:p>
            <a:pPr algn="ctr">
              <a:defRPr sz="1400">
                <a:solidFill>
                  <a:srgbClr val="11274B"/>
                </a:solidFill>
                <a:latin typeface="Cambria"/>
              </a:defRPr>
            </a:pPr>
            <a:r>
              <a:t>Revised / new child</a:t>
            </a:r>
          </a:p>
        </p:txBody>
      </p:sp>
      <p:cxnSp>
        <p:nvCxnSpPr>
          <p:cNvPr id="1919" name="Connector 1918"/>
          <p:cNvCxnSpPr/>
          <p:nvPr/>
        </p:nvCxnSpPr>
        <p:spPr>
          <a:xfrm flipH="1">
            <a:off x="14282928" y="7249947"/>
            <a:ext cx="466344" cy="44805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920" name="Oval 1919"/>
          <p:cNvSpPr/>
          <p:nvPr/>
        </p:nvSpPr>
        <p:spPr>
          <a:xfrm>
            <a:off x="14191488" y="7698003"/>
            <a:ext cx="182880" cy="182880"/>
          </a:xfrm>
          <a:prstGeom prst="ellipse">
            <a:avLst/>
          </a:prstGeom>
          <a:solidFill>
            <a:srgbClr val="D1D4D8"/>
          </a:solidFill>
          <a:ln w="20320">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21" name="Connector 1920"/>
          <p:cNvCxnSpPr/>
          <p:nvPr/>
        </p:nvCxnSpPr>
        <p:spPr>
          <a:xfrm flipH="1">
            <a:off x="14621256" y="7249947"/>
            <a:ext cx="128016" cy="44805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922" name="Oval 1921"/>
          <p:cNvSpPr/>
          <p:nvPr/>
        </p:nvSpPr>
        <p:spPr>
          <a:xfrm>
            <a:off x="14529816" y="7698003"/>
            <a:ext cx="182880" cy="182880"/>
          </a:xfrm>
          <a:prstGeom prst="ellipse">
            <a:avLst/>
          </a:prstGeom>
          <a:solidFill>
            <a:srgbClr val="FFE2D2"/>
          </a:solidFill>
          <a:ln w="20320">
            <a:solidFill>
              <a:srgbClr val="F06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23" name="Connector 1922"/>
          <p:cNvCxnSpPr/>
          <p:nvPr/>
        </p:nvCxnSpPr>
        <p:spPr>
          <a:xfrm>
            <a:off x="14749272" y="7249947"/>
            <a:ext cx="210312" cy="44805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924" name="Oval 1923"/>
          <p:cNvSpPr/>
          <p:nvPr/>
        </p:nvSpPr>
        <p:spPr>
          <a:xfrm>
            <a:off x="14868144" y="7698003"/>
            <a:ext cx="182880" cy="182880"/>
          </a:xfrm>
          <a:prstGeom prst="ellipse">
            <a:avLst/>
          </a:prstGeom>
          <a:solidFill>
            <a:srgbClr val="FFE2D2"/>
          </a:solidFill>
          <a:ln w="20320">
            <a:solidFill>
              <a:srgbClr val="F06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25" name="Connector 1924"/>
          <p:cNvCxnSpPr/>
          <p:nvPr/>
        </p:nvCxnSpPr>
        <p:spPr>
          <a:xfrm>
            <a:off x="14749272" y="7249947"/>
            <a:ext cx="548640" cy="448056"/>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sp>
        <p:nvSpPr>
          <p:cNvPr id="1926" name="Oval 1925"/>
          <p:cNvSpPr/>
          <p:nvPr/>
        </p:nvSpPr>
        <p:spPr>
          <a:xfrm>
            <a:off x="15206472" y="7698003"/>
            <a:ext cx="182880" cy="182880"/>
          </a:xfrm>
          <a:prstGeom prst="ellipse">
            <a:avLst/>
          </a:prstGeom>
          <a:solidFill>
            <a:srgbClr val="FFE2D2"/>
          </a:solidFill>
          <a:ln w="20320">
            <a:solidFill>
              <a:srgbClr val="F06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27" name="Connector 1926"/>
          <p:cNvCxnSpPr/>
          <p:nvPr/>
        </p:nvCxnSpPr>
        <p:spPr>
          <a:xfrm>
            <a:off x="13021056" y="7387107"/>
            <a:ext cx="941832" cy="0"/>
          </a:xfrm>
          <a:prstGeom prst="line">
            <a:avLst/>
          </a:prstGeom>
          <a:ln w="21590">
            <a:solidFill>
              <a:srgbClr val="11274B"/>
            </a:solidFill>
            <a:tailEnd type="triangle"/>
          </a:ln>
        </p:spPr>
        <p:style>
          <a:lnRef idx="2">
            <a:schemeClr val="accent1"/>
          </a:lnRef>
          <a:fillRef idx="0">
            <a:schemeClr val="accent1"/>
          </a:fillRef>
          <a:effectRef idx="1">
            <a:schemeClr val="accent1"/>
          </a:effectRef>
          <a:fontRef idx="minor">
            <a:schemeClr val="tx1"/>
          </a:fontRef>
        </p:style>
      </p:cxnSp>
      <p:sp>
        <p:nvSpPr>
          <p:cNvPr id="1928" name="TextBox 1927"/>
          <p:cNvSpPr txBox="1"/>
          <p:nvPr/>
        </p:nvSpPr>
        <p:spPr>
          <a:xfrm>
            <a:off x="13048488" y="7057923"/>
            <a:ext cx="896112" cy="256032"/>
          </a:xfrm>
          <a:prstGeom prst="rect">
            <a:avLst/>
          </a:prstGeom>
          <a:noFill/>
        </p:spPr>
        <p:txBody>
          <a:bodyPr wrap="none">
            <a:spAutoFit/>
          </a:bodyPr>
          <a:lstStyle/>
          <a:p>
            <a:pPr algn="ctr">
              <a:defRPr sz="1600">
                <a:solidFill>
                  <a:srgbClr val="11274B"/>
                </a:solidFill>
                <a:latin typeface="Cambria"/>
              </a:defRPr>
            </a:pPr>
            <a:r>
              <a:t>Split</a:t>
            </a:r>
          </a:p>
        </p:txBody>
      </p:sp>
      <p:cxnSp>
        <p:nvCxnSpPr>
          <p:cNvPr id="1929" name="Connector 1928"/>
          <p:cNvCxnSpPr/>
          <p:nvPr/>
        </p:nvCxnSpPr>
        <p:spPr>
          <a:xfrm>
            <a:off x="14749272" y="8036331"/>
            <a:ext cx="0" cy="256032"/>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930" name="Connector 1929"/>
          <p:cNvCxnSpPr/>
          <p:nvPr/>
        </p:nvCxnSpPr>
        <p:spPr>
          <a:xfrm flipH="1">
            <a:off x="13450824" y="8292363"/>
            <a:ext cx="1298448" cy="0"/>
          </a:xfrm>
          <a:prstGeom prst="line">
            <a:avLst/>
          </a:prstGeom>
          <a:ln w="21590">
            <a:solidFill>
              <a:srgbClr val="11274B"/>
            </a:solidFill>
          </a:ln>
        </p:spPr>
        <p:style>
          <a:lnRef idx="2">
            <a:schemeClr val="accent1"/>
          </a:lnRef>
          <a:fillRef idx="0">
            <a:schemeClr val="accent1"/>
          </a:fillRef>
          <a:effectRef idx="1">
            <a:schemeClr val="accent1"/>
          </a:effectRef>
          <a:fontRef idx="minor">
            <a:schemeClr val="tx1"/>
          </a:fontRef>
        </p:style>
      </p:cxnSp>
      <p:cxnSp>
        <p:nvCxnSpPr>
          <p:cNvPr id="1931" name="Connector 1930"/>
          <p:cNvCxnSpPr/>
          <p:nvPr/>
        </p:nvCxnSpPr>
        <p:spPr>
          <a:xfrm>
            <a:off x="13450824" y="8292363"/>
            <a:ext cx="0" cy="246888"/>
          </a:xfrm>
          <a:prstGeom prst="line">
            <a:avLst/>
          </a:prstGeom>
          <a:ln w="21590">
            <a:solidFill>
              <a:srgbClr val="11274B"/>
            </a:solidFill>
            <a:tailEnd type="triangle"/>
          </a:ln>
        </p:spPr>
        <p:style>
          <a:lnRef idx="2">
            <a:schemeClr val="accent1"/>
          </a:lnRef>
          <a:fillRef idx="0">
            <a:schemeClr val="accent1"/>
          </a:fillRef>
          <a:effectRef idx="1">
            <a:schemeClr val="accent1"/>
          </a:effectRef>
          <a:fontRef idx="minor">
            <a:schemeClr val="tx1"/>
          </a:fontRef>
        </p:style>
      </p:cxnSp>
      <p:grpSp>
        <p:nvGrpSpPr>
          <p:cNvPr id="342" name="组合 341">
            <a:extLst>
              <a:ext uri="{FF2B5EF4-FFF2-40B4-BE49-F238E27FC236}">
                <a16:creationId xmlns:a16="http://schemas.microsoft.com/office/drawing/2014/main" id="{D8DF6C30-0BA4-4CB4-9A60-2EA5CEE90EC5}"/>
              </a:ext>
            </a:extLst>
          </p:cNvPr>
          <p:cNvGrpSpPr/>
          <p:nvPr/>
        </p:nvGrpSpPr>
        <p:grpSpPr>
          <a:xfrm>
            <a:off x="14938901" y="6979533"/>
            <a:ext cx="137160" cy="181051"/>
            <a:chOff x="683684" y="9320731"/>
            <a:chExt cx="137160" cy="181051"/>
          </a:xfrm>
        </p:grpSpPr>
        <p:sp>
          <p:nvSpPr>
            <p:cNvPr id="343" name="Oval 256">
              <a:extLst>
                <a:ext uri="{FF2B5EF4-FFF2-40B4-BE49-F238E27FC236}">
                  <a16:creationId xmlns:a16="http://schemas.microsoft.com/office/drawing/2014/main" id="{A8F4F70D-4C19-4A9B-A461-6432909DF47D}"/>
                </a:ext>
              </a:extLst>
            </p:cNvPr>
            <p:cNvSpPr/>
            <p:nvPr/>
          </p:nvSpPr>
          <p:spPr>
            <a:xfrm>
              <a:off x="708373" y="9320731"/>
              <a:ext cx="87782" cy="126187"/>
            </a:xfrm>
            <a:prstGeom prst="ellipse">
              <a:avLst/>
            </a:prstGeom>
            <a:noFill/>
            <a:ln w="17145">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Rounded Rectangle 257">
              <a:extLst>
                <a:ext uri="{FF2B5EF4-FFF2-40B4-BE49-F238E27FC236}">
                  <a16:creationId xmlns:a16="http://schemas.microsoft.com/office/drawing/2014/main" id="{1FA70554-0EC3-419D-AC4A-F012F2C66337}"/>
                </a:ext>
              </a:extLst>
            </p:cNvPr>
            <p:cNvSpPr/>
            <p:nvPr/>
          </p:nvSpPr>
          <p:spPr>
            <a:xfrm>
              <a:off x="683684" y="9386568"/>
              <a:ext cx="137160" cy="115214"/>
            </a:xfrm>
            <a:prstGeom prst="roundRect">
              <a:avLst>
                <a:gd name="adj" fmla="val 5500"/>
              </a:avLst>
            </a:prstGeom>
            <a:solidFill>
              <a:srgbClr val="11274B"/>
            </a:solidFill>
            <a:ln w="9525">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Oval 258">
              <a:extLst>
                <a:ext uri="{FF2B5EF4-FFF2-40B4-BE49-F238E27FC236}">
                  <a16:creationId xmlns:a16="http://schemas.microsoft.com/office/drawing/2014/main" id="{C0B77D01-F60E-4ABA-A005-1A752C246A75}"/>
                </a:ext>
              </a:extLst>
            </p:cNvPr>
            <p:cNvSpPr/>
            <p:nvPr/>
          </p:nvSpPr>
          <p:spPr>
            <a:xfrm>
              <a:off x="742937" y="9418390"/>
              <a:ext cx="18653" cy="18653"/>
            </a:xfrm>
            <a:prstGeom prst="ellipse">
              <a:avLst/>
            </a:prstGeom>
            <a:solidFill>
              <a:srgbClr val="FFFFFF"/>
            </a:solidFill>
            <a:ln w="4762">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346" name="组合 345">
            <a:extLst>
              <a:ext uri="{FF2B5EF4-FFF2-40B4-BE49-F238E27FC236}">
                <a16:creationId xmlns:a16="http://schemas.microsoft.com/office/drawing/2014/main" id="{AB3D324D-CCE7-4043-9230-29129B0EE68A}"/>
              </a:ext>
            </a:extLst>
          </p:cNvPr>
          <p:cNvGrpSpPr/>
          <p:nvPr/>
        </p:nvGrpSpPr>
        <p:grpSpPr>
          <a:xfrm>
            <a:off x="12564051" y="6997820"/>
            <a:ext cx="137160" cy="181051"/>
            <a:chOff x="683684" y="9320731"/>
            <a:chExt cx="137160" cy="181051"/>
          </a:xfrm>
        </p:grpSpPr>
        <p:sp>
          <p:nvSpPr>
            <p:cNvPr id="347" name="Oval 256">
              <a:extLst>
                <a:ext uri="{FF2B5EF4-FFF2-40B4-BE49-F238E27FC236}">
                  <a16:creationId xmlns:a16="http://schemas.microsoft.com/office/drawing/2014/main" id="{59651952-8116-4B1A-9ABA-5C2A25854162}"/>
                </a:ext>
              </a:extLst>
            </p:cNvPr>
            <p:cNvSpPr/>
            <p:nvPr/>
          </p:nvSpPr>
          <p:spPr>
            <a:xfrm>
              <a:off x="708373" y="9320731"/>
              <a:ext cx="87782" cy="126187"/>
            </a:xfrm>
            <a:prstGeom prst="ellipse">
              <a:avLst/>
            </a:prstGeom>
            <a:noFill/>
            <a:ln w="17145">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Rounded Rectangle 257">
              <a:extLst>
                <a:ext uri="{FF2B5EF4-FFF2-40B4-BE49-F238E27FC236}">
                  <a16:creationId xmlns:a16="http://schemas.microsoft.com/office/drawing/2014/main" id="{5D8FFB0C-A172-4116-863F-670B1F8FF136}"/>
                </a:ext>
              </a:extLst>
            </p:cNvPr>
            <p:cNvSpPr/>
            <p:nvPr/>
          </p:nvSpPr>
          <p:spPr>
            <a:xfrm>
              <a:off x="683684" y="9386568"/>
              <a:ext cx="137160" cy="115214"/>
            </a:xfrm>
            <a:prstGeom prst="roundRect">
              <a:avLst>
                <a:gd name="adj" fmla="val 5500"/>
              </a:avLst>
            </a:prstGeom>
            <a:solidFill>
              <a:srgbClr val="11274B"/>
            </a:solidFill>
            <a:ln w="9525">
              <a:solidFill>
                <a:srgbClr val="112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Oval 258">
              <a:extLst>
                <a:ext uri="{FF2B5EF4-FFF2-40B4-BE49-F238E27FC236}">
                  <a16:creationId xmlns:a16="http://schemas.microsoft.com/office/drawing/2014/main" id="{AD04DF5E-FF77-4055-82CF-F09CA507A7FE}"/>
                </a:ext>
              </a:extLst>
            </p:cNvPr>
            <p:cNvSpPr/>
            <p:nvPr/>
          </p:nvSpPr>
          <p:spPr>
            <a:xfrm>
              <a:off x="742937" y="9418390"/>
              <a:ext cx="18653" cy="18653"/>
            </a:xfrm>
            <a:prstGeom prst="ellipse">
              <a:avLst/>
            </a:prstGeom>
            <a:solidFill>
              <a:srgbClr val="FFFFFF"/>
            </a:solidFill>
            <a:ln w="4762">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pic>
        <p:nvPicPr>
          <p:cNvPr id="1932" name="Manager review and revision icon" descr="manager-icon.png"/>
          <p:cNvPicPr>
            <a:picLocks noChangeAspect="1"/>
          </p:cNvPicPr>
          <p:nvPr/>
        </p:nvPicPr>
        <p:blipFill>
          <a:blip r:embed="rId4"/>
          <a:srcRect l="13000" r="13000" t="15000" b="15000"/>
          <a:stretch>
            <a:fillRect/>
          </a:stretch>
        </p:blipFill>
        <p:spPr>
          <a:xfrm>
            <a:off x="10140696" y="1322141"/>
            <a:ext cx="475488" cy="475488"/>
          </a:xfrm>
          <a:prstGeom prst="rect">
            <a:avLst/>
          </a:prstGeom>
        </p:spPr>
      </p:pic>
    </p:spTree>
    <p:extLst>
      <p:ext uri="{BB962C8B-B14F-4D97-AF65-F5344CB8AC3E}">
        <p14:creationId xmlns:p14="http://schemas.microsoft.com/office/powerpoint/2010/main" val="702208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64592"/>
            <a:ext cx="16642080" cy="448056"/>
          </a:xfrm>
          <a:prstGeom prst="rect">
            <a:avLst/>
          </a:prstGeom>
          <a:noFill/>
        </p:spPr>
        <p:txBody>
          <a:bodyPr wrap="square" lIns="0" tIns="0" rIns="0" bIns="0">
            <a:spAutoFit/>
          </a:bodyPr>
          <a:lstStyle/>
          <a:p>
            <a:pPr algn="l">
              <a:spcAft>
                <a:spcPts val="100"/>
              </a:spcAft>
              <a:defRPr sz="3000" b="1">
                <a:solidFill>
                  <a:srgbClr val="153153"/>
                </a:solidFill>
                <a:latin typeface="Arial"/>
              </a:defRPr>
            </a:pPr>
            <a:r>
              <a:t>From one local failure to a revised child group</a:t>
            </a:r>
          </a:p>
        </p:txBody>
      </p:sp>
      <p:sp>
        <p:nvSpPr>
          <p:cNvPr id="3" name="TextBox 2"/>
          <p:cNvSpPr txBox="1"/>
          <p:nvPr/>
        </p:nvSpPr>
        <p:spPr>
          <a:xfrm>
            <a:off x="384048" y="694944"/>
            <a:ext cx="16459200" cy="292608"/>
          </a:xfrm>
          <a:prstGeom prst="rect">
            <a:avLst/>
          </a:prstGeom>
          <a:noFill/>
        </p:spPr>
        <p:txBody>
          <a:bodyPr wrap="square" lIns="0" tIns="0" rIns="0" bIns="0">
            <a:spAutoFit/>
          </a:bodyPr>
          <a:lstStyle/>
          <a:p>
            <a:pPr algn="l">
              <a:spcAft>
                <a:spcPts val="100"/>
              </a:spcAft>
              <a:defRPr sz="1800" b="0">
                <a:solidFill>
                  <a:srgbClr val="5B7088"/>
                </a:solidFill>
                <a:latin typeface="Arial"/>
              </a:defRPr>
            </a:pPr>
            <a:r>
              <a:t>Illustrative completeness example · schematic feedback and rules, not an observed experimental result</a:t>
            </a:r>
          </a:p>
        </p:txBody>
      </p:sp>
      <p:sp>
        <p:nvSpPr>
          <p:cNvPr id="4" name="Rounded Rectangle 3"/>
          <p:cNvSpPr/>
          <p:nvPr/>
        </p:nvSpPr>
        <p:spPr>
          <a:xfrm>
            <a:off x="438912" y="1252728"/>
            <a:ext cx="16477488" cy="365760"/>
          </a:xfrm>
          <a:prstGeom prst="roundRect">
            <a:avLst>
              <a:gd name="adj" fmla="val 4000"/>
            </a:avLst>
          </a:prstGeom>
          <a:solidFill>
            <a:srgbClr val="F1F7F6"/>
          </a:solidFill>
          <a:ln w="1524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12063" y="1303020"/>
            <a:ext cx="16331184" cy="265176"/>
          </a:xfrm>
          <a:prstGeom prst="rect">
            <a:avLst/>
          </a:prstGeom>
          <a:noFill/>
        </p:spPr>
        <p:txBody>
          <a:bodyPr wrap="square" lIns="0" tIns="0" rIns="0" bIns="0">
            <a:spAutoFit/>
          </a:bodyPr>
          <a:lstStyle/>
          <a:p>
            <a:pPr algn="ctr">
              <a:spcAft>
                <a:spcPts val="100"/>
              </a:spcAft>
              <a:defRPr sz="1600" b="1">
                <a:solidFill>
                  <a:srgbClr val="119D96"/>
                </a:solidFill>
                <a:latin typeface="Arial"/>
              </a:defRPr>
            </a:pPr>
            <a:r>
              <a:t>Shared context: the full accepted Rubric defines what each root should evaluate</a:t>
            </a:r>
          </a:p>
        </p:txBody>
      </p:sp>
      <p:sp>
        <p:nvSpPr>
          <p:cNvPr id="6" name="Rounded Rectangle 5"/>
          <p:cNvSpPr/>
          <p:nvPr/>
        </p:nvSpPr>
        <p:spPr>
          <a:xfrm>
            <a:off x="438912" y="1911095"/>
            <a:ext cx="4828032" cy="3090672"/>
          </a:xfrm>
          <a:prstGeom prst="roundRect">
            <a:avLst>
              <a:gd name="adj" fmla="val 4000"/>
            </a:avLst>
          </a:prstGeom>
          <a:solidFill>
            <a:srgbClr val="F4F8FD"/>
          </a:solidFill>
          <a:ln w="15240">
            <a:solidFill>
              <a:srgbClr val="A8C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2103120"/>
            <a:ext cx="4389120" cy="347472"/>
          </a:xfrm>
          <a:prstGeom prst="rect">
            <a:avLst/>
          </a:prstGeom>
          <a:noFill/>
        </p:spPr>
        <p:txBody>
          <a:bodyPr wrap="square" lIns="0" tIns="0" rIns="0" bIns="0">
            <a:spAutoFit/>
          </a:bodyPr>
          <a:lstStyle/>
          <a:p>
            <a:pPr algn="l">
              <a:spcAft>
                <a:spcPts val="100"/>
              </a:spcAft>
              <a:defRPr sz="2400" b="1">
                <a:solidFill>
                  <a:srgbClr val="153153"/>
                </a:solidFill>
                <a:latin typeface="Arial"/>
              </a:defRPr>
            </a:pPr>
            <a:r>
              <a:t>1  Case + local judgment</a:t>
            </a:r>
          </a:p>
        </p:txBody>
      </p:sp>
      <p:sp>
        <p:nvSpPr>
          <p:cNvPr id="8" name="TextBox 7"/>
          <p:cNvSpPr txBox="1"/>
          <p:nvPr/>
        </p:nvSpPr>
        <p:spPr>
          <a:xfrm>
            <a:off x="676656" y="2715768"/>
            <a:ext cx="4361688" cy="521207"/>
          </a:xfrm>
          <a:prstGeom prst="rect">
            <a:avLst/>
          </a:prstGeom>
          <a:noFill/>
        </p:spPr>
        <p:txBody>
          <a:bodyPr wrap="square" lIns="0" tIns="0" rIns="0" bIns="0">
            <a:spAutoFit/>
          </a:bodyPr>
          <a:lstStyle/>
          <a:p>
            <a:pPr algn="l">
              <a:spcAft>
                <a:spcPts val="100"/>
              </a:spcAft>
              <a:defRPr sz="2100" b="0">
                <a:solidFill>
                  <a:srgbClr val="153153"/>
                </a:solidFill>
                <a:latin typeface="Arial"/>
              </a:defRPr>
            </a:pPr>
            <a:r>
              <a:t>Question: identify the object and give a rating.</a:t>
            </a:r>
          </a:p>
        </p:txBody>
      </p:sp>
      <p:sp>
        <p:nvSpPr>
          <p:cNvPr id="9" name="TextBox 8"/>
          <p:cNvSpPr txBox="1"/>
          <p:nvPr/>
        </p:nvSpPr>
        <p:spPr>
          <a:xfrm>
            <a:off x="676656" y="3374136"/>
            <a:ext cx="4361688" cy="585216"/>
          </a:xfrm>
          <a:prstGeom prst="rect">
            <a:avLst/>
          </a:prstGeom>
          <a:noFill/>
        </p:spPr>
        <p:txBody>
          <a:bodyPr wrap="square" lIns="0" tIns="0" rIns="0" bIns="0">
            <a:spAutoFit/>
          </a:bodyPr>
          <a:lstStyle/>
          <a:p>
            <a:pPr algn="l">
              <a:spcAft>
                <a:spcPts val="100"/>
              </a:spcAft>
              <a:defRPr sz="1900" b="0">
                <a:solidFill>
                  <a:srgbClr val="153153"/>
                </a:solidFill>
                <a:latin typeface="Arial"/>
              </a:defRPr>
            </a:pPr>
            <a:r>
              <a:t>A: completes both tasks.</a:t>
            </a:r>
          </a:p>
          <a:p>
            <a:pPr algn="l">
              <a:spcAft>
                <a:spcPts val="100"/>
              </a:spcAft>
              <a:defRPr sz="1900" b="0">
                <a:solidFill>
                  <a:srgbClr val="153153"/>
                </a:solidFill>
                <a:latin typeface="Arial"/>
              </a:defRPr>
            </a:pPr>
            <a:r>
              <a:t>B: adds advice but omits the rating.</a:t>
            </a:r>
          </a:p>
        </p:txBody>
      </p:sp>
      <p:sp>
        <p:nvSpPr>
          <p:cNvPr id="10" name="TextBox 9"/>
          <p:cNvSpPr txBox="1"/>
          <p:nvPr/>
        </p:nvSpPr>
        <p:spPr>
          <a:xfrm>
            <a:off x="676656" y="4151376"/>
            <a:ext cx="4361688" cy="576072"/>
          </a:xfrm>
          <a:prstGeom prst="rect">
            <a:avLst/>
          </a:prstGeom>
          <a:noFill/>
        </p:spPr>
        <p:txBody>
          <a:bodyPr wrap="square" lIns="0" tIns="0" rIns="0" bIns="0">
            <a:spAutoFit/>
          </a:bodyPr>
          <a:lstStyle/>
          <a:p>
            <a:pPr algn="l">
              <a:spcAft>
                <a:spcPts val="100"/>
              </a:spcAft>
              <a:defRPr sz="1900" b="1">
                <a:solidFill>
                  <a:srgbClr val="3183CB"/>
                </a:solidFill>
                <a:latin typeface="Arial"/>
              </a:defRPr>
            </a:pPr>
            <a:r>
              <a:t>Worker: B, for extra detail.</a:t>
            </a:r>
          </a:p>
          <a:p>
            <a:pPr algn="l">
              <a:spcAft>
                <a:spcPts val="100"/>
              </a:spcAft>
              <a:defRPr sz="1900" b="1">
                <a:solidFill>
                  <a:srgbClr val="3183CB"/>
                </a:solidFill>
                <a:latin typeface="Arial"/>
              </a:defRPr>
            </a:pPr>
            <a:r>
              <a:t>Human preference: A.</a:t>
            </a:r>
          </a:p>
        </p:txBody>
      </p:sp>
      <p:cxnSp>
        <p:nvCxnSpPr>
          <p:cNvPr id="11" name="Connector 10"/>
          <p:cNvCxnSpPr/>
          <p:nvPr/>
        </p:nvCxnSpPr>
        <p:spPr>
          <a:xfrm>
            <a:off x="5276088" y="3429000"/>
            <a:ext cx="429768" cy="0"/>
          </a:xfrm>
          <a:prstGeom prst="line">
            <a:avLst/>
          </a:prstGeom>
          <a:ln w="17780">
            <a:solidFill>
              <a:srgbClr val="DA7632"/>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852160" y="1911095"/>
            <a:ext cx="4617720" cy="3090672"/>
          </a:xfrm>
          <a:prstGeom prst="roundRect">
            <a:avLst>
              <a:gd name="adj" fmla="val 4000"/>
            </a:avLst>
          </a:prstGeom>
          <a:solidFill>
            <a:srgbClr val="FFF8F1"/>
          </a:solidFill>
          <a:ln w="15240">
            <a:solidFill>
              <a:srgbClr val="DA76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89904" y="2103120"/>
            <a:ext cx="4142232" cy="347472"/>
          </a:xfrm>
          <a:prstGeom prst="rect">
            <a:avLst/>
          </a:prstGeom>
          <a:noFill/>
        </p:spPr>
        <p:txBody>
          <a:bodyPr wrap="square" lIns="0" tIns="0" rIns="0" bIns="0">
            <a:spAutoFit/>
          </a:bodyPr>
          <a:lstStyle/>
          <a:p>
            <a:pPr algn="l">
              <a:spcAft>
                <a:spcPts val="100"/>
              </a:spcAft>
              <a:defRPr sz="2400" b="1">
                <a:solidFill>
                  <a:srgbClr val="153153"/>
                </a:solidFill>
                <a:latin typeface="Arial"/>
              </a:defRPr>
            </a:pPr>
            <a:r>
              <a:t>2  Independent reflection</a:t>
            </a:r>
          </a:p>
        </p:txBody>
      </p:sp>
      <p:sp>
        <p:nvSpPr>
          <p:cNvPr id="14" name="TextBox 13"/>
          <p:cNvSpPr txBox="1"/>
          <p:nvPr/>
        </p:nvSpPr>
        <p:spPr>
          <a:xfrm>
            <a:off x="6099048" y="2761488"/>
            <a:ext cx="4105656" cy="594360"/>
          </a:xfrm>
          <a:prstGeom prst="rect">
            <a:avLst/>
          </a:prstGeom>
          <a:noFill/>
        </p:spPr>
        <p:txBody>
          <a:bodyPr wrap="square" lIns="0" tIns="0" rIns="0" bIns="0">
            <a:spAutoFit/>
          </a:bodyPr>
          <a:lstStyle/>
          <a:p>
            <a:pPr algn="l">
              <a:spcAft>
                <a:spcPts val="100"/>
              </a:spcAft>
              <a:defRPr sz="2100" b="0">
                <a:solidFill>
                  <a:srgbClr val="153153"/>
                </a:solidFill>
                <a:latin typeface="Arial"/>
              </a:defRPr>
            </a:pPr>
            <a:r>
              <a:t>Failure: optional advice was treated as required coverage.</a:t>
            </a:r>
          </a:p>
        </p:txBody>
      </p:sp>
      <p:sp>
        <p:nvSpPr>
          <p:cNvPr id="15" name="TextBox 14"/>
          <p:cNvSpPr txBox="1"/>
          <p:nvPr/>
        </p:nvSpPr>
        <p:spPr>
          <a:xfrm>
            <a:off x="6099048" y="3611880"/>
            <a:ext cx="4105656" cy="987552"/>
          </a:xfrm>
          <a:prstGeom prst="rect">
            <a:avLst/>
          </a:prstGeom>
          <a:noFill/>
        </p:spPr>
        <p:txBody>
          <a:bodyPr wrap="square" lIns="0" tIns="0" rIns="0" bIns="0">
            <a:spAutoFit/>
          </a:bodyPr>
          <a:lstStyle/>
          <a:p>
            <a:pPr algn="l">
              <a:spcAft>
                <a:spcPts val="100"/>
              </a:spcAft>
              <a:defRPr sz="2100" b="1">
                <a:solidFill>
                  <a:srgbClr val="DA7632"/>
                </a:solidFill>
                <a:latin typeface="Arial"/>
              </a:defRPr>
            </a:pPr>
            <a:r>
              <a:t>Critique: check explicit requirements first. Extra advice cannot compensate for a missing required answer.</a:t>
            </a:r>
          </a:p>
        </p:txBody>
      </p:sp>
      <p:cxnSp>
        <p:nvCxnSpPr>
          <p:cNvPr id="16" name="Connector 15"/>
          <p:cNvCxnSpPr/>
          <p:nvPr/>
        </p:nvCxnSpPr>
        <p:spPr>
          <a:xfrm>
            <a:off x="10479024" y="3429000"/>
            <a:ext cx="457200" cy="0"/>
          </a:xfrm>
          <a:prstGeom prst="line">
            <a:avLst/>
          </a:prstGeom>
          <a:ln w="17780">
            <a:solidFill>
              <a:srgbClr val="DA7632"/>
            </a:solidFill>
            <a:tailEnd type="triangle" w="sm" len="sm"/>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1064240" y="1911095"/>
            <a:ext cx="5861304" cy="3090672"/>
          </a:xfrm>
          <a:prstGeom prst="roundRect">
            <a:avLst>
              <a:gd name="adj" fmla="val 4000"/>
            </a:avLst>
          </a:prstGeom>
          <a:solidFill>
            <a:srgbClr val="F2F9F6"/>
          </a:solidFill>
          <a:ln w="15240">
            <a:solidFill>
              <a:srgbClr val="8EC5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301984" y="2103120"/>
            <a:ext cx="5385816" cy="347472"/>
          </a:xfrm>
          <a:prstGeom prst="rect">
            <a:avLst/>
          </a:prstGeom>
          <a:noFill/>
        </p:spPr>
        <p:txBody>
          <a:bodyPr wrap="square" lIns="0" tIns="0" rIns="0" bIns="0">
            <a:spAutoFit/>
          </a:bodyPr>
          <a:lstStyle/>
          <a:p>
            <a:pPr algn="l">
              <a:spcAft>
                <a:spcPts val="100"/>
              </a:spcAft>
              <a:defRPr sz="2400" b="1">
                <a:solidFill>
                  <a:srgbClr val="153153"/>
                </a:solidFill>
                <a:latin typeface="Arial"/>
              </a:defRPr>
            </a:pPr>
            <a:r>
              <a:t>3  Collect critiques for this root</a:t>
            </a:r>
          </a:p>
        </p:txBody>
      </p:sp>
      <p:sp>
        <p:nvSpPr>
          <p:cNvPr id="19" name="Rounded Rectangle 18"/>
          <p:cNvSpPr/>
          <p:nvPr/>
        </p:nvSpPr>
        <p:spPr>
          <a:xfrm>
            <a:off x="11356848" y="2862072"/>
            <a:ext cx="186537" cy="256489"/>
          </a:xfrm>
          <a:prstGeom prst="roundRect">
            <a:avLst>
              <a:gd name="adj" fmla="val 4000"/>
            </a:avLst>
          </a:prstGeom>
          <a:solidFill>
            <a:srgbClr val="FFFFFF"/>
          </a:solidFill>
          <a:ln w="1524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11395710" y="2932023"/>
            <a:ext cx="108813" cy="0"/>
          </a:xfrm>
          <a:prstGeom prst="line">
            <a:avLst/>
          </a:prstGeom>
          <a:ln w="17780">
            <a:solidFill>
              <a:srgbClr val="119D9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395710" y="2982544"/>
            <a:ext cx="108813" cy="0"/>
          </a:xfrm>
          <a:prstGeom prst="line">
            <a:avLst/>
          </a:prstGeom>
          <a:ln w="17780">
            <a:solidFill>
              <a:srgbClr val="119D9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395710" y="3033064"/>
            <a:ext cx="108813" cy="0"/>
          </a:xfrm>
          <a:prstGeom prst="line">
            <a:avLst/>
          </a:prstGeom>
          <a:ln w="17780">
            <a:solidFill>
              <a:srgbClr val="119D9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1731752" y="2852928"/>
            <a:ext cx="4690872" cy="475488"/>
          </a:xfrm>
          <a:prstGeom prst="rect">
            <a:avLst/>
          </a:prstGeom>
          <a:noFill/>
        </p:spPr>
        <p:txBody>
          <a:bodyPr wrap="square" lIns="0" tIns="0" rIns="0" bIns="0">
            <a:spAutoFit/>
          </a:bodyPr>
          <a:lstStyle/>
          <a:p>
            <a:pPr algn="l">
              <a:spcAft>
                <a:spcPts val="100"/>
              </a:spcAft>
              <a:defRPr sz="1900" b="0">
                <a:solidFill>
                  <a:srgbClr val="153153"/>
                </a:solidFill>
                <a:latin typeface="Arial"/>
              </a:defRPr>
            </a:pPr>
            <a:r>
              <a:t>c1  Separate required tasks from optional advice.</a:t>
            </a:r>
          </a:p>
        </p:txBody>
      </p:sp>
      <p:sp>
        <p:nvSpPr>
          <p:cNvPr id="24" name="Rounded Rectangle 23"/>
          <p:cNvSpPr/>
          <p:nvPr/>
        </p:nvSpPr>
        <p:spPr>
          <a:xfrm>
            <a:off x="11356848" y="3456432"/>
            <a:ext cx="186537" cy="256489"/>
          </a:xfrm>
          <a:prstGeom prst="roundRect">
            <a:avLst>
              <a:gd name="adj" fmla="val 4000"/>
            </a:avLst>
          </a:prstGeom>
          <a:solidFill>
            <a:srgbClr val="FFFFFF"/>
          </a:solidFill>
          <a:ln w="1524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11395710" y="3526383"/>
            <a:ext cx="108813" cy="0"/>
          </a:xfrm>
          <a:prstGeom prst="line">
            <a:avLst/>
          </a:prstGeom>
          <a:ln w="17780">
            <a:solidFill>
              <a:srgbClr val="119D9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395710" y="3576904"/>
            <a:ext cx="108813" cy="0"/>
          </a:xfrm>
          <a:prstGeom prst="line">
            <a:avLst/>
          </a:prstGeom>
          <a:ln w="17780">
            <a:solidFill>
              <a:srgbClr val="119D9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395710" y="3627424"/>
            <a:ext cx="108813" cy="0"/>
          </a:xfrm>
          <a:prstGeom prst="line">
            <a:avLst/>
          </a:prstGeom>
          <a:ln w="17780">
            <a:solidFill>
              <a:srgbClr val="119D9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1731752" y="3447288"/>
            <a:ext cx="4690872" cy="475488"/>
          </a:xfrm>
          <a:prstGeom prst="rect">
            <a:avLst/>
          </a:prstGeom>
          <a:noFill/>
        </p:spPr>
        <p:txBody>
          <a:bodyPr wrap="square" lIns="0" tIns="0" rIns="0" bIns="0">
            <a:spAutoFit/>
          </a:bodyPr>
          <a:lstStyle/>
          <a:p>
            <a:pPr algn="l">
              <a:spcAft>
                <a:spcPts val="100"/>
              </a:spcAft>
              <a:defRPr sz="1900" b="0">
                <a:solidFill>
                  <a:srgbClr val="153153"/>
                </a:solidFill>
                <a:latin typeface="Arial"/>
              </a:defRPr>
            </a:pPr>
            <a:r>
              <a:t>c2  Do not let answer length hide omissions.</a:t>
            </a:r>
          </a:p>
        </p:txBody>
      </p:sp>
      <p:sp>
        <p:nvSpPr>
          <p:cNvPr id="29" name="Rounded Rectangle 28"/>
          <p:cNvSpPr/>
          <p:nvPr/>
        </p:nvSpPr>
        <p:spPr>
          <a:xfrm>
            <a:off x="11356848" y="4050791"/>
            <a:ext cx="186537" cy="256489"/>
          </a:xfrm>
          <a:prstGeom prst="roundRect">
            <a:avLst>
              <a:gd name="adj" fmla="val 4000"/>
            </a:avLst>
          </a:prstGeom>
          <a:solidFill>
            <a:srgbClr val="FFFFFF"/>
          </a:solidFill>
          <a:ln w="15240">
            <a:solidFill>
              <a:srgbClr val="119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a:off x="11395710" y="4120743"/>
            <a:ext cx="108813" cy="0"/>
          </a:xfrm>
          <a:prstGeom prst="line">
            <a:avLst/>
          </a:prstGeom>
          <a:ln w="17780">
            <a:solidFill>
              <a:srgbClr val="119D9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395710" y="4171264"/>
            <a:ext cx="108813" cy="0"/>
          </a:xfrm>
          <a:prstGeom prst="line">
            <a:avLst/>
          </a:prstGeom>
          <a:ln w="17780">
            <a:solidFill>
              <a:srgbClr val="119D9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1395710" y="4221784"/>
            <a:ext cx="108813" cy="0"/>
          </a:xfrm>
          <a:prstGeom prst="line">
            <a:avLst/>
          </a:prstGeom>
          <a:ln w="17780">
            <a:solidFill>
              <a:srgbClr val="119D96"/>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1731752" y="4041648"/>
            <a:ext cx="4690872" cy="475488"/>
          </a:xfrm>
          <a:prstGeom prst="rect">
            <a:avLst/>
          </a:prstGeom>
          <a:noFill/>
        </p:spPr>
        <p:txBody>
          <a:bodyPr wrap="square" lIns="0" tIns="0" rIns="0" bIns="0">
            <a:spAutoFit/>
          </a:bodyPr>
          <a:lstStyle/>
          <a:p>
            <a:pPr algn="l">
              <a:spcAft>
                <a:spcPts val="100"/>
              </a:spcAft>
              <a:defRPr sz="1900" b="0">
                <a:solidFill>
                  <a:srgbClr val="153153"/>
                </a:solidFill>
                <a:latin typeface="Arial"/>
              </a:defRPr>
            </a:pPr>
            <a:r>
              <a:t>cK  Keep checks for explicit format constraints.</a:t>
            </a:r>
          </a:p>
        </p:txBody>
      </p:sp>
      <p:cxnSp>
        <p:nvCxnSpPr>
          <p:cNvPr id="34" name="Connector 33"/>
          <p:cNvCxnSpPr/>
          <p:nvPr/>
        </p:nvCxnSpPr>
        <p:spPr>
          <a:xfrm>
            <a:off x="13953744" y="5001768"/>
            <a:ext cx="0" cy="429768"/>
          </a:xfrm>
          <a:prstGeom prst="line">
            <a:avLst/>
          </a:prstGeom>
          <a:ln w="17780">
            <a:solidFill>
              <a:srgbClr val="8962C4"/>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84632" y="5422392"/>
            <a:ext cx="12252960" cy="393192"/>
          </a:xfrm>
          <a:prstGeom prst="rect">
            <a:avLst/>
          </a:prstGeom>
          <a:noFill/>
        </p:spPr>
        <p:txBody>
          <a:bodyPr wrap="square" lIns="0" tIns="0" rIns="0" bIns="0">
            <a:spAutoFit/>
          </a:bodyPr>
          <a:lstStyle/>
          <a:p>
            <a:pPr algn="l">
              <a:spcAft>
                <a:spcPts val="100"/>
              </a:spcAft>
              <a:defRPr sz="2500" b="1">
                <a:solidFill>
                  <a:srgbClr val="153153"/>
                </a:solidFill>
                <a:latin typeface="Arial"/>
              </a:defRPr>
            </a:pPr>
            <a:r>
              <a:t>4  One split revises the entire child group; the root stays fixed</a:t>
            </a:r>
          </a:p>
        </p:txBody>
      </p:sp>
      <p:sp>
        <p:nvSpPr>
          <p:cNvPr id="36" name="Rounded Rectangle 35"/>
          <p:cNvSpPr/>
          <p:nvPr/>
        </p:nvSpPr>
        <p:spPr>
          <a:xfrm>
            <a:off x="457200" y="6080760"/>
            <a:ext cx="6995160" cy="3044952"/>
          </a:xfrm>
          <a:prstGeom prst="roundRect">
            <a:avLst>
              <a:gd name="adj" fmla="val 4000"/>
            </a:avLst>
          </a:prstGeom>
          <a:solidFill>
            <a:srgbClr val="F6F8FB"/>
          </a:solidFill>
          <a:ln w="15240">
            <a:solidFill>
              <a:srgbClr val="AFC0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94944" y="6263640"/>
            <a:ext cx="6492240" cy="292608"/>
          </a:xfrm>
          <a:prstGeom prst="rect">
            <a:avLst/>
          </a:prstGeom>
          <a:noFill/>
        </p:spPr>
        <p:txBody>
          <a:bodyPr wrap="square" lIns="0" tIns="0" rIns="0" bIns="0">
            <a:spAutoFit/>
          </a:bodyPr>
          <a:lstStyle/>
          <a:p>
            <a:pPr algn="ctr">
              <a:spcAft>
                <a:spcPts val="100"/>
              </a:spcAft>
              <a:defRPr sz="2200" b="1">
                <a:solidFill>
                  <a:srgbClr val="153153"/>
                </a:solidFill>
                <a:latin typeface="Arial"/>
              </a:defRPr>
            </a:pPr>
            <a:r>
              <a:t>Current completeness subtree</a:t>
            </a:r>
          </a:p>
        </p:txBody>
      </p:sp>
      <p:sp>
        <p:nvSpPr>
          <p:cNvPr id="38" name="Rounded Rectangle 37"/>
          <p:cNvSpPr/>
          <p:nvPr/>
        </p:nvSpPr>
        <p:spPr>
          <a:xfrm>
            <a:off x="1938528" y="6784848"/>
            <a:ext cx="4005072" cy="365760"/>
          </a:xfrm>
          <a:prstGeom prst="roundRect">
            <a:avLst>
              <a:gd name="adj" fmla="val 4000"/>
            </a:avLst>
          </a:prstGeom>
          <a:solidFill>
            <a:srgbClr val="F1F7F6"/>
          </a:solidFill>
          <a:ln w="15240">
            <a:solidFill>
              <a:srgbClr val="1531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011680" y="6835140"/>
            <a:ext cx="3858768" cy="265176"/>
          </a:xfrm>
          <a:prstGeom prst="rect">
            <a:avLst/>
          </a:prstGeom>
          <a:noFill/>
        </p:spPr>
        <p:txBody>
          <a:bodyPr wrap="square" lIns="0" tIns="0" rIns="0" bIns="0">
            <a:spAutoFit/>
          </a:bodyPr>
          <a:lstStyle/>
          <a:p>
            <a:pPr algn="ctr">
              <a:spcAft>
                <a:spcPts val="100"/>
              </a:spcAft>
              <a:defRPr sz="1600" b="1">
                <a:solidFill>
                  <a:srgbClr val="153153"/>
                </a:solidFill>
                <a:latin typeface="Arial"/>
              </a:defRPr>
            </a:pPr>
            <a:r>
              <a:t>Completeness · fixed root</a:t>
            </a:r>
          </a:p>
        </p:txBody>
      </p:sp>
      <p:cxnSp>
        <p:nvCxnSpPr>
          <p:cNvPr id="40" name="Connector 39"/>
          <p:cNvCxnSpPr/>
          <p:nvPr/>
        </p:nvCxnSpPr>
        <p:spPr>
          <a:xfrm flipH="1">
            <a:off x="1764792" y="7150608"/>
            <a:ext cx="2176271" cy="612648"/>
          </a:xfrm>
          <a:prstGeom prst="line">
            <a:avLst/>
          </a:prstGeom>
          <a:ln w="17780">
            <a:solidFill>
              <a:srgbClr val="5B7088"/>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22960" y="7763256"/>
            <a:ext cx="1911095" cy="420624"/>
          </a:xfrm>
          <a:prstGeom prst="roundRect">
            <a:avLst>
              <a:gd name="adj" fmla="val 4000"/>
            </a:avLst>
          </a:prstGeom>
          <a:solidFill>
            <a:srgbClr val="FFFFFF"/>
          </a:solidFill>
          <a:ln w="15240">
            <a:solidFill>
              <a:srgbClr val="5B7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96112" y="7840980"/>
            <a:ext cx="1764792" cy="265176"/>
          </a:xfrm>
          <a:prstGeom prst="rect">
            <a:avLst/>
          </a:prstGeom>
          <a:noFill/>
        </p:spPr>
        <p:txBody>
          <a:bodyPr wrap="square" lIns="0" tIns="0" rIns="0" bIns="0">
            <a:spAutoFit/>
          </a:bodyPr>
          <a:lstStyle/>
          <a:p>
            <a:pPr algn="ctr">
              <a:spcAft>
                <a:spcPts val="100"/>
              </a:spcAft>
              <a:defRPr sz="1500" b="0">
                <a:solidFill>
                  <a:srgbClr val="5B7088"/>
                </a:solidFill>
                <a:latin typeface="Arial"/>
              </a:defRPr>
            </a:pPr>
            <a:r>
              <a:t>Required content</a:t>
            </a:r>
          </a:p>
        </p:txBody>
      </p:sp>
      <p:cxnSp>
        <p:nvCxnSpPr>
          <p:cNvPr id="43" name="Connector 42"/>
          <p:cNvCxnSpPr/>
          <p:nvPr/>
        </p:nvCxnSpPr>
        <p:spPr>
          <a:xfrm flipH="1">
            <a:off x="3931920" y="7150608"/>
            <a:ext cx="9143" cy="612648"/>
          </a:xfrm>
          <a:prstGeom prst="line">
            <a:avLst/>
          </a:prstGeom>
          <a:ln w="17780">
            <a:solidFill>
              <a:srgbClr val="5B7088"/>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2990088" y="7763256"/>
            <a:ext cx="1911095" cy="420624"/>
          </a:xfrm>
          <a:prstGeom prst="roundRect">
            <a:avLst>
              <a:gd name="adj" fmla="val 4000"/>
            </a:avLst>
          </a:prstGeom>
          <a:solidFill>
            <a:srgbClr val="FFFFFF"/>
          </a:solidFill>
          <a:ln w="15240">
            <a:solidFill>
              <a:srgbClr val="5B7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063240" y="7840980"/>
            <a:ext cx="1764792" cy="265176"/>
          </a:xfrm>
          <a:prstGeom prst="rect">
            <a:avLst/>
          </a:prstGeom>
          <a:noFill/>
        </p:spPr>
        <p:txBody>
          <a:bodyPr wrap="square" lIns="0" tIns="0" rIns="0" bIns="0">
            <a:spAutoFit/>
          </a:bodyPr>
          <a:lstStyle/>
          <a:p>
            <a:pPr algn="ctr">
              <a:spcAft>
                <a:spcPts val="100"/>
              </a:spcAft>
              <a:defRPr sz="1500" b="0">
                <a:solidFill>
                  <a:srgbClr val="5B7088"/>
                </a:solidFill>
                <a:latin typeface="Arial"/>
              </a:defRPr>
            </a:pPr>
            <a:r>
              <a:t>Response detail</a:t>
            </a:r>
          </a:p>
        </p:txBody>
      </p:sp>
      <p:cxnSp>
        <p:nvCxnSpPr>
          <p:cNvPr id="46" name="Connector 45"/>
          <p:cNvCxnSpPr/>
          <p:nvPr/>
        </p:nvCxnSpPr>
        <p:spPr>
          <a:xfrm>
            <a:off x="3941063" y="7150608"/>
            <a:ext cx="2157985" cy="612648"/>
          </a:xfrm>
          <a:prstGeom prst="line">
            <a:avLst/>
          </a:prstGeom>
          <a:ln w="17780">
            <a:solidFill>
              <a:srgbClr val="5B7088"/>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5157216" y="7763256"/>
            <a:ext cx="1911095" cy="420624"/>
          </a:xfrm>
          <a:prstGeom prst="roundRect">
            <a:avLst>
              <a:gd name="adj" fmla="val 4000"/>
            </a:avLst>
          </a:prstGeom>
          <a:solidFill>
            <a:srgbClr val="FFFFFF"/>
          </a:solidFill>
          <a:ln w="15240">
            <a:solidFill>
              <a:srgbClr val="5B7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230368" y="7840980"/>
            <a:ext cx="1764792" cy="265176"/>
          </a:xfrm>
          <a:prstGeom prst="rect">
            <a:avLst/>
          </a:prstGeom>
          <a:noFill/>
        </p:spPr>
        <p:txBody>
          <a:bodyPr wrap="square" lIns="0" tIns="0" rIns="0" bIns="0">
            <a:spAutoFit/>
          </a:bodyPr>
          <a:lstStyle/>
          <a:p>
            <a:pPr algn="ctr">
              <a:spcAft>
                <a:spcPts val="100"/>
              </a:spcAft>
              <a:defRPr sz="1500" b="0">
                <a:solidFill>
                  <a:srgbClr val="5B7088"/>
                </a:solidFill>
                <a:latin typeface="Arial"/>
              </a:defRPr>
            </a:pPr>
            <a:r>
              <a:t>Explicit constraints</a:t>
            </a:r>
          </a:p>
        </p:txBody>
      </p:sp>
      <p:sp>
        <p:nvSpPr>
          <p:cNvPr id="49" name="TextBox 48"/>
          <p:cNvSpPr txBox="1"/>
          <p:nvPr/>
        </p:nvSpPr>
        <p:spPr>
          <a:xfrm>
            <a:off x="822960" y="8412480"/>
            <a:ext cx="6254496" cy="411480"/>
          </a:xfrm>
          <a:prstGeom prst="rect">
            <a:avLst/>
          </a:prstGeom>
          <a:noFill/>
        </p:spPr>
        <p:txBody>
          <a:bodyPr wrap="square" lIns="0" tIns="0" rIns="0" bIns="0">
            <a:spAutoFit/>
          </a:bodyPr>
          <a:lstStyle/>
          <a:p>
            <a:pPr algn="ctr">
              <a:spcAft>
                <a:spcPts val="100"/>
              </a:spcAft>
              <a:defRPr sz="1800" b="0">
                <a:solidFill>
                  <a:srgbClr val="5B7088"/>
                </a:solidFill>
                <a:latin typeface="Arial"/>
              </a:defRPr>
            </a:pPr>
            <a:r>
              <a:t>Broad wording can let “more detail” outweigh omissions.</a:t>
            </a:r>
          </a:p>
        </p:txBody>
      </p:sp>
      <p:cxnSp>
        <p:nvCxnSpPr>
          <p:cNvPr id="50" name="Connector 49"/>
          <p:cNvCxnSpPr/>
          <p:nvPr/>
        </p:nvCxnSpPr>
        <p:spPr>
          <a:xfrm>
            <a:off x="7552944" y="7589520"/>
            <a:ext cx="1261872" cy="0"/>
          </a:xfrm>
          <a:prstGeom prst="line">
            <a:avLst/>
          </a:prstGeom>
          <a:ln w="17780">
            <a:solidFill>
              <a:srgbClr val="8962C4"/>
            </a:solidFill>
            <a:tailEnd type="triangle" w="sm" len="sm"/>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589520" y="6894576"/>
            <a:ext cx="1197864" cy="475488"/>
          </a:xfrm>
          <a:prstGeom prst="rect">
            <a:avLst/>
          </a:prstGeom>
          <a:noFill/>
        </p:spPr>
        <p:txBody>
          <a:bodyPr wrap="square" lIns="0" tIns="0" rIns="0" bIns="0">
            <a:spAutoFit/>
          </a:bodyPr>
          <a:lstStyle/>
          <a:p>
            <a:pPr algn="ctr">
              <a:spcAft>
                <a:spcPts val="100"/>
              </a:spcAft>
              <a:defRPr sz="1800" b="1">
                <a:solidFill>
                  <a:srgbClr val="8962C4"/>
                </a:solidFill>
                <a:latin typeface="Arial"/>
              </a:defRPr>
            </a:pPr>
            <a:r>
              <a:t>One</a:t>
            </a:r>
          </a:p>
          <a:p>
            <a:pPr algn="ctr">
              <a:spcAft>
                <a:spcPts val="100"/>
              </a:spcAft>
              <a:defRPr sz="1800" b="1">
                <a:solidFill>
                  <a:srgbClr val="8962C4"/>
                </a:solidFill>
                <a:latin typeface="Arial"/>
              </a:defRPr>
            </a:pPr>
            <a:r>
              <a:t>split</a:t>
            </a:r>
          </a:p>
        </p:txBody>
      </p:sp>
      <p:sp>
        <p:nvSpPr>
          <p:cNvPr id="52" name="Rounded Rectangle 51"/>
          <p:cNvSpPr/>
          <p:nvPr/>
        </p:nvSpPr>
        <p:spPr>
          <a:xfrm>
            <a:off x="8997696" y="6080760"/>
            <a:ext cx="7918704" cy="3044952"/>
          </a:xfrm>
          <a:prstGeom prst="roundRect">
            <a:avLst>
              <a:gd name="adj" fmla="val 4000"/>
            </a:avLst>
          </a:prstGeom>
          <a:solidFill>
            <a:srgbClr val="F7F4FB"/>
          </a:solidFill>
          <a:ln w="15240">
            <a:solidFill>
              <a:srgbClr val="B49B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235440" y="6263640"/>
            <a:ext cx="7406640" cy="292608"/>
          </a:xfrm>
          <a:prstGeom prst="rect">
            <a:avLst/>
          </a:prstGeom>
          <a:noFill/>
        </p:spPr>
        <p:txBody>
          <a:bodyPr wrap="square" lIns="0" tIns="0" rIns="0" bIns="0">
            <a:spAutoFit/>
          </a:bodyPr>
          <a:lstStyle/>
          <a:p>
            <a:pPr algn="ctr">
              <a:spcAft>
                <a:spcPts val="100"/>
              </a:spcAft>
              <a:defRPr sz="2200" b="1">
                <a:solidFill>
                  <a:srgbClr val="153153"/>
                </a:solidFill>
                <a:latin typeface="Arial"/>
              </a:defRPr>
            </a:pPr>
            <a:r>
              <a:t>Candidate completeness subtree</a:t>
            </a:r>
          </a:p>
        </p:txBody>
      </p:sp>
      <p:sp>
        <p:nvSpPr>
          <p:cNvPr id="54" name="Rounded Rectangle 53"/>
          <p:cNvSpPr/>
          <p:nvPr/>
        </p:nvSpPr>
        <p:spPr>
          <a:xfrm>
            <a:off x="10981944" y="6784848"/>
            <a:ext cx="4005072" cy="365760"/>
          </a:xfrm>
          <a:prstGeom prst="roundRect">
            <a:avLst>
              <a:gd name="adj" fmla="val 4000"/>
            </a:avLst>
          </a:prstGeom>
          <a:solidFill>
            <a:srgbClr val="F1F7F6"/>
          </a:solidFill>
          <a:ln w="15240">
            <a:solidFill>
              <a:srgbClr val="1531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1055096" y="6835140"/>
            <a:ext cx="3858768" cy="265176"/>
          </a:xfrm>
          <a:prstGeom prst="rect">
            <a:avLst/>
          </a:prstGeom>
          <a:noFill/>
        </p:spPr>
        <p:txBody>
          <a:bodyPr wrap="square" lIns="0" tIns="0" rIns="0" bIns="0">
            <a:spAutoFit/>
          </a:bodyPr>
          <a:lstStyle/>
          <a:p>
            <a:pPr algn="ctr">
              <a:spcAft>
                <a:spcPts val="100"/>
              </a:spcAft>
              <a:defRPr sz="1600" b="1">
                <a:solidFill>
                  <a:srgbClr val="153153"/>
                </a:solidFill>
                <a:latin typeface="Arial"/>
              </a:defRPr>
            </a:pPr>
            <a:r>
              <a:t>Completeness · same root</a:t>
            </a:r>
          </a:p>
        </p:txBody>
      </p:sp>
      <p:cxnSp>
        <p:nvCxnSpPr>
          <p:cNvPr id="56" name="Connector 55"/>
          <p:cNvCxnSpPr/>
          <p:nvPr/>
        </p:nvCxnSpPr>
        <p:spPr>
          <a:xfrm flipH="1">
            <a:off x="10369296" y="7150608"/>
            <a:ext cx="2615184" cy="612648"/>
          </a:xfrm>
          <a:prstGeom prst="line">
            <a:avLst/>
          </a:prstGeom>
          <a:ln w="17780">
            <a:solidFill>
              <a:srgbClr val="8962C4"/>
            </a:solidFill>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9253728" y="7763256"/>
            <a:ext cx="2258568" cy="420624"/>
          </a:xfrm>
          <a:prstGeom prst="roundRect">
            <a:avLst>
              <a:gd name="adj" fmla="val 4000"/>
            </a:avLst>
          </a:prstGeom>
          <a:solidFill>
            <a:srgbClr val="F0E9FA"/>
          </a:solidFill>
          <a:ln w="15240">
            <a:solidFill>
              <a:srgbClr val="896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326880" y="7840980"/>
            <a:ext cx="2112264" cy="265176"/>
          </a:xfrm>
          <a:prstGeom prst="rect">
            <a:avLst/>
          </a:prstGeom>
          <a:noFill/>
        </p:spPr>
        <p:txBody>
          <a:bodyPr wrap="square" lIns="0" tIns="0" rIns="0" bIns="0">
            <a:spAutoFit/>
          </a:bodyPr>
          <a:lstStyle/>
          <a:p>
            <a:pPr algn="ctr">
              <a:spcAft>
                <a:spcPts val="100"/>
              </a:spcAft>
              <a:defRPr sz="1500" b="0">
                <a:solidFill>
                  <a:srgbClr val="8962C4"/>
                </a:solidFill>
                <a:latin typeface="Arial"/>
              </a:defRPr>
            </a:pPr>
            <a:r>
              <a:t>Required-task checklist</a:t>
            </a:r>
          </a:p>
        </p:txBody>
      </p:sp>
      <p:cxnSp>
        <p:nvCxnSpPr>
          <p:cNvPr id="59" name="Connector 58"/>
          <p:cNvCxnSpPr/>
          <p:nvPr/>
        </p:nvCxnSpPr>
        <p:spPr>
          <a:xfrm flipH="1">
            <a:off x="12856464" y="7150608"/>
            <a:ext cx="128016" cy="612648"/>
          </a:xfrm>
          <a:prstGeom prst="line">
            <a:avLst/>
          </a:prstGeom>
          <a:ln w="17780">
            <a:solidFill>
              <a:srgbClr val="8962C4"/>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11740896" y="7763256"/>
            <a:ext cx="2258568" cy="420624"/>
          </a:xfrm>
          <a:prstGeom prst="roundRect">
            <a:avLst>
              <a:gd name="adj" fmla="val 4000"/>
            </a:avLst>
          </a:prstGeom>
          <a:solidFill>
            <a:srgbClr val="F0E9FA"/>
          </a:solidFill>
          <a:ln w="15240">
            <a:solidFill>
              <a:srgbClr val="896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1814048" y="7840980"/>
            <a:ext cx="2112264" cy="265176"/>
          </a:xfrm>
          <a:prstGeom prst="rect">
            <a:avLst/>
          </a:prstGeom>
          <a:noFill/>
        </p:spPr>
        <p:txBody>
          <a:bodyPr wrap="square" lIns="0" tIns="0" rIns="0" bIns="0">
            <a:spAutoFit/>
          </a:bodyPr>
          <a:lstStyle/>
          <a:p>
            <a:pPr algn="ctr">
              <a:spcAft>
                <a:spcPts val="100"/>
              </a:spcAft>
              <a:defRPr sz="1500" b="0">
                <a:solidFill>
                  <a:srgbClr val="8962C4"/>
                </a:solidFill>
                <a:latin typeface="Arial"/>
              </a:defRPr>
            </a:pPr>
            <a:r>
              <a:t>Optional additions</a:t>
            </a:r>
          </a:p>
        </p:txBody>
      </p:sp>
      <p:cxnSp>
        <p:nvCxnSpPr>
          <p:cNvPr id="62" name="Connector 61"/>
          <p:cNvCxnSpPr/>
          <p:nvPr/>
        </p:nvCxnSpPr>
        <p:spPr>
          <a:xfrm>
            <a:off x="12984480" y="7150608"/>
            <a:ext cx="2359151" cy="612648"/>
          </a:xfrm>
          <a:prstGeom prst="line">
            <a:avLst/>
          </a:prstGeom>
          <a:ln w="17780">
            <a:solidFill>
              <a:srgbClr val="5B7088"/>
            </a:solidFill>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14228063" y="7763256"/>
            <a:ext cx="2258568" cy="420624"/>
          </a:xfrm>
          <a:prstGeom prst="roundRect">
            <a:avLst>
              <a:gd name="adj" fmla="val 4000"/>
            </a:avLst>
          </a:prstGeom>
          <a:solidFill>
            <a:srgbClr val="FFFFFF"/>
          </a:solidFill>
          <a:ln w="15240">
            <a:solidFill>
              <a:srgbClr val="5B7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4301215" y="7840980"/>
            <a:ext cx="2112264" cy="265176"/>
          </a:xfrm>
          <a:prstGeom prst="rect">
            <a:avLst/>
          </a:prstGeom>
          <a:noFill/>
        </p:spPr>
        <p:txBody>
          <a:bodyPr wrap="square" lIns="0" tIns="0" rIns="0" bIns="0">
            <a:spAutoFit/>
          </a:bodyPr>
          <a:lstStyle/>
          <a:p>
            <a:pPr algn="ctr">
              <a:spcAft>
                <a:spcPts val="100"/>
              </a:spcAft>
              <a:defRPr sz="1500" b="0">
                <a:solidFill>
                  <a:srgbClr val="5B7088"/>
                </a:solidFill>
                <a:latin typeface="Arial"/>
              </a:defRPr>
            </a:pPr>
            <a:r>
              <a:t>Explicit constraints</a:t>
            </a:r>
          </a:p>
        </p:txBody>
      </p:sp>
      <p:sp>
        <p:nvSpPr>
          <p:cNvPr id="65" name="TextBox 64"/>
          <p:cNvSpPr txBox="1"/>
          <p:nvPr/>
        </p:nvSpPr>
        <p:spPr>
          <a:xfrm>
            <a:off x="9299448" y="8412480"/>
            <a:ext cx="7296912" cy="420624"/>
          </a:xfrm>
          <a:prstGeom prst="rect">
            <a:avLst/>
          </a:prstGeom>
          <a:noFill/>
        </p:spPr>
        <p:txBody>
          <a:bodyPr wrap="square" lIns="0" tIns="0" rIns="0" bIns="0">
            <a:spAutoFit/>
          </a:bodyPr>
          <a:lstStyle/>
          <a:p>
            <a:pPr algn="ctr">
              <a:spcAft>
                <a:spcPts val="100"/>
              </a:spcAft>
              <a:defRPr sz="1800" b="1">
                <a:solidFill>
                  <a:srgbClr val="8962C4"/>
                </a:solidFill>
                <a:latin typeface="Arial"/>
              </a:defRPr>
            </a:pPr>
            <a:r>
              <a:t>Check required tasks; optional additions do not erase omissions.</a:t>
            </a:r>
          </a:p>
        </p:txBody>
      </p:sp>
      <p:sp>
        <p:nvSpPr>
          <p:cNvPr id="66" name="TextBox 65"/>
          <p:cNvSpPr txBox="1"/>
          <p:nvPr/>
        </p:nvSpPr>
        <p:spPr>
          <a:xfrm>
            <a:off x="484632" y="9528048"/>
            <a:ext cx="16276320" cy="402336"/>
          </a:xfrm>
          <a:prstGeom prst="rect">
            <a:avLst/>
          </a:prstGeom>
          <a:noFill/>
        </p:spPr>
        <p:txBody>
          <a:bodyPr wrap="square" lIns="0" tIns="0" rIns="0" bIns="0">
            <a:spAutoFit/>
          </a:bodyPr>
          <a:lstStyle/>
          <a:p>
            <a:pPr algn="l">
              <a:spcAft>
                <a:spcPts val="100"/>
              </a:spcAft>
              <a:defRPr sz="1900" b="0">
                <a:solidFill>
                  <a:srgbClr val="5B7088"/>
                </a:solidFill>
                <a:latin typeface="Arial"/>
              </a:defRPr>
            </a:pPr>
            <a:r>
              <a:t>Purple: revised children    Gray: retained child    The candidate still needs to win local competition.</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4016</TotalTime>
  <Words>751</Words>
  <Application>Microsoft Office PowerPoint</Application>
  <DocSecurity>0</DocSecurity>
  <PresentationFormat>自定义</PresentationFormat>
  <Paragraphs>107</Paragraphs>
  <Slides>2</Slides>
  <Notes>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vt:i4>
      </vt:variant>
    </vt:vector>
  </HeadingPairs>
  <TitlesOfParts>
    <vt:vector size="6" baseType="lpstr">
      <vt:lpstr>Arial</vt:lpstr>
      <vt:lpstr>Calibri</vt:lpstr>
      <vt:lpstr>Cambria</vt:lpstr>
      <vt:lpstr>ChatGPT</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wenqx</cp:lastModifiedBy>
  <cp:revision>89</cp:revision>
  <dcterms:created xsi:type="dcterms:W3CDTF">2026-09-09T09:53:05Z</dcterms:created>
  <dcterms:modified xsi:type="dcterms:W3CDTF">2026-09-19T09:59:19Z</dcterms:modified>
</cp:coreProperties>
</file>